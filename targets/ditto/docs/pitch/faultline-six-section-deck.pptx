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Pipeline" id="{c01fd685-15b7-a22b-7c66-f105086c3e86}">
          <p14:sldIdLst>
            <p14:sldId id="256"/>
            <p14:sldId id="257"/>
          </p14:sldIdLst>
        </p14:section>
        <p14:section name="2 · Architecture" id="{8fcc31fd-bef1-d6f4-8e5f-3f415e50d42a}">
          <p14:sldIdLst>
            <p14:sldId id="258"/>
            <p14:sldId id="259"/>
          </p14:sldIdLst>
        </p14:section>
        <p14:section name="3 · Data quality" id="{5654115b-d12b-5265-dfb1-c05aac93b6e4}">
          <p14:sldIdLst>
            <p14:sldId id="260"/>
          </p14:sldIdLst>
        </p14:section>
        <p14:section name="4 · Report" id="{305bd4d4-64e6-faf2-4883-4386ba602da7}">
          <p14:sldIdLst>
            <p14:sldId id="261"/>
            <p14:sldId id="262"/>
          </p14:sldIdLst>
        </p14:section>
        <p14:section name="5 · Tools" id="{6a1a20fa-ffa0-6e9b-bc21-d651296f2f10}">
          <p14:sldIdLst>
            <p14:sldId id="263"/>
          </p14:sldIdLst>
        </p14:section>
        <p14:section name="6 · Known issues" id="{bc57bd95-562f-e711-5b45-67af3a718c3d}">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Faultline points a small team of agents at Eclipse Ditto, an open-source IoT digital-twin platform: eight containers under Docker Compose, five of them one Java cluster, all sharing a single MongoDB. It maps the system, breaks it on purpose under hard limits, watches what a real client would see, and tells you what to fix. The one line to remember: the model proposes, the code disposes. The model can choose and explain; it can never raise a threshold or apply a change. Click: the six steps open into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six lines, nothing more. One: it maps the dependency graph itself, including the MongoDB dependency the compose file never declares; it is found by scanning environment variables. Two: before breaking anything, it predicts weak spots from the config alone. Three: it measures a real steady state, and that is where the abort limits come from. Four: code ranks every service and failure pair; the model only picks from the top five and writes a falsifiable hypothesis. Five, the pink one: the actual injection, with a 90-second hard cap, an independent watchdog, a separate Guardian process and a kill switch. Six: risk score, a matched Ditto-specific fix, and a grade per service. Each line is a real CLI command, and the control room calls exactly those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Faultline uses a blackboard pattern. Every agent reads and writes JSON files in one folder, reports/, and each file has a Pydantic schema in faultline/schemas.py. That schema is the only contract between agents. There is no message bus and no shared process. The injector, shown in pink, is the only agent that touches the running system. On the right are the readers. The control room does not keep its own copy of the truth; it renders one snapshot of this folder per poll. The CLI writes the same files. The Guardian is a separate process with its own Docker client. It restores the sandbox even if the injector itself dies.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that matters. Say the Risk agent crashes halfway through. Nothing is lost: the experiment report it was reading is still on disk, validated, and you re-run that one agent alone with faultline risk and the experiment id. Any agent can be re-run in isolation, which is also how we iterated on the scoring without re-breaking Ditto every time. This is a scenario to illustrate the property, not a crash that happened during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trusting the measurements, not about the chaos itself. Four checks. One: every report is a typed Pydantic model before it is serialised, written atomically through a temp file and rename, so a crash never leaves a half-written report, and re-validated whenever an agent reads it. When the model returns JSON that fails its schema, that output is thrown away and the code path runs. Two: the baseline is measured. This run's baseline in reports/baseline.json was captured 2026-10-11 at 05:10 UTC: 60 seconds, 22 probe requests, 100 percent success, p95 38.94 ms. Be careful here: the abort limits are 'the larger of a safety floor and a multiple of the baseline'. On this run the floors won: abort above 30 percent errors or p95 above 3000 ms. Do not say the 3000 ms number came from the baseline. Three: two independent signals. The synthetic API probe is what a client sees; /alive and /ready are what the platform claims. In experiment fd1b18f67001, a container crash on things, the API was at 0 percent success while gateway, connectivity and things-search all kept answering /ready 200. That is the health_check_masked_failure finding, and it matches Ditto issue 1865. Four: the sequence-number canary. All 11 experiment reports have data_integrity_ok true. The panel shows a real excerpt from fd1b18f67001, run on Day 1, 2026-10-10. It is reflowed for width, and the ellipses mark omitted fields. Honesty point: no experiment raised data_loss_suspected, so the canary has never actually caught a loss. Say it proved none happened, not that it caught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deliverable. On the left, every experiment ranked by the Risk agent's 0-to-10 severity, worst first, each with the fix matched to it from a library of Ditto-specific remediations. Click, and the scorecard fills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is real. Risk scores come from reports/risk, fixes from reports/fixes, and the scorecard from reports/scorecard.json, generated 2026-10-11 05:12 UTC over all 11 experiments from Day 1 (Oct 10) and Day 2 (Oct 11). Representative versus full: the left shows the top 5 of 11 experiments. The other 6 are summarised in the grey line, all low. The fix titles marked with an ellipsis are shortened; the full titles are in reports/fixes. Each row shows the top-ranked fix only, out of two to four per experiment. The top finding: killing things took the API to 0 percent while three other services kept saying they were ready, so the top fix is to make readiness reflect subsystem health. The 4.76 is the same crash repeated on Day 2. It scored lower because the dependents-stayed-ready signal came out as a low-severity finding that time, not three high ones. Scorecard: overall 81.0 out of 100. things is an F at 49.7, gateway a B at 81.8, mongodb an A at 93.3 across six degrade-only experiments, and policies an A at 99.0. Three services are untested and say so. They do not get a flattering default grade. If asked about predictions: the Weakness Scout predicted 21 weaknesses before any injection. reports/weaknesses_reconcile.json now scores 10 confirmed, 2 cleared and 9 untested across these 11 experiments, an 83 percent hit rate on the 12 that were exercised. The README still quotes the older 8-of-21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inventory. Ten failure types, matching the organisers' list: crash, hang, network delay and loss, partition, full disk, an overloaded database, and a traffic spike. Every parameter has hard bounds, and whatever the model or an operator asks for is clamped into them, with the clamp written into the report. Underneath are four real mechanisms. The Docker Engine handles container-level faults. Pumba runs tc netem as a sidecar, so nothing is installed inside Ditto. Stress runs inside the container, and a host-side burst creates traffic spikes. The model is pluggable: local Ollama, any OpenAI-compatible endpoint (the demo machine uses Llama 3.3 70B on Groq), or Anthropic. With no model at all, everything still works deterministically. That matters, because every number is computed by code anyway; the model only picks among code-ranked options and writes prose. There are two interfaces to one engine: the CLI and the control room. Monitoring is Prometheus, cAdvisor, Blackbox and Grafana, all part of the deployed compose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come straight from the Known limitations section of our README; we did not write them for the deck. One: it is single-node Docker Compose today. Everything keys off the compose project label, and there is no Kubernetes backend yet. That is the first roadmap item. Two: crash recovery mostly measures JVM boot. A killed Ditto service takes one to two minutes to restart and rejoin the cluster, so for crash experiments the recovery number is mostly Java. The degrade-type faults are the better test of Ditto's own fault handling. Three: findings are heuristic. The data-loss check is a canary read-back, not a journal audit, and that is why every finding carries its evidence. Four: the control room is single-operator with no auth, deliberately. It binds to localhost and is meant for one laptop. Close by pointing back at the method: everything the system claims is a JSON file you can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L_COVER">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spc="100" kern="0" dirty="0">
                <a:solidFill>
                  <a:schemeClr val="accent5"/>
                </a:solidFill>
              </a:rPr>
              <a:t>FAULTLINE  ·  AI-driven chaos engineering  ·  Eclipse Ditto 3.9.8</a:t>
            </a:r>
            <a:endParaRPr lang="en-US" sz="1000" dirty="0"/>
          </a:p>
        </p:txBody>
      </p:sp>
      <p:sp>
        <p:nvSpPr>
          <p:cNvPr id="3" name="Text 1"/>
          <p:cNvSpPr/>
          <p:nvPr>
            <p:ph idx="101" type="title" hasCustomPrompt="1"/>
          </p:nvPr>
        </p:nvSpPr>
        <p:spPr>
          <a:xfrm>
            <a:off x="548640" y="1600200"/>
            <a:ext cx="11064240" cy="1188720"/>
          </a:xfrm>
          <a:prstGeom prst="rect">
            <a:avLst/>
          </a:prstGeom>
          <a:noFill/>
          <a:ln/>
        </p:spPr>
        <p:txBody>
          <a:bodyPr wrap="square" rtlCol="0"/>
          <a:lstStyle>
            <a:lvl1pPr algn="l" indent="0" marL="0">
              <a:buNone/>
              <a:defRPr lang="en-US" sz="7200" b="1" dirty="0">
                <a:solidFill>
                  <a:schemeClr val="tx1"/>
                </a:solidFill>
              </a:defRPr>
            </a:lvl1pPr>
          </a:lstStyle>
          <a:p>
            <a:pPr algn="l" indent="0" marL="0">
              <a:buNone/>
            </a:pPr>
            <a:endParaRPr lang="en-US" sz="7200" dirty="0"/>
          </a:p>
        </p:txBody>
      </p:sp>
      <p:sp>
        <p:nvSpPr>
          <p:cNvPr id="4" name="Text 1"/>
          <p:cNvSpPr/>
          <p:nvPr>
            <p:ph idx="102" type="body" hasCustomPrompt="1"/>
          </p:nvPr>
        </p:nvSpPr>
        <p:spPr>
          <a:xfrm>
            <a:off x="548640" y="2880360"/>
            <a:ext cx="10515600" cy="502920"/>
          </a:xfrm>
          <a:prstGeom prst="rect">
            <a:avLst/>
          </a:prstGeom>
          <a:noFill/>
          <a:ln/>
        </p:spPr>
        <p:txBody>
          <a:bodyPr wrap="square" rtlCol="0"/>
          <a:lstStyle>
            <a:lvl1pPr indent="0" marL="0">
              <a:buNone/>
              <a:defRPr lang="en-US" sz="2200" dirty="0">
                <a:solidFill>
                  <a:schemeClr val="tx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L_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spc="100" kern="0" dirty="0">
                <a:solidFill>
                  <a:schemeClr val="accent5"/>
                </a:solidFill>
              </a:rPr>
              <a:t>FAULTLINE  ·  AI-driven chaos engineering  ·  Eclipse Ditto 3.9.8</a:t>
            </a:r>
            <a:endParaRPr lang="en-US" sz="1000" dirty="0"/>
          </a:p>
        </p:txBody>
      </p:sp>
      <p:sp>
        <p:nvSpPr>
          <p:cNvPr id="3" name="Text 1"/>
          <p:cNvSpPr/>
          <p:nvPr>
            <p:ph idx="101" type="body" hasCustomPrompt="1"/>
          </p:nvPr>
        </p:nvSpPr>
        <p:spPr>
          <a:xfrm>
            <a:off x="548640" y="384048"/>
            <a:ext cx="8229600" cy="274320"/>
          </a:xfrm>
          <a:prstGeom prst="rect">
            <a:avLst/>
          </a:prstGeom>
          <a:noFill/>
          <a:ln/>
        </p:spPr>
        <p:txBody>
          <a:bodyPr wrap="square" rtlCol="0"/>
          <a:lstStyle>
            <a:lvl1pPr indent="0" marL="0">
              <a:buNone/>
              <a:defRPr lang="en-US" sz="1200" spc="200" kern="0" dirty="0">
                <a:solidFill>
                  <a:schemeClr val="accent3"/>
                </a:solidFill>
                <a:latin typeface="Consolas" pitchFamily="34" charset="0"/>
                <a:ea typeface="Consolas" pitchFamily="34" charset="-122"/>
                <a:cs typeface="Consolas" pitchFamily="34" charset="-120"/>
              </a:defRPr>
            </a:lvl1pPr>
          </a:lstStyle>
          <a:p>
            <a:pPr indent="0" marL="0">
              <a:buNone/>
            </a:pPr>
            <a:endParaRPr lang="en-US" sz="1200" dirty="0"/>
          </a:p>
        </p:txBody>
      </p:sp>
      <p:sp>
        <p:nvSpPr>
          <p:cNvPr id="4" name="Text 1"/>
          <p:cNvSpPr/>
          <p:nvPr>
            <p:ph idx="102" type="title" hasCustomPrompt="1"/>
          </p:nvPr>
        </p:nvSpPr>
        <p:spPr>
          <a:xfrm>
            <a:off x="548640" y="676656"/>
            <a:ext cx="1106424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600200"/>
            <a:ext cx="11064240" cy="1188720"/>
          </a:xfrm>
          <a:prstGeom prst="rect">
            <a:avLst/>
          </a:prstGeom>
          <a:noFill/>
          <a:ln/>
        </p:spPr>
        <p:txBody>
          <a:bodyPr wrap="square" lIns="0" tIns="0" rIns="0" bIns="0" rtlCol="0" anchor="b"/>
          <a:lstStyle/>
          <a:p>
            <a:pPr algn="l" indent="0" marL="0">
              <a:buNone/>
            </a:pPr>
            <a:r>
              <a:rPr lang="en-US" sz="7200" b="1" dirty="0">
                <a:solidFill>
                  <a:schemeClr val="tx1"/>
                </a:solidFill>
              </a:rPr>
              <a:t>Faultline</a:t>
            </a:r>
            <a:endParaRPr lang="en-US" sz="7200" dirty="0"/>
          </a:p>
        </p:txBody>
      </p:sp>
      <p:sp>
        <p:nvSpPr>
          <p:cNvPr id="3" name="Text 1"/>
          <p:cNvSpPr/>
          <p:nvPr>
            <p:ph idx="102" type="body" hasCustomPrompt="1"/>
          </p:nvPr>
        </p:nvSpPr>
        <p:spPr>
          <a:xfrm>
            <a:off x="548640" y="2880360"/>
            <a:ext cx="10515600" cy="502920"/>
          </a:xfrm>
          <a:prstGeom prst="rect">
            <a:avLst/>
          </a:prstGeom>
          <a:noFill/>
          <a:ln/>
        </p:spPr>
        <p:txBody>
          <a:bodyPr wrap="square" lIns="0" tIns="0" rIns="0" bIns="0" rtlCol="0" anchor="t"/>
          <a:lstStyle/>
          <a:p>
            <a:pPr indent="0" marL="0">
              <a:buNone/>
            </a:pPr>
            <a:r>
              <a:rPr lang="en-US" sz="2200" dirty="0">
                <a:solidFill>
                  <a:schemeClr val="tx2"/>
                </a:solidFill>
              </a:rPr>
              <a:t>AI-driven chaos engineering for cloud-native resilience, pointed at Eclipse Ditto</a:t>
            </a:r>
            <a:endParaRPr lang="en-US" sz="2200" dirty="0"/>
          </a:p>
        </p:txBody>
      </p:sp>
      <p:sp>
        <p:nvSpPr>
          <p:cNvPr id="4" name="Text 2"/>
          <p:cNvSpPr txBox="1"/>
          <p:nvPr/>
        </p:nvSpPr>
        <p:spPr>
          <a:xfrm>
            <a:off x="548640" y="3520440"/>
            <a:ext cx="8229600" cy="411480"/>
          </a:xfrm>
          <a:prstGeom prst="rect">
            <a:avLst/>
          </a:prstGeom>
          <a:noFill/>
          <a:ln/>
        </p:spPr>
        <p:txBody>
          <a:bodyPr wrap="square" lIns="0" tIns="0" rIns="0" bIns="0" rtlCol="0" anchor="ctr"/>
          <a:lstStyle/>
          <a:p>
            <a:pPr indent="0" marL="0">
              <a:buNone/>
            </a:pPr>
            <a:r>
              <a:rPr lang="en-US" sz="2000" i="1" dirty="0">
                <a:solidFill>
                  <a:schemeClr val="accent2"/>
                </a:solidFill>
              </a:rPr>
              <a:t>The LLM proposes. The code disposes.</a:t>
            </a:r>
            <a:endParaRPr lang="en-US" sz="2000" dirty="0"/>
          </a:p>
        </p:txBody>
      </p:sp>
      <p:sp>
        <p:nvSpPr>
          <p:cNvPr id="5" name="!!step1"/>
          <p:cNvSpPr/>
          <p:nvPr/>
        </p:nvSpPr>
        <p:spPr>
          <a:xfrm>
            <a:off x="548640" y="4892040"/>
            <a:ext cx="457200" cy="457200"/>
          </a:xfrm>
          <a:prstGeom prst="ellipse">
            <a:avLst/>
          </a:prstGeom>
          <a:solidFill>
            <a:schemeClr val="bg2"/>
          </a:solidFill>
          <a:ln w="12700">
            <a:solidFill>
              <a:schemeClr val="tx2"/>
            </a:solidFill>
            <a:prstDash val="solid"/>
          </a:ln>
        </p:spPr>
      </p:sp>
      <p:sp>
        <p:nvSpPr>
          <p:cNvPr id="6" name="!!stepnum1"/>
          <p:cNvSpPr txBox="1"/>
          <p:nvPr/>
        </p:nvSpPr>
        <p:spPr>
          <a:xfrm>
            <a:off x="548640" y="48920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1</a:t>
            </a:r>
            <a:endParaRPr lang="en-US" sz="1600" dirty="0"/>
          </a:p>
        </p:txBody>
      </p:sp>
      <p:sp>
        <p:nvSpPr>
          <p:cNvPr id="7" name="!!step2"/>
          <p:cNvSpPr/>
          <p:nvPr/>
        </p:nvSpPr>
        <p:spPr>
          <a:xfrm>
            <a:off x="1261872" y="4892040"/>
            <a:ext cx="457200" cy="457200"/>
          </a:xfrm>
          <a:prstGeom prst="ellipse">
            <a:avLst/>
          </a:prstGeom>
          <a:solidFill>
            <a:schemeClr val="bg2"/>
          </a:solidFill>
          <a:ln w="12700">
            <a:solidFill>
              <a:schemeClr val="tx2"/>
            </a:solidFill>
            <a:prstDash val="solid"/>
          </a:ln>
        </p:spPr>
      </p:sp>
      <p:sp>
        <p:nvSpPr>
          <p:cNvPr id="8" name="!!stepnum2"/>
          <p:cNvSpPr txBox="1"/>
          <p:nvPr/>
        </p:nvSpPr>
        <p:spPr>
          <a:xfrm>
            <a:off x="1261872" y="48920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2</a:t>
            </a:r>
            <a:endParaRPr lang="en-US" sz="1600" dirty="0"/>
          </a:p>
        </p:txBody>
      </p:sp>
      <p:sp>
        <p:nvSpPr>
          <p:cNvPr id="9" name="!!step3"/>
          <p:cNvSpPr/>
          <p:nvPr/>
        </p:nvSpPr>
        <p:spPr>
          <a:xfrm>
            <a:off x="1975104" y="4892040"/>
            <a:ext cx="457200" cy="457200"/>
          </a:xfrm>
          <a:prstGeom prst="ellipse">
            <a:avLst/>
          </a:prstGeom>
          <a:solidFill>
            <a:schemeClr val="bg2"/>
          </a:solidFill>
          <a:ln w="12700">
            <a:solidFill>
              <a:schemeClr val="tx2"/>
            </a:solidFill>
            <a:prstDash val="solid"/>
          </a:ln>
        </p:spPr>
      </p:sp>
      <p:sp>
        <p:nvSpPr>
          <p:cNvPr id="10" name="!!stepnum3"/>
          <p:cNvSpPr txBox="1"/>
          <p:nvPr/>
        </p:nvSpPr>
        <p:spPr>
          <a:xfrm>
            <a:off x="1975104" y="48920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3</a:t>
            </a:r>
            <a:endParaRPr lang="en-US" sz="1600" dirty="0"/>
          </a:p>
        </p:txBody>
      </p:sp>
      <p:sp>
        <p:nvSpPr>
          <p:cNvPr id="11" name="!!step4"/>
          <p:cNvSpPr/>
          <p:nvPr/>
        </p:nvSpPr>
        <p:spPr>
          <a:xfrm>
            <a:off x="2688336" y="4892040"/>
            <a:ext cx="457200" cy="457200"/>
          </a:xfrm>
          <a:prstGeom prst="ellipse">
            <a:avLst/>
          </a:prstGeom>
          <a:solidFill>
            <a:schemeClr val="bg2"/>
          </a:solidFill>
          <a:ln w="12700">
            <a:solidFill>
              <a:schemeClr val="tx2"/>
            </a:solidFill>
            <a:prstDash val="solid"/>
          </a:ln>
        </p:spPr>
      </p:sp>
      <p:sp>
        <p:nvSpPr>
          <p:cNvPr id="12" name="!!stepnum4"/>
          <p:cNvSpPr txBox="1"/>
          <p:nvPr/>
        </p:nvSpPr>
        <p:spPr>
          <a:xfrm>
            <a:off x="2688336" y="48920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4</a:t>
            </a:r>
            <a:endParaRPr lang="en-US" sz="1600" dirty="0"/>
          </a:p>
        </p:txBody>
      </p:sp>
      <p:sp>
        <p:nvSpPr>
          <p:cNvPr id="13" name="!!step5"/>
          <p:cNvSpPr/>
          <p:nvPr/>
        </p:nvSpPr>
        <p:spPr>
          <a:xfrm>
            <a:off x="3401568" y="4892040"/>
            <a:ext cx="457200" cy="457200"/>
          </a:xfrm>
          <a:prstGeom prst="ellipse">
            <a:avLst/>
          </a:prstGeom>
          <a:solidFill>
            <a:schemeClr val="accent1"/>
          </a:solidFill>
          <a:ln w="12700">
            <a:solidFill>
              <a:schemeClr val="accent1"/>
            </a:solidFill>
            <a:prstDash val="solid"/>
          </a:ln>
        </p:spPr>
      </p:sp>
      <p:sp>
        <p:nvSpPr>
          <p:cNvPr id="14" name="!!stepnum5"/>
          <p:cNvSpPr txBox="1"/>
          <p:nvPr/>
        </p:nvSpPr>
        <p:spPr>
          <a:xfrm>
            <a:off x="3401568" y="4892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5</a:t>
            </a:r>
            <a:endParaRPr lang="en-US" sz="1600" dirty="0"/>
          </a:p>
        </p:txBody>
      </p:sp>
      <p:sp>
        <p:nvSpPr>
          <p:cNvPr id="15" name="!!step6"/>
          <p:cNvSpPr/>
          <p:nvPr/>
        </p:nvSpPr>
        <p:spPr>
          <a:xfrm>
            <a:off x="4114800" y="4892040"/>
            <a:ext cx="457200" cy="457200"/>
          </a:xfrm>
          <a:prstGeom prst="ellipse">
            <a:avLst/>
          </a:prstGeom>
          <a:solidFill>
            <a:schemeClr val="accent2"/>
          </a:solidFill>
          <a:ln w="12700">
            <a:solidFill>
              <a:schemeClr val="accent2"/>
            </a:solidFill>
            <a:prstDash val="solid"/>
          </a:ln>
        </p:spPr>
      </p:sp>
      <p:sp>
        <p:nvSpPr>
          <p:cNvPr id="16" name="!!stepnum6"/>
          <p:cNvSpPr txBox="1"/>
          <p:nvPr/>
        </p:nvSpPr>
        <p:spPr>
          <a:xfrm>
            <a:off x="4114800" y="4892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6</a:t>
            </a:r>
            <a:endParaRPr lang="en-US" sz="1600" dirty="0"/>
          </a:p>
        </p:txBody>
      </p:sp>
      <p:sp>
        <p:nvSpPr>
          <p:cNvPr id="17" name="Text 15"/>
          <p:cNvSpPr txBox="1"/>
          <p:nvPr/>
        </p:nvSpPr>
        <p:spPr>
          <a:xfrm>
            <a:off x="4983480" y="4892040"/>
            <a:ext cx="5943600" cy="457200"/>
          </a:xfrm>
          <a:prstGeom prst="rect">
            <a:avLst/>
          </a:prstGeom>
          <a:noFill/>
          <a:ln/>
        </p:spPr>
        <p:txBody>
          <a:bodyPr wrap="square" lIns="0" tIns="0" rIns="0" bIns="0" rtlCol="0" anchor="ctr"/>
          <a:lstStyle/>
          <a:p>
            <a:pPr indent="0" marL="0">
              <a:buNone/>
            </a:pPr>
            <a:r>
              <a:rPr lang="en-US" sz="1400" dirty="0">
                <a:solidFill>
                  <a:schemeClr val="accent5"/>
                </a:solidFill>
              </a:rPr>
              <a:t>six steps  ·  one command: </a:t>
            </a:r>
            <a:pPr indent="0" marL="0">
              <a:buNone/>
            </a:pPr>
            <a:r>
              <a:rPr lang="en-US" sz="1400" dirty="0">
                <a:solidFill>
                  <a:schemeClr val="tx2"/>
                </a:solidFill>
                <a:latin typeface="Consolas" pitchFamily="34" charset="0"/>
                <a:ea typeface="Consolas" pitchFamily="34" charset="-122"/>
                <a:cs typeface="Consolas" pitchFamily="34" charset="-120"/>
              </a:rPr>
              <a:t>faultline demo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spc="200" kern="0" dirty="0">
                <a:solidFill>
                  <a:schemeClr val="accent3"/>
                </a:solidFill>
                <a:latin typeface="Consolas" pitchFamily="34" charset="0"/>
                <a:ea typeface="Consolas" pitchFamily="34" charset="-122"/>
                <a:cs typeface="Consolas" pitchFamily="34" charset="-120"/>
              </a:rPr>
              <a:t>01 · PIPELINE</a:t>
            </a:r>
            <a:endParaRPr lang="en-US" sz="1200" dirty="0"/>
          </a:p>
        </p:txBody>
      </p:sp>
      <p:sp>
        <p:nvSpPr>
          <p:cNvPr id="3" name="Text 1"/>
          <p:cNvSpPr/>
          <p:nvPr>
            <p:ph idx="102" type="title" hasCustomPrompt="1"/>
          </p:nvPr>
        </p:nvSpPr>
        <p:spPr>
          <a:xfrm>
            <a:off x="548640" y="676656"/>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The whole system in six steps</a:t>
            </a:r>
            <a:endParaRPr lang="en-US" sz="3400" dirty="0"/>
          </a:p>
        </p:txBody>
      </p:sp>
      <p:sp>
        <p:nvSpPr>
          <p:cNvPr id="4" name="!!step1"/>
          <p:cNvSpPr/>
          <p:nvPr/>
        </p:nvSpPr>
        <p:spPr>
          <a:xfrm>
            <a:off x="548640" y="1755648"/>
            <a:ext cx="457200" cy="457200"/>
          </a:xfrm>
          <a:prstGeom prst="ellipse">
            <a:avLst/>
          </a:prstGeom>
          <a:solidFill>
            <a:schemeClr val="bg2"/>
          </a:solidFill>
          <a:ln w="12700">
            <a:solidFill>
              <a:schemeClr val="tx2"/>
            </a:solidFill>
            <a:prstDash val="solid"/>
          </a:ln>
        </p:spPr>
      </p:sp>
      <p:sp>
        <p:nvSpPr>
          <p:cNvPr id="5" name="!!stepnum1"/>
          <p:cNvSpPr txBox="1"/>
          <p:nvPr/>
        </p:nvSpPr>
        <p:spPr>
          <a:xfrm>
            <a:off x="548640" y="17556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1</a:t>
            </a:r>
            <a:endParaRPr lang="en-US" sz="1600" dirty="0"/>
          </a:p>
        </p:txBody>
      </p:sp>
      <p:sp>
        <p:nvSpPr>
          <p:cNvPr id="6" name="Text 4"/>
          <p:cNvSpPr txBox="1"/>
          <p:nvPr/>
        </p:nvSpPr>
        <p:spPr>
          <a:xfrm>
            <a:off x="1234440" y="1645920"/>
            <a:ext cx="7178040" cy="676656"/>
          </a:xfrm>
          <a:prstGeom prst="rect">
            <a:avLst/>
          </a:prstGeom>
          <a:noFill/>
          <a:ln/>
        </p:spPr>
        <p:txBody>
          <a:bodyPr wrap="square" lIns="0" tIns="0" rIns="0" bIns="0" rtlCol="0" anchor="ctr"/>
          <a:lstStyle/>
          <a:p>
            <a:pPr indent="0" marL="0">
              <a:buNone/>
            </a:pPr>
            <a:r>
              <a:rPr lang="en-US" sz="2000" dirty="0">
                <a:solidFill>
                  <a:schemeClr val="tx1"/>
                </a:solidFill>
              </a:rPr>
              <a:t>Map the real dependency graph, even undeclared edges</a:t>
            </a:r>
            <a:endParaRPr lang="en-US" sz="2000" dirty="0"/>
          </a:p>
        </p:txBody>
      </p:sp>
      <p:sp>
        <p:nvSpPr>
          <p:cNvPr id="7" name="Text 5"/>
          <p:cNvSpPr txBox="1"/>
          <p:nvPr/>
        </p:nvSpPr>
        <p:spPr>
          <a:xfrm>
            <a:off x="8503920" y="1645920"/>
            <a:ext cx="3136392" cy="676656"/>
          </a:xfrm>
          <a:prstGeom prst="rect">
            <a:avLst/>
          </a:prstGeom>
          <a:noFill/>
          <a:ln/>
        </p:spPr>
        <p:txBody>
          <a:bodyPr wrap="square" lIns="0" tIns="0" rIns="0" bIns="0" rtlCol="0" anchor="ctr"/>
          <a:lstStyle/>
          <a:p>
            <a:pPr algn="r" indent="0" marL="0">
              <a:buNone/>
            </a:pPr>
            <a:r>
              <a:rPr lang="en-US" sz="1400" dirty="0">
                <a:solidFill>
                  <a:schemeClr val="tx2"/>
                </a:solidFill>
                <a:latin typeface="Consolas" pitchFamily="34" charset="0"/>
                <a:ea typeface="Consolas" pitchFamily="34" charset="-122"/>
                <a:cs typeface="Consolas" pitchFamily="34" charset="-120"/>
              </a:rPr>
              <a:t>faultline topology</a:t>
            </a:r>
            <a:endParaRPr lang="en-US" sz="1400" dirty="0"/>
          </a:p>
        </p:txBody>
      </p:sp>
      <p:sp>
        <p:nvSpPr>
          <p:cNvPr id="8" name="Shape 6"/>
          <p:cNvSpPr/>
          <p:nvPr/>
        </p:nvSpPr>
        <p:spPr>
          <a:xfrm>
            <a:off x="1234440" y="2322576"/>
            <a:ext cx="10405872" cy="0"/>
          </a:xfrm>
          <a:prstGeom prst="line">
            <a:avLst/>
          </a:prstGeom>
          <a:noFill/>
          <a:ln w="9525">
            <a:solidFill>
              <a:schemeClr val="accent6"/>
            </a:solidFill>
            <a:prstDash val="solid"/>
          </a:ln>
        </p:spPr>
      </p:sp>
      <p:sp>
        <p:nvSpPr>
          <p:cNvPr id="9" name="!!step2"/>
          <p:cNvSpPr/>
          <p:nvPr/>
        </p:nvSpPr>
        <p:spPr>
          <a:xfrm>
            <a:off x="548640" y="2432304"/>
            <a:ext cx="457200" cy="457200"/>
          </a:xfrm>
          <a:prstGeom prst="ellipse">
            <a:avLst/>
          </a:prstGeom>
          <a:solidFill>
            <a:schemeClr val="bg2"/>
          </a:solidFill>
          <a:ln w="12700">
            <a:solidFill>
              <a:schemeClr val="tx2"/>
            </a:solidFill>
            <a:prstDash val="solid"/>
          </a:ln>
        </p:spPr>
      </p:sp>
      <p:sp>
        <p:nvSpPr>
          <p:cNvPr id="10" name="!!stepnum2"/>
          <p:cNvSpPr txBox="1"/>
          <p:nvPr/>
        </p:nvSpPr>
        <p:spPr>
          <a:xfrm>
            <a:off x="548640" y="243230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2</a:t>
            </a:r>
            <a:endParaRPr lang="en-US" sz="1600" dirty="0"/>
          </a:p>
        </p:txBody>
      </p:sp>
      <p:sp>
        <p:nvSpPr>
          <p:cNvPr id="11" name="Text 9"/>
          <p:cNvSpPr txBox="1"/>
          <p:nvPr/>
        </p:nvSpPr>
        <p:spPr>
          <a:xfrm>
            <a:off x="1234440" y="2322576"/>
            <a:ext cx="7178040" cy="676656"/>
          </a:xfrm>
          <a:prstGeom prst="rect">
            <a:avLst/>
          </a:prstGeom>
          <a:noFill/>
          <a:ln/>
        </p:spPr>
        <p:txBody>
          <a:bodyPr wrap="square" lIns="0" tIns="0" rIns="0" bIns="0" rtlCol="0" anchor="ctr"/>
          <a:lstStyle/>
          <a:p>
            <a:pPr indent="0" marL="0">
              <a:buNone/>
            </a:pPr>
            <a:r>
              <a:rPr lang="en-US" sz="2000" dirty="0">
                <a:solidFill>
                  <a:schemeClr val="tx1"/>
                </a:solidFill>
              </a:rPr>
              <a:t>Predict weak spots from config, before anything breaks</a:t>
            </a:r>
            <a:endParaRPr lang="en-US" sz="2000" dirty="0"/>
          </a:p>
        </p:txBody>
      </p:sp>
      <p:sp>
        <p:nvSpPr>
          <p:cNvPr id="12" name="Text 10"/>
          <p:cNvSpPr txBox="1"/>
          <p:nvPr/>
        </p:nvSpPr>
        <p:spPr>
          <a:xfrm>
            <a:off x="8503920" y="2322576"/>
            <a:ext cx="3136392" cy="676656"/>
          </a:xfrm>
          <a:prstGeom prst="rect">
            <a:avLst/>
          </a:prstGeom>
          <a:noFill/>
          <a:ln/>
        </p:spPr>
        <p:txBody>
          <a:bodyPr wrap="square" lIns="0" tIns="0" rIns="0" bIns="0" rtlCol="0" anchor="ctr"/>
          <a:lstStyle/>
          <a:p>
            <a:pPr algn="r" indent="0" marL="0">
              <a:buNone/>
            </a:pPr>
            <a:r>
              <a:rPr lang="en-US" sz="1400" dirty="0">
                <a:solidFill>
                  <a:schemeClr val="tx2"/>
                </a:solidFill>
                <a:latin typeface="Consolas" pitchFamily="34" charset="0"/>
                <a:ea typeface="Consolas" pitchFamily="34" charset="-122"/>
                <a:cs typeface="Consolas" pitchFamily="34" charset="-120"/>
              </a:rPr>
              <a:t>faultline scout</a:t>
            </a:r>
            <a:endParaRPr lang="en-US" sz="1400" dirty="0"/>
          </a:p>
        </p:txBody>
      </p:sp>
      <p:sp>
        <p:nvSpPr>
          <p:cNvPr id="13" name="Shape 11"/>
          <p:cNvSpPr/>
          <p:nvPr/>
        </p:nvSpPr>
        <p:spPr>
          <a:xfrm>
            <a:off x="1234440" y="2999232"/>
            <a:ext cx="10405872" cy="0"/>
          </a:xfrm>
          <a:prstGeom prst="line">
            <a:avLst/>
          </a:prstGeom>
          <a:noFill/>
          <a:ln w="9525">
            <a:solidFill>
              <a:schemeClr val="accent6"/>
            </a:solidFill>
            <a:prstDash val="solid"/>
          </a:ln>
        </p:spPr>
      </p:sp>
      <p:sp>
        <p:nvSpPr>
          <p:cNvPr id="14" name="!!step3"/>
          <p:cNvSpPr/>
          <p:nvPr/>
        </p:nvSpPr>
        <p:spPr>
          <a:xfrm>
            <a:off x="548640" y="3108960"/>
            <a:ext cx="457200" cy="457200"/>
          </a:xfrm>
          <a:prstGeom prst="ellipse">
            <a:avLst/>
          </a:prstGeom>
          <a:solidFill>
            <a:schemeClr val="bg2"/>
          </a:solidFill>
          <a:ln w="12700">
            <a:solidFill>
              <a:schemeClr val="tx2"/>
            </a:solidFill>
            <a:prstDash val="solid"/>
          </a:ln>
        </p:spPr>
      </p:sp>
      <p:sp>
        <p:nvSpPr>
          <p:cNvPr id="15" name="!!stepnum3"/>
          <p:cNvSpPr txBox="1"/>
          <p:nvPr/>
        </p:nvSpPr>
        <p:spPr>
          <a:xfrm>
            <a:off x="548640" y="31089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3</a:t>
            </a:r>
            <a:endParaRPr lang="en-US" sz="1600" dirty="0"/>
          </a:p>
        </p:txBody>
      </p:sp>
      <p:sp>
        <p:nvSpPr>
          <p:cNvPr id="16" name="Text 14"/>
          <p:cNvSpPr txBox="1"/>
          <p:nvPr/>
        </p:nvSpPr>
        <p:spPr>
          <a:xfrm>
            <a:off x="1234440" y="2999232"/>
            <a:ext cx="7178040" cy="676656"/>
          </a:xfrm>
          <a:prstGeom prst="rect">
            <a:avLst/>
          </a:prstGeom>
          <a:noFill/>
          <a:ln/>
        </p:spPr>
        <p:txBody>
          <a:bodyPr wrap="square" lIns="0" tIns="0" rIns="0" bIns="0" rtlCol="0" anchor="ctr"/>
          <a:lstStyle/>
          <a:p>
            <a:pPr indent="0" marL="0">
              <a:buNone/>
            </a:pPr>
            <a:r>
              <a:rPr lang="en-US" sz="2000" dirty="0">
                <a:solidFill>
                  <a:schemeClr val="tx1"/>
                </a:solidFill>
              </a:rPr>
              <a:t>Measure 60 s of steady state; derive the </a:t>
            </a:r>
            <a:pPr indent="0" marL="0">
              <a:buNone/>
            </a:pPr>
            <a:r>
              <a:rPr lang="en-US" sz="2000" dirty="0">
                <a:solidFill>
                  <a:schemeClr val="accent4"/>
                </a:solidFill>
              </a:rPr>
              <a:t>abort thresholds</a:t>
            </a:r>
            <a:endParaRPr lang="en-US" sz="2000" dirty="0"/>
          </a:p>
        </p:txBody>
      </p:sp>
      <p:sp>
        <p:nvSpPr>
          <p:cNvPr id="17" name="Text 15"/>
          <p:cNvSpPr txBox="1"/>
          <p:nvPr/>
        </p:nvSpPr>
        <p:spPr>
          <a:xfrm>
            <a:off x="8503920" y="2999232"/>
            <a:ext cx="3136392" cy="676656"/>
          </a:xfrm>
          <a:prstGeom prst="rect">
            <a:avLst/>
          </a:prstGeom>
          <a:noFill/>
          <a:ln/>
        </p:spPr>
        <p:txBody>
          <a:bodyPr wrap="square" lIns="0" tIns="0" rIns="0" bIns="0" rtlCol="0" anchor="ctr"/>
          <a:lstStyle/>
          <a:p>
            <a:pPr algn="r" indent="0" marL="0">
              <a:buNone/>
            </a:pPr>
            <a:r>
              <a:rPr lang="en-US" sz="1400" dirty="0">
                <a:solidFill>
                  <a:schemeClr val="tx2"/>
                </a:solidFill>
                <a:latin typeface="Consolas" pitchFamily="34" charset="0"/>
                <a:ea typeface="Consolas" pitchFamily="34" charset="-122"/>
                <a:cs typeface="Consolas" pitchFamily="34" charset="-120"/>
              </a:rPr>
              <a:t>faultline baseline</a:t>
            </a:r>
            <a:endParaRPr lang="en-US" sz="1400" dirty="0"/>
          </a:p>
        </p:txBody>
      </p:sp>
      <p:sp>
        <p:nvSpPr>
          <p:cNvPr id="18" name="Shape 16"/>
          <p:cNvSpPr/>
          <p:nvPr/>
        </p:nvSpPr>
        <p:spPr>
          <a:xfrm>
            <a:off x="1234440" y="3675888"/>
            <a:ext cx="10405872" cy="0"/>
          </a:xfrm>
          <a:prstGeom prst="line">
            <a:avLst/>
          </a:prstGeom>
          <a:noFill/>
          <a:ln w="9525">
            <a:solidFill>
              <a:schemeClr val="accent6"/>
            </a:solidFill>
            <a:prstDash val="solid"/>
          </a:ln>
        </p:spPr>
      </p:sp>
      <p:sp>
        <p:nvSpPr>
          <p:cNvPr id="19" name="!!step4"/>
          <p:cNvSpPr/>
          <p:nvPr/>
        </p:nvSpPr>
        <p:spPr>
          <a:xfrm>
            <a:off x="548640" y="3785616"/>
            <a:ext cx="457200" cy="457200"/>
          </a:xfrm>
          <a:prstGeom prst="ellipse">
            <a:avLst/>
          </a:prstGeom>
          <a:solidFill>
            <a:schemeClr val="bg2"/>
          </a:solidFill>
          <a:ln w="12700">
            <a:solidFill>
              <a:schemeClr val="tx2"/>
            </a:solidFill>
            <a:prstDash val="solid"/>
          </a:ln>
        </p:spPr>
      </p:sp>
      <p:sp>
        <p:nvSpPr>
          <p:cNvPr id="20" name="!!stepnum4"/>
          <p:cNvSpPr txBox="1"/>
          <p:nvPr/>
        </p:nvSpPr>
        <p:spPr>
          <a:xfrm>
            <a:off x="548640" y="3785616"/>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4</a:t>
            </a:r>
            <a:endParaRPr lang="en-US" sz="1600" dirty="0"/>
          </a:p>
        </p:txBody>
      </p:sp>
      <p:sp>
        <p:nvSpPr>
          <p:cNvPr id="21" name="Text 19"/>
          <p:cNvSpPr txBox="1"/>
          <p:nvPr/>
        </p:nvSpPr>
        <p:spPr>
          <a:xfrm>
            <a:off x="1234440" y="3675888"/>
            <a:ext cx="7178040" cy="676656"/>
          </a:xfrm>
          <a:prstGeom prst="rect">
            <a:avLst/>
          </a:prstGeom>
          <a:noFill/>
          <a:ln/>
        </p:spPr>
        <p:txBody>
          <a:bodyPr wrap="square" lIns="0" tIns="0" rIns="0" bIns="0" rtlCol="0" anchor="ctr"/>
          <a:lstStyle/>
          <a:p>
            <a:pPr indent="0" marL="0">
              <a:buNone/>
            </a:pPr>
            <a:r>
              <a:rPr lang="en-US" sz="2000" dirty="0">
                <a:solidFill>
                  <a:schemeClr val="tx1"/>
                </a:solidFill>
              </a:rPr>
              <a:t>Code ranks every failure; the AI picks the most informative</a:t>
            </a:r>
            <a:endParaRPr lang="en-US" sz="2000" dirty="0"/>
          </a:p>
        </p:txBody>
      </p:sp>
      <p:sp>
        <p:nvSpPr>
          <p:cNvPr id="22" name="Text 20"/>
          <p:cNvSpPr txBox="1"/>
          <p:nvPr/>
        </p:nvSpPr>
        <p:spPr>
          <a:xfrm>
            <a:off x="8503920" y="3675888"/>
            <a:ext cx="3136392" cy="676656"/>
          </a:xfrm>
          <a:prstGeom prst="rect">
            <a:avLst/>
          </a:prstGeom>
          <a:noFill/>
          <a:ln/>
        </p:spPr>
        <p:txBody>
          <a:bodyPr wrap="square" lIns="0" tIns="0" rIns="0" bIns="0" rtlCol="0" anchor="ctr"/>
          <a:lstStyle/>
          <a:p>
            <a:pPr algn="r" indent="0" marL="0">
              <a:buNone/>
            </a:pPr>
            <a:r>
              <a:rPr lang="en-US" sz="1400" dirty="0">
                <a:solidFill>
                  <a:schemeClr val="tx2"/>
                </a:solidFill>
                <a:latin typeface="Consolas" pitchFamily="34" charset="0"/>
                <a:ea typeface="Consolas" pitchFamily="34" charset="-122"/>
                <a:cs typeface="Consolas" pitchFamily="34" charset="-120"/>
              </a:rPr>
              <a:t>faultline plan</a:t>
            </a:r>
            <a:endParaRPr lang="en-US" sz="1400" dirty="0"/>
          </a:p>
        </p:txBody>
      </p:sp>
      <p:sp>
        <p:nvSpPr>
          <p:cNvPr id="23" name="Shape 21"/>
          <p:cNvSpPr/>
          <p:nvPr/>
        </p:nvSpPr>
        <p:spPr>
          <a:xfrm>
            <a:off x="1234440" y="4352544"/>
            <a:ext cx="10405872" cy="0"/>
          </a:xfrm>
          <a:prstGeom prst="line">
            <a:avLst/>
          </a:prstGeom>
          <a:noFill/>
          <a:ln w="9525">
            <a:solidFill>
              <a:schemeClr val="accent6"/>
            </a:solidFill>
            <a:prstDash val="solid"/>
          </a:ln>
        </p:spPr>
      </p:sp>
      <p:sp>
        <p:nvSpPr>
          <p:cNvPr id="24" name="!!step5"/>
          <p:cNvSpPr/>
          <p:nvPr/>
        </p:nvSpPr>
        <p:spPr>
          <a:xfrm>
            <a:off x="548640" y="4462272"/>
            <a:ext cx="457200" cy="457200"/>
          </a:xfrm>
          <a:prstGeom prst="ellipse">
            <a:avLst/>
          </a:prstGeom>
          <a:solidFill>
            <a:schemeClr val="accent1"/>
          </a:solidFill>
          <a:ln w="12700">
            <a:solidFill>
              <a:schemeClr val="accent1"/>
            </a:solidFill>
            <a:prstDash val="solid"/>
          </a:ln>
        </p:spPr>
      </p:sp>
      <p:sp>
        <p:nvSpPr>
          <p:cNvPr id="25" name="!!stepnum5"/>
          <p:cNvSpPr txBox="1"/>
          <p:nvPr/>
        </p:nvSpPr>
        <p:spPr>
          <a:xfrm>
            <a:off x="548640" y="44622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5</a:t>
            </a:r>
            <a:endParaRPr lang="en-US" sz="1600" dirty="0"/>
          </a:p>
        </p:txBody>
      </p:sp>
      <p:sp>
        <p:nvSpPr>
          <p:cNvPr id="26" name="Text 24"/>
          <p:cNvSpPr txBox="1"/>
          <p:nvPr/>
        </p:nvSpPr>
        <p:spPr>
          <a:xfrm>
            <a:off x="1234440" y="4352544"/>
            <a:ext cx="7178040" cy="676656"/>
          </a:xfrm>
          <a:prstGeom prst="rect">
            <a:avLst/>
          </a:prstGeom>
          <a:noFill/>
          <a:ln/>
        </p:spPr>
        <p:txBody>
          <a:bodyPr wrap="square" lIns="0" tIns="0" rIns="0" bIns="0" rtlCol="0" anchor="ctr"/>
          <a:lstStyle/>
          <a:p>
            <a:pPr indent="0" marL="0">
              <a:buNone/>
            </a:pPr>
            <a:r>
              <a:rPr lang="en-US" sz="2000" dirty="0">
                <a:solidFill>
                  <a:schemeClr val="tx1"/>
                </a:solidFill>
              </a:rPr>
              <a:t>Inject the failure under </a:t>
            </a:r>
            <a:pPr indent="0" marL="0">
              <a:buNone/>
            </a:pPr>
            <a:r>
              <a:rPr lang="en-US" sz="2000" dirty="0">
                <a:solidFill>
                  <a:schemeClr val="accent4"/>
                </a:solidFill>
              </a:rPr>
              <a:t>hard safety limits</a:t>
            </a:r>
            <a:pPr indent="0" marL="0">
              <a:buNone/>
            </a:pPr>
            <a:r>
              <a:rPr lang="en-US" sz="2000" dirty="0">
                <a:solidFill>
                  <a:schemeClr val="tx1"/>
                </a:solidFill>
              </a:rPr>
              <a:t>, then roll back</a:t>
            </a:r>
            <a:endParaRPr lang="en-US" sz="2000" dirty="0"/>
          </a:p>
        </p:txBody>
      </p:sp>
      <p:sp>
        <p:nvSpPr>
          <p:cNvPr id="27" name="Text 25"/>
          <p:cNvSpPr txBox="1"/>
          <p:nvPr/>
        </p:nvSpPr>
        <p:spPr>
          <a:xfrm>
            <a:off x="8503920" y="4352544"/>
            <a:ext cx="3136392" cy="676656"/>
          </a:xfrm>
          <a:prstGeom prst="rect">
            <a:avLst/>
          </a:prstGeom>
          <a:noFill/>
          <a:ln/>
        </p:spPr>
        <p:txBody>
          <a:bodyPr wrap="square" lIns="0" tIns="0" rIns="0" bIns="0" rtlCol="0" anchor="ctr"/>
          <a:lstStyle/>
          <a:p>
            <a:pPr algn="r" indent="0" marL="0">
              <a:buNone/>
            </a:pPr>
            <a:r>
              <a:rPr lang="en-US" sz="1400" dirty="0">
                <a:solidFill>
                  <a:schemeClr val="tx2"/>
                </a:solidFill>
                <a:latin typeface="Consolas" pitchFamily="34" charset="0"/>
                <a:ea typeface="Consolas" pitchFamily="34" charset="-122"/>
                <a:cs typeface="Consolas" pitchFamily="34" charset="-120"/>
              </a:rPr>
              <a:t>faultline run</a:t>
            </a:r>
            <a:endParaRPr lang="en-US" sz="1400" dirty="0"/>
          </a:p>
        </p:txBody>
      </p:sp>
      <p:sp>
        <p:nvSpPr>
          <p:cNvPr id="28" name="Shape 26"/>
          <p:cNvSpPr/>
          <p:nvPr/>
        </p:nvSpPr>
        <p:spPr>
          <a:xfrm>
            <a:off x="1234440" y="5029200"/>
            <a:ext cx="10405872" cy="0"/>
          </a:xfrm>
          <a:prstGeom prst="line">
            <a:avLst/>
          </a:prstGeom>
          <a:noFill/>
          <a:ln w="9525">
            <a:solidFill>
              <a:schemeClr val="accent6"/>
            </a:solidFill>
            <a:prstDash val="solid"/>
          </a:ln>
        </p:spPr>
      </p:sp>
      <p:sp>
        <p:nvSpPr>
          <p:cNvPr id="29" name="!!step6"/>
          <p:cNvSpPr/>
          <p:nvPr/>
        </p:nvSpPr>
        <p:spPr>
          <a:xfrm>
            <a:off x="548640" y="5138928"/>
            <a:ext cx="457200" cy="457200"/>
          </a:xfrm>
          <a:prstGeom prst="ellipse">
            <a:avLst/>
          </a:prstGeom>
          <a:solidFill>
            <a:schemeClr val="accent2"/>
          </a:solidFill>
          <a:ln w="12700">
            <a:solidFill>
              <a:schemeClr val="accent2"/>
            </a:solidFill>
            <a:prstDash val="solid"/>
          </a:ln>
        </p:spPr>
      </p:sp>
      <p:sp>
        <p:nvSpPr>
          <p:cNvPr id="30" name="!!stepnum6"/>
          <p:cNvSpPr txBox="1"/>
          <p:nvPr/>
        </p:nvSpPr>
        <p:spPr>
          <a:xfrm>
            <a:off x="548640" y="51389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6</a:t>
            </a:r>
            <a:endParaRPr lang="en-US" sz="1600" dirty="0"/>
          </a:p>
        </p:txBody>
      </p:sp>
      <p:sp>
        <p:nvSpPr>
          <p:cNvPr id="31" name="Text 29"/>
          <p:cNvSpPr txBox="1"/>
          <p:nvPr/>
        </p:nvSpPr>
        <p:spPr>
          <a:xfrm>
            <a:off x="1234440" y="5029200"/>
            <a:ext cx="7178040" cy="676656"/>
          </a:xfrm>
          <a:prstGeom prst="rect">
            <a:avLst/>
          </a:prstGeom>
          <a:noFill/>
          <a:ln/>
        </p:spPr>
        <p:txBody>
          <a:bodyPr wrap="square" lIns="0" tIns="0" rIns="0" bIns="0" rtlCol="0" anchor="ctr"/>
          <a:lstStyle/>
          <a:p>
            <a:pPr indent="0" marL="0">
              <a:buNone/>
            </a:pPr>
            <a:r>
              <a:rPr lang="en-US" sz="2000" dirty="0">
                <a:solidFill>
                  <a:schemeClr val="tx1"/>
                </a:solidFill>
              </a:rPr>
              <a:t>Score the risk, match a fix, grade every service</a:t>
            </a:r>
            <a:endParaRPr lang="en-US" sz="2000" dirty="0"/>
          </a:p>
        </p:txBody>
      </p:sp>
      <p:sp>
        <p:nvSpPr>
          <p:cNvPr id="32" name="Text 30"/>
          <p:cNvSpPr txBox="1"/>
          <p:nvPr/>
        </p:nvSpPr>
        <p:spPr>
          <a:xfrm>
            <a:off x="8503920" y="5029200"/>
            <a:ext cx="3136392" cy="676656"/>
          </a:xfrm>
          <a:prstGeom prst="rect">
            <a:avLst/>
          </a:prstGeom>
          <a:noFill/>
          <a:ln/>
        </p:spPr>
        <p:txBody>
          <a:bodyPr wrap="square" lIns="0" tIns="0" rIns="0" bIns="0" rtlCol="0" anchor="ctr"/>
          <a:lstStyle/>
          <a:p>
            <a:pPr algn="r" indent="0" marL="0">
              <a:buNone/>
            </a:pPr>
            <a:r>
              <a:rPr lang="en-US" sz="1400" dirty="0">
                <a:solidFill>
                  <a:schemeClr val="tx2"/>
                </a:solidFill>
                <a:latin typeface="Consolas" pitchFamily="34" charset="0"/>
                <a:ea typeface="Consolas" pitchFamily="34" charset="-122"/>
                <a:cs typeface="Consolas" pitchFamily="34" charset="-120"/>
              </a:rPr>
              <a:t>risk · fix · scorecard</a:t>
            </a:r>
            <a:endParaRPr lang="en-US" sz="1400" dirty="0"/>
          </a:p>
        </p:txBody>
      </p:sp>
      <p:sp>
        <p:nvSpPr>
          <p:cNvPr id="33" name="Text 31"/>
          <p:cNvSpPr txBox="1"/>
          <p:nvPr/>
        </p:nvSpPr>
        <p:spPr>
          <a:xfrm>
            <a:off x="548640" y="5852160"/>
            <a:ext cx="11064240" cy="320040"/>
          </a:xfrm>
          <a:prstGeom prst="rect">
            <a:avLst/>
          </a:prstGeom>
          <a:noFill/>
          <a:ln/>
        </p:spPr>
        <p:txBody>
          <a:bodyPr wrap="square" lIns="0" tIns="0" rIns="0" bIns="0" rtlCol="0" anchor="ctr"/>
          <a:lstStyle/>
          <a:p>
            <a:pPr indent="0" marL="0">
              <a:buNone/>
            </a:pPr>
            <a:r>
              <a:rPr lang="en-US" sz="1300" dirty="0">
                <a:solidFill>
                  <a:schemeClr val="accent5"/>
                </a:solidFill>
              </a:rPr>
              <a:t>Run all six headless with </a:t>
            </a:r>
            <a:pPr indent="0" marL="0">
              <a:buNone/>
            </a:pPr>
            <a:r>
              <a:rPr lang="en-US" sz="1300" dirty="0">
                <a:solidFill>
                  <a:schemeClr val="tx2"/>
                </a:solidFill>
                <a:latin typeface="Consolas" pitchFamily="34" charset="0"/>
                <a:ea typeface="Consolas" pitchFamily="34" charset="-122"/>
                <a:cs typeface="Consolas" pitchFamily="34" charset="-120"/>
              </a:rPr>
              <a:t>faultline demo</a:t>
            </a:r>
            <a:pPr indent="0" marL="0">
              <a:buNone/>
            </a:pPr>
            <a:r>
              <a:rPr lang="en-US" sz="1300" dirty="0">
                <a:solidFill>
                  <a:schemeClr val="accent5"/>
                </a:solidFill>
              </a:rPr>
              <a:t>, or drive them from one screen: the control room on </a:t>
            </a:r>
            <a:pPr indent="0" marL="0">
              <a:buNone/>
            </a:pPr>
            <a:r>
              <a:rPr lang="en-US" sz="1300" dirty="0">
                <a:solidFill>
                  <a:schemeClr val="tx2"/>
                </a:solidFill>
                <a:latin typeface="Consolas" pitchFamily="34" charset="0"/>
                <a:ea typeface="Consolas" pitchFamily="34" charset="-122"/>
                <a:cs typeface="Consolas" pitchFamily="34" charset="-120"/>
              </a:rPr>
              <a:t>:8765</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spc="200" kern="0" dirty="0">
                <a:solidFill>
                  <a:schemeClr val="accent3"/>
                </a:solidFill>
                <a:latin typeface="Consolas" pitchFamily="34" charset="0"/>
                <a:ea typeface="Consolas" pitchFamily="34" charset="-122"/>
                <a:cs typeface="Consolas" pitchFamily="34" charset="-120"/>
              </a:rPr>
              <a:t>02 · ARCHITECTURE</a:t>
            </a:r>
            <a:endParaRPr lang="en-US" sz="1200" dirty="0"/>
          </a:p>
        </p:txBody>
      </p:sp>
      <p:sp>
        <p:nvSpPr>
          <p:cNvPr id="3" name="Text 1"/>
          <p:cNvSpPr/>
          <p:nvPr>
            <p:ph idx="102" type="title" hasCustomPrompt="1"/>
          </p:nvPr>
        </p:nvSpPr>
        <p:spPr>
          <a:xfrm>
            <a:off x="548640" y="676656"/>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A blackboard, not a message bus</a:t>
            </a:r>
            <a:endParaRPr lang="en-US" sz="3400" dirty="0"/>
          </a:p>
        </p:txBody>
      </p:sp>
      <p:sp>
        <p:nvSpPr>
          <p:cNvPr id="4" name="Text 2"/>
          <p:cNvSpPr txBox="1"/>
          <p:nvPr/>
        </p:nvSpPr>
        <p:spPr>
          <a:xfrm>
            <a:off x="548640" y="1572768"/>
            <a:ext cx="2743200" cy="256032"/>
          </a:xfrm>
          <a:prstGeom prst="rect">
            <a:avLst/>
          </a:prstGeom>
          <a:noFill/>
          <a:ln/>
        </p:spPr>
        <p:txBody>
          <a:bodyPr wrap="square" lIns="0" tIns="0" rIns="0" bIns="0" rtlCol="0" anchor="ctr"/>
          <a:lstStyle/>
          <a:p>
            <a:pPr indent="0" marL="0">
              <a:buNone/>
            </a:pPr>
            <a:r>
              <a:rPr lang="en-US" sz="1100" spc="100" kern="0" dirty="0">
                <a:solidFill>
                  <a:schemeClr val="accent5"/>
                </a:solidFill>
                <a:latin typeface="Consolas" pitchFamily="34" charset="0"/>
                <a:ea typeface="Consolas" pitchFamily="34" charset="-122"/>
                <a:cs typeface="Consolas" pitchFamily="34" charset="-120"/>
              </a:rPr>
              <a:t>AGENTS · each writes one file</a:t>
            </a:r>
            <a:endParaRPr lang="en-US" sz="1100" dirty="0"/>
          </a:p>
        </p:txBody>
      </p:sp>
      <p:sp>
        <p:nvSpPr>
          <p:cNvPr id="5" name="Text 3"/>
          <p:cNvSpPr txBox="1"/>
          <p:nvPr/>
        </p:nvSpPr>
        <p:spPr>
          <a:xfrm>
            <a:off x="3429000" y="1572768"/>
            <a:ext cx="4754880" cy="256032"/>
          </a:xfrm>
          <a:prstGeom prst="rect">
            <a:avLst/>
          </a:prstGeom>
          <a:noFill/>
          <a:ln/>
        </p:spPr>
        <p:txBody>
          <a:bodyPr wrap="square" lIns="0" tIns="0" rIns="0" bIns="0" rtlCol="0" anchor="ctr"/>
          <a:lstStyle/>
          <a:p>
            <a:pPr indent="0" marL="0">
              <a:buNone/>
            </a:pPr>
            <a:r>
              <a:rPr lang="en-US" sz="1100" spc="100" kern="0" dirty="0">
                <a:solidFill>
                  <a:schemeClr val="accent5"/>
                </a:solidFill>
                <a:latin typeface="Consolas" pitchFamily="34" charset="0"/>
                <a:ea typeface="Consolas" pitchFamily="34" charset="-122"/>
                <a:cs typeface="Consolas" pitchFamily="34" charset="-120"/>
              </a:rPr>
              <a:t>reports/ · THE BLACKBOARD</a:t>
            </a:r>
            <a:endParaRPr lang="en-US" sz="1100" dirty="0"/>
          </a:p>
        </p:txBody>
      </p:sp>
      <p:sp>
        <p:nvSpPr>
          <p:cNvPr id="6" name="Text 4"/>
          <p:cNvSpPr txBox="1"/>
          <p:nvPr/>
        </p:nvSpPr>
        <p:spPr>
          <a:xfrm>
            <a:off x="8641080" y="1572768"/>
            <a:ext cx="2999232" cy="256032"/>
          </a:xfrm>
          <a:prstGeom prst="rect">
            <a:avLst/>
          </a:prstGeom>
          <a:noFill/>
          <a:ln/>
        </p:spPr>
        <p:txBody>
          <a:bodyPr wrap="square" lIns="0" tIns="0" rIns="0" bIns="0" rtlCol="0" anchor="ctr"/>
          <a:lstStyle/>
          <a:p>
            <a:pPr indent="0" marL="0">
              <a:buNone/>
            </a:pPr>
            <a:r>
              <a:rPr lang="en-US" sz="1100" spc="100" kern="0" dirty="0">
                <a:solidFill>
                  <a:schemeClr val="accent5"/>
                </a:solidFill>
                <a:latin typeface="Consolas" pitchFamily="34" charset="0"/>
                <a:ea typeface="Consolas" pitchFamily="34" charset="-122"/>
                <a:cs typeface="Consolas" pitchFamily="34" charset="-120"/>
              </a:rPr>
              <a:t>READERS · same files</a:t>
            </a:r>
            <a:endParaRPr lang="en-US" sz="1100" dirty="0"/>
          </a:p>
        </p:txBody>
      </p:sp>
      <p:sp>
        <p:nvSpPr>
          <p:cNvPr id="7" name="!!board"/>
          <p:cNvSpPr/>
          <p:nvPr/>
        </p:nvSpPr>
        <p:spPr>
          <a:xfrm>
            <a:off x="3429000" y="1874520"/>
            <a:ext cx="4800600" cy="4069080"/>
          </a:xfrm>
          <a:prstGeom prst="roundRect">
            <a:avLst>
              <a:gd name="adj" fmla="val 1798"/>
            </a:avLst>
          </a:prstGeom>
          <a:solidFill>
            <a:schemeClr val="bg2"/>
          </a:solidFill>
          <a:ln w="9525">
            <a:solidFill>
              <a:schemeClr val="accent6"/>
            </a:solidFill>
            <a:prstDash val="solid"/>
          </a:ln>
        </p:spPr>
      </p:sp>
      <p:sp>
        <p:nvSpPr>
          <p:cNvPr id="8" name="!!agent0"/>
          <p:cNvSpPr/>
          <p:nvPr/>
        </p:nvSpPr>
        <p:spPr>
          <a:xfrm>
            <a:off x="548640" y="1965960"/>
            <a:ext cx="2331720" cy="438912"/>
          </a:xfrm>
          <a:prstGeom prst="roundRect">
            <a:avLst>
              <a:gd name="adj" fmla="val 16667"/>
            </a:avLst>
          </a:prstGeom>
          <a:solidFill>
            <a:schemeClr val="bg2"/>
          </a:solidFill>
          <a:ln w="9525">
            <a:solidFill>
              <a:schemeClr val="accent6"/>
            </a:solidFill>
            <a:prstDash val="solid"/>
          </a:ln>
        </p:spPr>
      </p:sp>
      <p:sp>
        <p:nvSpPr>
          <p:cNvPr id="9" name="!!agentdot0"/>
          <p:cNvSpPr/>
          <p:nvPr/>
        </p:nvSpPr>
        <p:spPr>
          <a:xfrm>
            <a:off x="694944" y="2121408"/>
            <a:ext cx="128016" cy="128016"/>
          </a:xfrm>
          <a:prstGeom prst="ellipse">
            <a:avLst/>
          </a:prstGeom>
          <a:solidFill>
            <a:schemeClr val="accent2"/>
          </a:solidFill>
          <a:ln w="6350">
            <a:solidFill>
              <a:schemeClr val="accent2"/>
            </a:solidFill>
            <a:prstDash val="solid"/>
          </a:ln>
        </p:spPr>
      </p:sp>
      <p:sp>
        <p:nvSpPr>
          <p:cNvPr id="10" name="!!agentname0"/>
          <p:cNvSpPr txBox="1"/>
          <p:nvPr/>
        </p:nvSpPr>
        <p:spPr>
          <a:xfrm>
            <a:off x="914400" y="1965960"/>
            <a:ext cx="1920240" cy="438912"/>
          </a:xfrm>
          <a:prstGeom prst="rect">
            <a:avLst/>
          </a:prstGeom>
          <a:noFill/>
          <a:ln/>
        </p:spPr>
        <p:txBody>
          <a:bodyPr wrap="square" lIns="0" tIns="0" rIns="0" bIns="0" rtlCol="0" anchor="ctr"/>
          <a:lstStyle/>
          <a:p>
            <a:pPr indent="0" marL="0">
              <a:buNone/>
            </a:pPr>
            <a:r>
              <a:rPr lang="en-US" sz="1500" dirty="0">
                <a:solidFill>
                  <a:schemeClr val="tx1"/>
                </a:solidFill>
              </a:rPr>
              <a:t>Topology</a:t>
            </a:r>
            <a:endParaRPr lang="en-US" sz="1500" dirty="0"/>
          </a:p>
        </p:txBody>
      </p:sp>
      <p:sp>
        <p:nvSpPr>
          <p:cNvPr id="11" name="!!agentarrow0"/>
          <p:cNvSpPr/>
          <p:nvPr/>
        </p:nvSpPr>
        <p:spPr>
          <a:xfrm>
            <a:off x="2898648" y="2185416"/>
            <a:ext cx="512064" cy="0"/>
          </a:xfrm>
          <a:prstGeom prst="line">
            <a:avLst/>
          </a:prstGeom>
          <a:noFill/>
          <a:ln w="12700">
            <a:solidFill>
              <a:schemeClr val="accent5"/>
            </a:solidFill>
            <a:prstDash val="solid"/>
            <a:tailEnd type="triangle"/>
          </a:ln>
        </p:spPr>
      </p:sp>
      <p:sp>
        <p:nvSpPr>
          <p:cNvPr id="12" name="Text 10"/>
          <p:cNvSpPr txBox="1"/>
          <p:nvPr/>
        </p:nvSpPr>
        <p:spPr>
          <a:xfrm>
            <a:off x="3611880" y="1965960"/>
            <a:ext cx="2560320" cy="438912"/>
          </a:xfrm>
          <a:prstGeom prst="rect">
            <a:avLst/>
          </a:prstGeom>
          <a:noFill/>
          <a:ln/>
        </p:spPr>
        <p:txBody>
          <a:bodyPr wrap="square" lIns="0" tIns="0" rIns="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topology.json</a:t>
            </a:r>
            <a:endParaRPr lang="en-US" sz="1400" dirty="0"/>
          </a:p>
        </p:txBody>
      </p:sp>
      <p:sp>
        <p:nvSpPr>
          <p:cNvPr id="13" name="Text 11"/>
          <p:cNvSpPr txBox="1"/>
          <p:nvPr/>
        </p:nvSpPr>
        <p:spPr>
          <a:xfrm>
            <a:off x="6080760" y="1965960"/>
            <a:ext cx="1965960" cy="438912"/>
          </a:xfrm>
          <a:prstGeom prst="rect">
            <a:avLst/>
          </a:prstGeom>
          <a:noFill/>
          <a:ln/>
        </p:spPr>
        <p:txBody>
          <a:bodyPr wrap="square" lIns="0" tIns="0" rIns="0" bIns="0" rtlCol="0" anchor="ctr"/>
          <a:lstStyle/>
          <a:p>
            <a:pPr algn="r" indent="0" marL="0">
              <a:buNone/>
            </a:pPr>
            <a:r>
              <a:rPr lang="en-US" sz="1200" dirty="0">
                <a:solidFill>
                  <a:schemeClr val="tx2"/>
                </a:solidFill>
                <a:latin typeface="Consolas" pitchFamily="34" charset="0"/>
                <a:ea typeface="Consolas" pitchFamily="34" charset="-122"/>
                <a:cs typeface="Consolas" pitchFamily="34" charset="-120"/>
              </a:rPr>
              <a:t>Topology</a:t>
            </a:r>
            <a:endParaRPr lang="en-US" sz="1200" dirty="0"/>
          </a:p>
        </p:txBody>
      </p:sp>
      <p:sp>
        <p:nvSpPr>
          <p:cNvPr id="14" name="Shape 12"/>
          <p:cNvSpPr/>
          <p:nvPr/>
        </p:nvSpPr>
        <p:spPr>
          <a:xfrm>
            <a:off x="3611880" y="2468880"/>
            <a:ext cx="4434840" cy="0"/>
          </a:xfrm>
          <a:prstGeom prst="line">
            <a:avLst/>
          </a:prstGeom>
          <a:noFill/>
          <a:ln w="9525">
            <a:solidFill>
              <a:schemeClr val="accent6"/>
            </a:solidFill>
            <a:prstDash val="solid"/>
          </a:ln>
        </p:spPr>
      </p:sp>
      <p:sp>
        <p:nvSpPr>
          <p:cNvPr id="15" name="!!agent1"/>
          <p:cNvSpPr/>
          <p:nvPr/>
        </p:nvSpPr>
        <p:spPr>
          <a:xfrm>
            <a:off x="548640" y="2532888"/>
            <a:ext cx="2331720" cy="438912"/>
          </a:xfrm>
          <a:prstGeom prst="roundRect">
            <a:avLst>
              <a:gd name="adj" fmla="val 16667"/>
            </a:avLst>
          </a:prstGeom>
          <a:solidFill>
            <a:schemeClr val="bg2"/>
          </a:solidFill>
          <a:ln w="9525">
            <a:solidFill>
              <a:schemeClr val="accent6"/>
            </a:solidFill>
            <a:prstDash val="solid"/>
          </a:ln>
        </p:spPr>
      </p:sp>
      <p:sp>
        <p:nvSpPr>
          <p:cNvPr id="16" name="!!agentdot1"/>
          <p:cNvSpPr/>
          <p:nvPr/>
        </p:nvSpPr>
        <p:spPr>
          <a:xfrm>
            <a:off x="694944" y="2688336"/>
            <a:ext cx="128016" cy="128016"/>
          </a:xfrm>
          <a:prstGeom prst="ellipse">
            <a:avLst/>
          </a:prstGeom>
          <a:solidFill>
            <a:schemeClr val="accent2"/>
          </a:solidFill>
          <a:ln w="6350">
            <a:solidFill>
              <a:schemeClr val="accent2"/>
            </a:solidFill>
            <a:prstDash val="solid"/>
          </a:ln>
        </p:spPr>
      </p:sp>
      <p:sp>
        <p:nvSpPr>
          <p:cNvPr id="17" name="!!agentname1"/>
          <p:cNvSpPr txBox="1"/>
          <p:nvPr/>
        </p:nvSpPr>
        <p:spPr>
          <a:xfrm>
            <a:off x="914400" y="2532888"/>
            <a:ext cx="1920240" cy="438912"/>
          </a:xfrm>
          <a:prstGeom prst="rect">
            <a:avLst/>
          </a:prstGeom>
          <a:noFill/>
          <a:ln/>
        </p:spPr>
        <p:txBody>
          <a:bodyPr wrap="square" lIns="0" tIns="0" rIns="0" bIns="0" rtlCol="0" anchor="ctr"/>
          <a:lstStyle/>
          <a:p>
            <a:pPr indent="0" marL="0">
              <a:buNone/>
            </a:pPr>
            <a:r>
              <a:rPr lang="en-US" sz="1500" dirty="0">
                <a:solidFill>
                  <a:schemeClr val="tx1"/>
                </a:solidFill>
              </a:rPr>
              <a:t>Weakness Scout</a:t>
            </a:r>
            <a:endParaRPr lang="en-US" sz="1500" dirty="0"/>
          </a:p>
        </p:txBody>
      </p:sp>
      <p:sp>
        <p:nvSpPr>
          <p:cNvPr id="18" name="!!agentarrow1"/>
          <p:cNvSpPr/>
          <p:nvPr/>
        </p:nvSpPr>
        <p:spPr>
          <a:xfrm>
            <a:off x="2898648" y="2752344"/>
            <a:ext cx="512064" cy="0"/>
          </a:xfrm>
          <a:prstGeom prst="line">
            <a:avLst/>
          </a:prstGeom>
          <a:noFill/>
          <a:ln w="12700">
            <a:solidFill>
              <a:schemeClr val="accent5"/>
            </a:solidFill>
            <a:prstDash val="solid"/>
            <a:tailEnd type="triangle"/>
          </a:ln>
        </p:spPr>
      </p:sp>
      <p:sp>
        <p:nvSpPr>
          <p:cNvPr id="19" name="Text 17"/>
          <p:cNvSpPr txBox="1"/>
          <p:nvPr/>
        </p:nvSpPr>
        <p:spPr>
          <a:xfrm>
            <a:off x="3611880" y="2532888"/>
            <a:ext cx="2560320" cy="438912"/>
          </a:xfrm>
          <a:prstGeom prst="rect">
            <a:avLst/>
          </a:prstGeom>
          <a:noFill/>
          <a:ln/>
        </p:spPr>
        <p:txBody>
          <a:bodyPr wrap="square" lIns="0" tIns="0" rIns="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weaknesses.json</a:t>
            </a:r>
            <a:endParaRPr lang="en-US" sz="1400" dirty="0"/>
          </a:p>
        </p:txBody>
      </p:sp>
      <p:sp>
        <p:nvSpPr>
          <p:cNvPr id="20" name="Text 18"/>
          <p:cNvSpPr txBox="1"/>
          <p:nvPr/>
        </p:nvSpPr>
        <p:spPr>
          <a:xfrm>
            <a:off x="6080760" y="2532888"/>
            <a:ext cx="1965960" cy="438912"/>
          </a:xfrm>
          <a:prstGeom prst="rect">
            <a:avLst/>
          </a:prstGeom>
          <a:noFill/>
          <a:ln/>
        </p:spPr>
        <p:txBody>
          <a:bodyPr wrap="square" lIns="0" tIns="0" rIns="0" bIns="0" rtlCol="0" anchor="ctr"/>
          <a:lstStyle/>
          <a:p>
            <a:pPr algn="r" indent="0" marL="0">
              <a:buNone/>
            </a:pPr>
            <a:r>
              <a:rPr lang="en-US" sz="1200" dirty="0">
                <a:solidFill>
                  <a:schemeClr val="tx2"/>
                </a:solidFill>
                <a:latin typeface="Consolas" pitchFamily="34" charset="0"/>
                <a:ea typeface="Consolas" pitchFamily="34" charset="-122"/>
                <a:cs typeface="Consolas" pitchFamily="34" charset="-120"/>
              </a:rPr>
              <a:t>WeaknessReport</a:t>
            </a:r>
            <a:endParaRPr lang="en-US" sz="1200" dirty="0"/>
          </a:p>
        </p:txBody>
      </p:sp>
      <p:sp>
        <p:nvSpPr>
          <p:cNvPr id="21" name="Shape 19"/>
          <p:cNvSpPr/>
          <p:nvPr/>
        </p:nvSpPr>
        <p:spPr>
          <a:xfrm>
            <a:off x="3611880" y="3035808"/>
            <a:ext cx="4434840" cy="0"/>
          </a:xfrm>
          <a:prstGeom prst="line">
            <a:avLst/>
          </a:prstGeom>
          <a:noFill/>
          <a:ln w="9525">
            <a:solidFill>
              <a:schemeClr val="accent6"/>
            </a:solidFill>
            <a:prstDash val="solid"/>
          </a:ln>
        </p:spPr>
      </p:sp>
      <p:sp>
        <p:nvSpPr>
          <p:cNvPr id="22" name="!!agent2"/>
          <p:cNvSpPr/>
          <p:nvPr/>
        </p:nvSpPr>
        <p:spPr>
          <a:xfrm>
            <a:off x="548640" y="3099816"/>
            <a:ext cx="2331720" cy="438912"/>
          </a:xfrm>
          <a:prstGeom prst="roundRect">
            <a:avLst>
              <a:gd name="adj" fmla="val 16667"/>
            </a:avLst>
          </a:prstGeom>
          <a:solidFill>
            <a:schemeClr val="bg2"/>
          </a:solidFill>
          <a:ln w="9525">
            <a:solidFill>
              <a:schemeClr val="accent6"/>
            </a:solidFill>
            <a:prstDash val="solid"/>
          </a:ln>
        </p:spPr>
      </p:sp>
      <p:sp>
        <p:nvSpPr>
          <p:cNvPr id="23" name="!!agentdot2"/>
          <p:cNvSpPr/>
          <p:nvPr/>
        </p:nvSpPr>
        <p:spPr>
          <a:xfrm>
            <a:off x="694944" y="3255264"/>
            <a:ext cx="128016" cy="128016"/>
          </a:xfrm>
          <a:prstGeom prst="ellipse">
            <a:avLst/>
          </a:prstGeom>
          <a:solidFill>
            <a:schemeClr val="accent2"/>
          </a:solidFill>
          <a:ln w="6350">
            <a:solidFill>
              <a:schemeClr val="accent2"/>
            </a:solidFill>
            <a:prstDash val="solid"/>
          </a:ln>
        </p:spPr>
      </p:sp>
      <p:sp>
        <p:nvSpPr>
          <p:cNvPr id="24" name="!!agentname2"/>
          <p:cNvSpPr txBox="1"/>
          <p:nvPr/>
        </p:nvSpPr>
        <p:spPr>
          <a:xfrm>
            <a:off x="914400" y="3099816"/>
            <a:ext cx="1920240" cy="438912"/>
          </a:xfrm>
          <a:prstGeom prst="rect">
            <a:avLst/>
          </a:prstGeom>
          <a:noFill/>
          <a:ln/>
        </p:spPr>
        <p:txBody>
          <a:bodyPr wrap="square" lIns="0" tIns="0" rIns="0" bIns="0" rtlCol="0" anchor="ctr"/>
          <a:lstStyle/>
          <a:p>
            <a:pPr indent="0" marL="0">
              <a:buNone/>
            </a:pPr>
            <a:r>
              <a:rPr lang="en-US" sz="1500" dirty="0">
                <a:solidFill>
                  <a:schemeClr val="tx1"/>
                </a:solidFill>
              </a:rPr>
              <a:t>Probes</a:t>
            </a:r>
            <a:endParaRPr lang="en-US" sz="1500" dirty="0"/>
          </a:p>
        </p:txBody>
      </p:sp>
      <p:sp>
        <p:nvSpPr>
          <p:cNvPr id="25" name="!!agentarrow2"/>
          <p:cNvSpPr/>
          <p:nvPr/>
        </p:nvSpPr>
        <p:spPr>
          <a:xfrm>
            <a:off x="2898648" y="3319272"/>
            <a:ext cx="512064" cy="0"/>
          </a:xfrm>
          <a:prstGeom prst="line">
            <a:avLst/>
          </a:prstGeom>
          <a:noFill/>
          <a:ln w="12700">
            <a:solidFill>
              <a:schemeClr val="accent5"/>
            </a:solidFill>
            <a:prstDash val="solid"/>
            <a:tailEnd type="triangle"/>
          </a:ln>
        </p:spPr>
      </p:sp>
      <p:sp>
        <p:nvSpPr>
          <p:cNvPr id="26" name="Text 24"/>
          <p:cNvSpPr txBox="1"/>
          <p:nvPr/>
        </p:nvSpPr>
        <p:spPr>
          <a:xfrm>
            <a:off x="3611880" y="3099816"/>
            <a:ext cx="2560320" cy="438912"/>
          </a:xfrm>
          <a:prstGeom prst="rect">
            <a:avLst/>
          </a:prstGeom>
          <a:noFill/>
          <a:ln/>
        </p:spPr>
        <p:txBody>
          <a:bodyPr wrap="square" lIns="0" tIns="0" rIns="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baseline.json</a:t>
            </a:r>
            <a:endParaRPr lang="en-US" sz="1400" dirty="0"/>
          </a:p>
        </p:txBody>
      </p:sp>
      <p:sp>
        <p:nvSpPr>
          <p:cNvPr id="27" name="Text 25"/>
          <p:cNvSpPr txBox="1"/>
          <p:nvPr/>
        </p:nvSpPr>
        <p:spPr>
          <a:xfrm>
            <a:off x="6080760" y="3099816"/>
            <a:ext cx="1965960" cy="438912"/>
          </a:xfrm>
          <a:prstGeom prst="rect">
            <a:avLst/>
          </a:prstGeom>
          <a:noFill/>
          <a:ln/>
        </p:spPr>
        <p:txBody>
          <a:bodyPr wrap="square" lIns="0" tIns="0" rIns="0" bIns="0" rtlCol="0" anchor="ctr"/>
          <a:lstStyle/>
          <a:p>
            <a:pPr algn="r" indent="0" marL="0">
              <a:buNone/>
            </a:pPr>
            <a:r>
              <a:rPr lang="en-US" sz="1200" dirty="0">
                <a:solidFill>
                  <a:schemeClr val="tx2"/>
                </a:solidFill>
                <a:latin typeface="Consolas" pitchFamily="34" charset="0"/>
                <a:ea typeface="Consolas" pitchFamily="34" charset="-122"/>
                <a:cs typeface="Consolas" pitchFamily="34" charset="-120"/>
              </a:rPr>
              <a:t>Baseline</a:t>
            </a:r>
            <a:endParaRPr lang="en-US" sz="1200" dirty="0"/>
          </a:p>
        </p:txBody>
      </p:sp>
      <p:sp>
        <p:nvSpPr>
          <p:cNvPr id="28" name="Shape 26"/>
          <p:cNvSpPr/>
          <p:nvPr/>
        </p:nvSpPr>
        <p:spPr>
          <a:xfrm>
            <a:off x="3611880" y="3602736"/>
            <a:ext cx="4434840" cy="0"/>
          </a:xfrm>
          <a:prstGeom prst="line">
            <a:avLst/>
          </a:prstGeom>
          <a:noFill/>
          <a:ln w="9525">
            <a:solidFill>
              <a:schemeClr val="accent6"/>
            </a:solidFill>
            <a:prstDash val="solid"/>
          </a:ln>
        </p:spPr>
      </p:sp>
      <p:sp>
        <p:nvSpPr>
          <p:cNvPr id="29" name="!!agent3"/>
          <p:cNvSpPr/>
          <p:nvPr/>
        </p:nvSpPr>
        <p:spPr>
          <a:xfrm>
            <a:off x="548640" y="3666744"/>
            <a:ext cx="2331720" cy="438912"/>
          </a:xfrm>
          <a:prstGeom prst="roundRect">
            <a:avLst>
              <a:gd name="adj" fmla="val 16667"/>
            </a:avLst>
          </a:prstGeom>
          <a:solidFill>
            <a:schemeClr val="bg2"/>
          </a:solidFill>
          <a:ln w="9525">
            <a:solidFill>
              <a:schemeClr val="accent1"/>
            </a:solidFill>
            <a:prstDash val="solid"/>
          </a:ln>
        </p:spPr>
      </p:sp>
      <p:sp>
        <p:nvSpPr>
          <p:cNvPr id="30" name="!!agentdot3"/>
          <p:cNvSpPr/>
          <p:nvPr/>
        </p:nvSpPr>
        <p:spPr>
          <a:xfrm>
            <a:off x="694944" y="3822192"/>
            <a:ext cx="128016" cy="128016"/>
          </a:xfrm>
          <a:prstGeom prst="ellipse">
            <a:avLst/>
          </a:prstGeom>
          <a:solidFill>
            <a:schemeClr val="accent1"/>
          </a:solidFill>
          <a:ln w="6350">
            <a:solidFill>
              <a:schemeClr val="accent1"/>
            </a:solidFill>
            <a:prstDash val="solid"/>
          </a:ln>
        </p:spPr>
      </p:sp>
      <p:sp>
        <p:nvSpPr>
          <p:cNvPr id="31" name="!!agentname3"/>
          <p:cNvSpPr txBox="1"/>
          <p:nvPr/>
        </p:nvSpPr>
        <p:spPr>
          <a:xfrm>
            <a:off x="914400" y="3666744"/>
            <a:ext cx="1920240" cy="438912"/>
          </a:xfrm>
          <a:prstGeom prst="rect">
            <a:avLst/>
          </a:prstGeom>
          <a:noFill/>
          <a:ln/>
        </p:spPr>
        <p:txBody>
          <a:bodyPr wrap="square" lIns="0" tIns="0" rIns="0" bIns="0" rtlCol="0" anchor="ctr"/>
          <a:lstStyle/>
          <a:p>
            <a:pPr indent="0" marL="0">
              <a:buNone/>
            </a:pPr>
            <a:r>
              <a:rPr lang="en-US" sz="1500" dirty="0">
                <a:solidFill>
                  <a:schemeClr val="tx1"/>
                </a:solidFill>
              </a:rPr>
              <a:t>Injector</a:t>
            </a:r>
            <a:endParaRPr lang="en-US" sz="1500" dirty="0"/>
          </a:p>
        </p:txBody>
      </p:sp>
      <p:sp>
        <p:nvSpPr>
          <p:cNvPr id="32" name="!!agentarrow3"/>
          <p:cNvSpPr/>
          <p:nvPr/>
        </p:nvSpPr>
        <p:spPr>
          <a:xfrm>
            <a:off x="2898648" y="3886200"/>
            <a:ext cx="512064" cy="0"/>
          </a:xfrm>
          <a:prstGeom prst="line">
            <a:avLst/>
          </a:prstGeom>
          <a:noFill/>
          <a:ln w="12700">
            <a:solidFill>
              <a:schemeClr val="accent5"/>
            </a:solidFill>
            <a:prstDash val="solid"/>
            <a:tailEnd type="triangle"/>
          </a:ln>
        </p:spPr>
      </p:sp>
      <p:sp>
        <p:nvSpPr>
          <p:cNvPr id="33" name="Text 31"/>
          <p:cNvSpPr txBox="1"/>
          <p:nvPr/>
        </p:nvSpPr>
        <p:spPr>
          <a:xfrm>
            <a:off x="3611880" y="3666744"/>
            <a:ext cx="2560320" cy="438912"/>
          </a:xfrm>
          <a:prstGeom prst="rect">
            <a:avLst/>
          </a:prstGeom>
          <a:noFill/>
          <a:ln/>
        </p:spPr>
        <p:txBody>
          <a:bodyPr wrap="square" lIns="0" tIns="0" rIns="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experiments/&lt;id&gt;.json</a:t>
            </a:r>
            <a:endParaRPr lang="en-US" sz="1400" dirty="0"/>
          </a:p>
        </p:txBody>
      </p:sp>
      <p:sp>
        <p:nvSpPr>
          <p:cNvPr id="34" name="Text 32"/>
          <p:cNvSpPr txBox="1"/>
          <p:nvPr/>
        </p:nvSpPr>
        <p:spPr>
          <a:xfrm>
            <a:off x="6080760" y="3666744"/>
            <a:ext cx="1965960" cy="438912"/>
          </a:xfrm>
          <a:prstGeom prst="rect">
            <a:avLst/>
          </a:prstGeom>
          <a:noFill/>
          <a:ln/>
        </p:spPr>
        <p:txBody>
          <a:bodyPr wrap="square" lIns="0" tIns="0" rIns="0" bIns="0" rtlCol="0" anchor="ctr"/>
          <a:lstStyle/>
          <a:p>
            <a:pPr algn="r" indent="0" marL="0">
              <a:buNone/>
            </a:pPr>
            <a:r>
              <a:rPr lang="en-US" sz="1200" dirty="0">
                <a:solidFill>
                  <a:schemeClr val="tx2"/>
                </a:solidFill>
                <a:latin typeface="Consolas" pitchFamily="34" charset="0"/>
                <a:ea typeface="Consolas" pitchFamily="34" charset="-122"/>
                <a:cs typeface="Consolas" pitchFamily="34" charset="-120"/>
              </a:rPr>
              <a:t>ExperimentReport</a:t>
            </a:r>
            <a:endParaRPr lang="en-US" sz="1200" dirty="0"/>
          </a:p>
        </p:txBody>
      </p:sp>
      <p:sp>
        <p:nvSpPr>
          <p:cNvPr id="35" name="Shape 33"/>
          <p:cNvSpPr/>
          <p:nvPr/>
        </p:nvSpPr>
        <p:spPr>
          <a:xfrm>
            <a:off x="3611880" y="4169664"/>
            <a:ext cx="4434840" cy="0"/>
          </a:xfrm>
          <a:prstGeom prst="line">
            <a:avLst/>
          </a:prstGeom>
          <a:noFill/>
          <a:ln w="9525">
            <a:solidFill>
              <a:schemeClr val="accent6"/>
            </a:solidFill>
            <a:prstDash val="solid"/>
          </a:ln>
        </p:spPr>
      </p:sp>
      <p:sp>
        <p:nvSpPr>
          <p:cNvPr id="36" name="!!agent4"/>
          <p:cNvSpPr/>
          <p:nvPr/>
        </p:nvSpPr>
        <p:spPr>
          <a:xfrm>
            <a:off x="548640" y="4233672"/>
            <a:ext cx="2331720" cy="438912"/>
          </a:xfrm>
          <a:prstGeom prst="roundRect">
            <a:avLst>
              <a:gd name="adj" fmla="val 16667"/>
            </a:avLst>
          </a:prstGeom>
          <a:solidFill>
            <a:schemeClr val="bg2"/>
          </a:solidFill>
          <a:ln w="9525">
            <a:solidFill>
              <a:schemeClr val="accent6"/>
            </a:solidFill>
            <a:prstDash val="solid"/>
          </a:ln>
        </p:spPr>
      </p:sp>
      <p:sp>
        <p:nvSpPr>
          <p:cNvPr id="37" name="!!agentdot4"/>
          <p:cNvSpPr/>
          <p:nvPr/>
        </p:nvSpPr>
        <p:spPr>
          <a:xfrm>
            <a:off x="694944" y="4389120"/>
            <a:ext cx="128016" cy="128016"/>
          </a:xfrm>
          <a:prstGeom prst="ellipse">
            <a:avLst/>
          </a:prstGeom>
          <a:solidFill>
            <a:schemeClr val="accent2"/>
          </a:solidFill>
          <a:ln w="6350">
            <a:solidFill>
              <a:schemeClr val="accent2"/>
            </a:solidFill>
            <a:prstDash val="solid"/>
          </a:ln>
        </p:spPr>
      </p:sp>
      <p:sp>
        <p:nvSpPr>
          <p:cNvPr id="38" name="!!agentname4"/>
          <p:cNvSpPr txBox="1"/>
          <p:nvPr/>
        </p:nvSpPr>
        <p:spPr>
          <a:xfrm>
            <a:off x="914400" y="4233672"/>
            <a:ext cx="1920240" cy="438912"/>
          </a:xfrm>
          <a:prstGeom prst="rect">
            <a:avLst/>
          </a:prstGeom>
          <a:noFill/>
          <a:ln/>
        </p:spPr>
        <p:txBody>
          <a:bodyPr wrap="square" lIns="0" tIns="0" rIns="0" bIns="0" rtlCol="0" anchor="ctr"/>
          <a:lstStyle/>
          <a:p>
            <a:pPr indent="0" marL="0">
              <a:buNone/>
            </a:pPr>
            <a:r>
              <a:rPr lang="en-US" sz="1500" dirty="0">
                <a:solidFill>
                  <a:schemeClr val="tx1"/>
                </a:solidFill>
              </a:rPr>
              <a:t>Risk</a:t>
            </a:r>
            <a:endParaRPr lang="en-US" sz="1500" dirty="0"/>
          </a:p>
        </p:txBody>
      </p:sp>
      <p:sp>
        <p:nvSpPr>
          <p:cNvPr id="39" name="!!agentarrow4"/>
          <p:cNvSpPr/>
          <p:nvPr/>
        </p:nvSpPr>
        <p:spPr>
          <a:xfrm>
            <a:off x="2898648" y="4453128"/>
            <a:ext cx="512064" cy="0"/>
          </a:xfrm>
          <a:prstGeom prst="line">
            <a:avLst/>
          </a:prstGeom>
          <a:noFill/>
          <a:ln w="12700">
            <a:solidFill>
              <a:schemeClr val="accent5"/>
            </a:solidFill>
            <a:prstDash val="solid"/>
            <a:tailEnd type="triangle"/>
          </a:ln>
        </p:spPr>
      </p:sp>
      <p:sp>
        <p:nvSpPr>
          <p:cNvPr id="40" name="Text 38"/>
          <p:cNvSpPr txBox="1"/>
          <p:nvPr/>
        </p:nvSpPr>
        <p:spPr>
          <a:xfrm>
            <a:off x="3611880" y="4233672"/>
            <a:ext cx="2560320" cy="438912"/>
          </a:xfrm>
          <a:prstGeom prst="rect">
            <a:avLst/>
          </a:prstGeom>
          <a:noFill/>
          <a:ln/>
        </p:spPr>
        <p:txBody>
          <a:bodyPr wrap="square" lIns="0" tIns="0" rIns="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risk/&lt;id&gt;.json</a:t>
            </a:r>
            <a:endParaRPr lang="en-US" sz="1400" dirty="0"/>
          </a:p>
        </p:txBody>
      </p:sp>
      <p:sp>
        <p:nvSpPr>
          <p:cNvPr id="41" name="Text 39"/>
          <p:cNvSpPr txBox="1"/>
          <p:nvPr/>
        </p:nvSpPr>
        <p:spPr>
          <a:xfrm>
            <a:off x="6080760" y="4233672"/>
            <a:ext cx="1965960" cy="438912"/>
          </a:xfrm>
          <a:prstGeom prst="rect">
            <a:avLst/>
          </a:prstGeom>
          <a:noFill/>
          <a:ln/>
        </p:spPr>
        <p:txBody>
          <a:bodyPr wrap="square" lIns="0" tIns="0" rIns="0" bIns="0" rtlCol="0" anchor="ctr"/>
          <a:lstStyle/>
          <a:p>
            <a:pPr algn="r" indent="0" marL="0">
              <a:buNone/>
            </a:pPr>
            <a:r>
              <a:rPr lang="en-US" sz="1200" dirty="0">
                <a:solidFill>
                  <a:schemeClr val="tx2"/>
                </a:solidFill>
                <a:latin typeface="Consolas" pitchFamily="34" charset="0"/>
                <a:ea typeface="Consolas" pitchFamily="34" charset="-122"/>
                <a:cs typeface="Consolas" pitchFamily="34" charset="-120"/>
              </a:rPr>
              <a:t>RiskAssessment</a:t>
            </a:r>
            <a:endParaRPr lang="en-US" sz="1200" dirty="0"/>
          </a:p>
        </p:txBody>
      </p:sp>
      <p:sp>
        <p:nvSpPr>
          <p:cNvPr id="42" name="Shape 40"/>
          <p:cNvSpPr/>
          <p:nvPr/>
        </p:nvSpPr>
        <p:spPr>
          <a:xfrm>
            <a:off x="3611880" y="4736592"/>
            <a:ext cx="4434840" cy="0"/>
          </a:xfrm>
          <a:prstGeom prst="line">
            <a:avLst/>
          </a:prstGeom>
          <a:noFill/>
          <a:ln w="9525">
            <a:solidFill>
              <a:schemeClr val="accent6"/>
            </a:solidFill>
            <a:prstDash val="solid"/>
          </a:ln>
        </p:spPr>
      </p:sp>
      <p:sp>
        <p:nvSpPr>
          <p:cNvPr id="43" name="!!agent5"/>
          <p:cNvSpPr/>
          <p:nvPr/>
        </p:nvSpPr>
        <p:spPr>
          <a:xfrm>
            <a:off x="548640" y="4800600"/>
            <a:ext cx="2331720" cy="438912"/>
          </a:xfrm>
          <a:prstGeom prst="roundRect">
            <a:avLst>
              <a:gd name="adj" fmla="val 16667"/>
            </a:avLst>
          </a:prstGeom>
          <a:solidFill>
            <a:schemeClr val="bg2"/>
          </a:solidFill>
          <a:ln w="9525">
            <a:solidFill>
              <a:schemeClr val="accent6"/>
            </a:solidFill>
            <a:prstDash val="solid"/>
          </a:ln>
        </p:spPr>
      </p:sp>
      <p:sp>
        <p:nvSpPr>
          <p:cNvPr id="44" name="!!agentdot5"/>
          <p:cNvSpPr/>
          <p:nvPr/>
        </p:nvSpPr>
        <p:spPr>
          <a:xfrm>
            <a:off x="694944" y="4956048"/>
            <a:ext cx="128016" cy="128016"/>
          </a:xfrm>
          <a:prstGeom prst="ellipse">
            <a:avLst/>
          </a:prstGeom>
          <a:solidFill>
            <a:schemeClr val="accent2"/>
          </a:solidFill>
          <a:ln w="6350">
            <a:solidFill>
              <a:schemeClr val="accent2"/>
            </a:solidFill>
            <a:prstDash val="solid"/>
          </a:ln>
        </p:spPr>
      </p:sp>
      <p:sp>
        <p:nvSpPr>
          <p:cNvPr id="45" name="!!agentname5"/>
          <p:cNvSpPr txBox="1"/>
          <p:nvPr/>
        </p:nvSpPr>
        <p:spPr>
          <a:xfrm>
            <a:off x="914400" y="4800600"/>
            <a:ext cx="1920240" cy="438912"/>
          </a:xfrm>
          <a:prstGeom prst="rect">
            <a:avLst/>
          </a:prstGeom>
          <a:noFill/>
          <a:ln/>
        </p:spPr>
        <p:txBody>
          <a:bodyPr wrap="square" lIns="0" tIns="0" rIns="0" bIns="0" rtlCol="0" anchor="ctr"/>
          <a:lstStyle/>
          <a:p>
            <a:pPr indent="0" marL="0">
              <a:buNone/>
            </a:pPr>
            <a:r>
              <a:rPr lang="en-US" sz="1500" dirty="0">
                <a:solidFill>
                  <a:schemeClr val="tx1"/>
                </a:solidFill>
              </a:rPr>
              <a:t>Fix</a:t>
            </a:r>
            <a:endParaRPr lang="en-US" sz="1500" dirty="0"/>
          </a:p>
        </p:txBody>
      </p:sp>
      <p:sp>
        <p:nvSpPr>
          <p:cNvPr id="46" name="!!agentarrow5"/>
          <p:cNvSpPr/>
          <p:nvPr/>
        </p:nvSpPr>
        <p:spPr>
          <a:xfrm>
            <a:off x="2898648" y="5020056"/>
            <a:ext cx="512064" cy="0"/>
          </a:xfrm>
          <a:prstGeom prst="line">
            <a:avLst/>
          </a:prstGeom>
          <a:noFill/>
          <a:ln w="12700">
            <a:solidFill>
              <a:schemeClr val="accent5"/>
            </a:solidFill>
            <a:prstDash val="solid"/>
            <a:tailEnd type="triangle"/>
          </a:ln>
        </p:spPr>
      </p:sp>
      <p:sp>
        <p:nvSpPr>
          <p:cNvPr id="47" name="Text 45"/>
          <p:cNvSpPr txBox="1"/>
          <p:nvPr/>
        </p:nvSpPr>
        <p:spPr>
          <a:xfrm>
            <a:off x="3611880" y="4800600"/>
            <a:ext cx="2560320" cy="438912"/>
          </a:xfrm>
          <a:prstGeom prst="rect">
            <a:avLst/>
          </a:prstGeom>
          <a:noFill/>
          <a:ln/>
        </p:spPr>
        <p:txBody>
          <a:bodyPr wrap="square" lIns="0" tIns="0" rIns="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fixes/&lt;id&gt;.json</a:t>
            </a:r>
            <a:endParaRPr lang="en-US" sz="1400" dirty="0"/>
          </a:p>
        </p:txBody>
      </p:sp>
      <p:sp>
        <p:nvSpPr>
          <p:cNvPr id="48" name="Text 46"/>
          <p:cNvSpPr txBox="1"/>
          <p:nvPr/>
        </p:nvSpPr>
        <p:spPr>
          <a:xfrm>
            <a:off x="6080760" y="4800600"/>
            <a:ext cx="1965960" cy="438912"/>
          </a:xfrm>
          <a:prstGeom prst="rect">
            <a:avLst/>
          </a:prstGeom>
          <a:noFill/>
          <a:ln/>
        </p:spPr>
        <p:txBody>
          <a:bodyPr wrap="square" lIns="0" tIns="0" rIns="0" bIns="0" rtlCol="0" anchor="ctr"/>
          <a:lstStyle/>
          <a:p>
            <a:pPr algn="r" indent="0" marL="0">
              <a:buNone/>
            </a:pPr>
            <a:r>
              <a:rPr lang="en-US" sz="1200" dirty="0">
                <a:solidFill>
                  <a:schemeClr val="tx2"/>
                </a:solidFill>
                <a:latin typeface="Consolas" pitchFamily="34" charset="0"/>
                <a:ea typeface="Consolas" pitchFamily="34" charset="-122"/>
                <a:cs typeface="Consolas" pitchFamily="34" charset="-120"/>
              </a:rPr>
              <a:t>FixRecommendation</a:t>
            </a:r>
            <a:endParaRPr lang="en-US" sz="1200" dirty="0"/>
          </a:p>
        </p:txBody>
      </p:sp>
      <p:sp>
        <p:nvSpPr>
          <p:cNvPr id="49" name="Shape 47"/>
          <p:cNvSpPr/>
          <p:nvPr/>
        </p:nvSpPr>
        <p:spPr>
          <a:xfrm>
            <a:off x="3611880" y="5303520"/>
            <a:ext cx="4434840" cy="0"/>
          </a:xfrm>
          <a:prstGeom prst="line">
            <a:avLst/>
          </a:prstGeom>
          <a:noFill/>
          <a:ln w="9525">
            <a:solidFill>
              <a:schemeClr val="accent6"/>
            </a:solidFill>
            <a:prstDash val="solid"/>
          </a:ln>
        </p:spPr>
      </p:sp>
      <p:sp>
        <p:nvSpPr>
          <p:cNvPr id="50" name="!!agent6"/>
          <p:cNvSpPr/>
          <p:nvPr/>
        </p:nvSpPr>
        <p:spPr>
          <a:xfrm>
            <a:off x="548640" y="5367528"/>
            <a:ext cx="2331720" cy="438912"/>
          </a:xfrm>
          <a:prstGeom prst="roundRect">
            <a:avLst>
              <a:gd name="adj" fmla="val 16667"/>
            </a:avLst>
          </a:prstGeom>
          <a:solidFill>
            <a:schemeClr val="bg2"/>
          </a:solidFill>
          <a:ln w="9525">
            <a:solidFill>
              <a:schemeClr val="accent6"/>
            </a:solidFill>
            <a:prstDash val="solid"/>
          </a:ln>
        </p:spPr>
      </p:sp>
      <p:sp>
        <p:nvSpPr>
          <p:cNvPr id="51" name="!!agentdot6"/>
          <p:cNvSpPr/>
          <p:nvPr/>
        </p:nvSpPr>
        <p:spPr>
          <a:xfrm>
            <a:off x="694944" y="5522976"/>
            <a:ext cx="128016" cy="128016"/>
          </a:xfrm>
          <a:prstGeom prst="ellipse">
            <a:avLst/>
          </a:prstGeom>
          <a:solidFill>
            <a:schemeClr val="accent2"/>
          </a:solidFill>
          <a:ln w="6350">
            <a:solidFill>
              <a:schemeClr val="accent2"/>
            </a:solidFill>
            <a:prstDash val="solid"/>
          </a:ln>
        </p:spPr>
      </p:sp>
      <p:sp>
        <p:nvSpPr>
          <p:cNvPr id="52" name="!!agentname6"/>
          <p:cNvSpPr txBox="1"/>
          <p:nvPr/>
        </p:nvSpPr>
        <p:spPr>
          <a:xfrm>
            <a:off x="914400" y="5367528"/>
            <a:ext cx="1920240" cy="438912"/>
          </a:xfrm>
          <a:prstGeom prst="rect">
            <a:avLst/>
          </a:prstGeom>
          <a:noFill/>
          <a:ln/>
        </p:spPr>
        <p:txBody>
          <a:bodyPr wrap="square" lIns="0" tIns="0" rIns="0" bIns="0" rtlCol="0" anchor="ctr"/>
          <a:lstStyle/>
          <a:p>
            <a:pPr indent="0" marL="0">
              <a:buNone/>
            </a:pPr>
            <a:r>
              <a:rPr lang="en-US" sz="1500" dirty="0">
                <a:solidFill>
                  <a:schemeClr val="tx1"/>
                </a:solidFill>
              </a:rPr>
              <a:t>Scorecard</a:t>
            </a:r>
            <a:endParaRPr lang="en-US" sz="1500" dirty="0"/>
          </a:p>
        </p:txBody>
      </p:sp>
      <p:sp>
        <p:nvSpPr>
          <p:cNvPr id="53" name="!!agentarrow6"/>
          <p:cNvSpPr/>
          <p:nvPr/>
        </p:nvSpPr>
        <p:spPr>
          <a:xfrm>
            <a:off x="2898648" y="5586984"/>
            <a:ext cx="512064" cy="0"/>
          </a:xfrm>
          <a:prstGeom prst="line">
            <a:avLst/>
          </a:prstGeom>
          <a:noFill/>
          <a:ln w="12700">
            <a:solidFill>
              <a:schemeClr val="accent5"/>
            </a:solidFill>
            <a:prstDash val="solid"/>
            <a:tailEnd type="triangle"/>
          </a:ln>
        </p:spPr>
      </p:sp>
      <p:sp>
        <p:nvSpPr>
          <p:cNvPr id="54" name="Text 52"/>
          <p:cNvSpPr txBox="1"/>
          <p:nvPr/>
        </p:nvSpPr>
        <p:spPr>
          <a:xfrm>
            <a:off x="3611880" y="5367528"/>
            <a:ext cx="2560320" cy="438912"/>
          </a:xfrm>
          <a:prstGeom prst="rect">
            <a:avLst/>
          </a:prstGeom>
          <a:noFill/>
          <a:ln/>
        </p:spPr>
        <p:txBody>
          <a:bodyPr wrap="square" lIns="0" tIns="0" rIns="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scorecard.json</a:t>
            </a:r>
            <a:endParaRPr lang="en-US" sz="1400" dirty="0"/>
          </a:p>
        </p:txBody>
      </p:sp>
      <p:sp>
        <p:nvSpPr>
          <p:cNvPr id="55" name="Text 53"/>
          <p:cNvSpPr txBox="1"/>
          <p:nvPr/>
        </p:nvSpPr>
        <p:spPr>
          <a:xfrm>
            <a:off x="6080760" y="5367528"/>
            <a:ext cx="1965960" cy="438912"/>
          </a:xfrm>
          <a:prstGeom prst="rect">
            <a:avLst/>
          </a:prstGeom>
          <a:noFill/>
          <a:ln/>
        </p:spPr>
        <p:txBody>
          <a:bodyPr wrap="square" lIns="0" tIns="0" rIns="0" bIns="0" rtlCol="0" anchor="ctr"/>
          <a:lstStyle/>
          <a:p>
            <a:pPr algn="r" indent="0" marL="0">
              <a:buNone/>
            </a:pPr>
            <a:r>
              <a:rPr lang="en-US" sz="1200" dirty="0">
                <a:solidFill>
                  <a:schemeClr val="tx2"/>
                </a:solidFill>
                <a:latin typeface="Consolas" pitchFamily="34" charset="0"/>
                <a:ea typeface="Consolas" pitchFamily="34" charset="-122"/>
                <a:cs typeface="Consolas" pitchFamily="34" charset="-120"/>
              </a:rPr>
              <a:t>Scorecard</a:t>
            </a:r>
            <a:endParaRPr lang="en-US" sz="1200" dirty="0"/>
          </a:p>
        </p:txBody>
      </p:sp>
      <p:sp>
        <p:nvSpPr>
          <p:cNvPr id="56" name="!!reader0"/>
          <p:cNvSpPr/>
          <p:nvPr/>
        </p:nvSpPr>
        <p:spPr>
          <a:xfrm>
            <a:off x="8641080" y="1965960"/>
            <a:ext cx="2999232" cy="585216"/>
          </a:xfrm>
          <a:prstGeom prst="roundRect">
            <a:avLst>
              <a:gd name="adj" fmla="val 12500"/>
            </a:avLst>
          </a:prstGeom>
          <a:solidFill>
            <a:schemeClr val="bg2"/>
          </a:solidFill>
          <a:ln w="9525">
            <a:solidFill>
              <a:schemeClr val="accent6"/>
            </a:solidFill>
            <a:prstDash val="solid"/>
          </a:ln>
        </p:spPr>
      </p:sp>
      <p:sp>
        <p:nvSpPr>
          <p:cNvPr id="57" name="Text 55"/>
          <p:cNvSpPr txBox="1"/>
          <p:nvPr/>
        </p:nvSpPr>
        <p:spPr>
          <a:xfrm>
            <a:off x="8796528" y="2020824"/>
            <a:ext cx="2743200" cy="256032"/>
          </a:xfrm>
          <a:prstGeom prst="rect">
            <a:avLst/>
          </a:prstGeom>
          <a:noFill/>
          <a:ln/>
        </p:spPr>
        <p:txBody>
          <a:bodyPr wrap="square" lIns="0" tIns="0" rIns="0" bIns="0" rtlCol="0" anchor="ctr"/>
          <a:lstStyle/>
          <a:p>
            <a:pPr indent="0" marL="0">
              <a:buNone/>
            </a:pPr>
            <a:r>
              <a:rPr lang="en-US" sz="1400" b="1" dirty="0">
                <a:solidFill>
                  <a:schemeClr val="tx1"/>
                </a:solidFill>
              </a:rPr>
              <a:t>Control room  :8765</a:t>
            </a:r>
            <a:endParaRPr lang="en-US" sz="1400" dirty="0"/>
          </a:p>
        </p:txBody>
      </p:sp>
      <p:sp>
        <p:nvSpPr>
          <p:cNvPr id="58" name="Text 56"/>
          <p:cNvSpPr txBox="1"/>
          <p:nvPr/>
        </p:nvSpPr>
        <p:spPr>
          <a:xfrm>
            <a:off x="8796528" y="2267712"/>
            <a:ext cx="2743200" cy="228600"/>
          </a:xfrm>
          <a:prstGeom prst="rect">
            <a:avLst/>
          </a:prstGeom>
          <a:noFill/>
          <a:ln/>
        </p:spPr>
        <p:txBody>
          <a:bodyPr wrap="square" lIns="0" tIns="0" rIns="0" bIns="0" rtlCol="0" anchor="ctr"/>
          <a:lstStyle/>
          <a:p>
            <a:pPr indent="0" marL="0">
              <a:buNone/>
            </a:pPr>
            <a:r>
              <a:rPr lang="en-US" sz="1100" dirty="0">
                <a:solidFill>
                  <a:schemeClr val="tx2"/>
                </a:solidFill>
              </a:rPr>
              <a:t>renders one snapshot of the board</a:t>
            </a:r>
            <a:endParaRPr lang="en-US" sz="1100" dirty="0"/>
          </a:p>
        </p:txBody>
      </p:sp>
      <p:sp>
        <p:nvSpPr>
          <p:cNvPr id="59" name="!!readerarrow0"/>
          <p:cNvSpPr/>
          <p:nvPr/>
        </p:nvSpPr>
        <p:spPr>
          <a:xfrm>
            <a:off x="8229600" y="2258568"/>
            <a:ext cx="393192" cy="0"/>
          </a:xfrm>
          <a:prstGeom prst="line">
            <a:avLst/>
          </a:prstGeom>
          <a:noFill/>
          <a:ln w="12700">
            <a:solidFill>
              <a:schemeClr val="accent5"/>
            </a:solidFill>
            <a:prstDash val="solid"/>
            <a:tailEnd type="triangle"/>
          </a:ln>
        </p:spPr>
      </p:sp>
      <p:sp>
        <p:nvSpPr>
          <p:cNvPr id="60" name="!!reader1"/>
          <p:cNvSpPr/>
          <p:nvPr/>
        </p:nvSpPr>
        <p:spPr>
          <a:xfrm>
            <a:off x="8641080" y="2670048"/>
            <a:ext cx="2999232" cy="585216"/>
          </a:xfrm>
          <a:prstGeom prst="roundRect">
            <a:avLst>
              <a:gd name="adj" fmla="val 12500"/>
            </a:avLst>
          </a:prstGeom>
          <a:solidFill>
            <a:schemeClr val="bg2"/>
          </a:solidFill>
          <a:ln w="9525">
            <a:solidFill>
              <a:schemeClr val="accent6"/>
            </a:solidFill>
            <a:prstDash val="solid"/>
          </a:ln>
        </p:spPr>
      </p:sp>
      <p:sp>
        <p:nvSpPr>
          <p:cNvPr id="61" name="Text 59"/>
          <p:cNvSpPr txBox="1"/>
          <p:nvPr/>
        </p:nvSpPr>
        <p:spPr>
          <a:xfrm>
            <a:off x="8796528" y="2724912"/>
            <a:ext cx="2743200" cy="256032"/>
          </a:xfrm>
          <a:prstGeom prst="rect">
            <a:avLst/>
          </a:prstGeom>
          <a:noFill/>
          <a:ln/>
        </p:spPr>
        <p:txBody>
          <a:bodyPr wrap="square" lIns="0" tIns="0" rIns="0" bIns="0" rtlCol="0" anchor="ctr"/>
          <a:lstStyle/>
          <a:p>
            <a:pPr indent="0" marL="0">
              <a:buNone/>
            </a:pPr>
            <a:r>
              <a:rPr lang="en-US" sz="1400" b="1" dirty="0">
                <a:solidFill>
                  <a:schemeClr val="tx1"/>
                </a:solidFill>
              </a:rPr>
              <a:t>CLI  faultline &lt;cmd&gt;</a:t>
            </a:r>
            <a:endParaRPr lang="en-US" sz="1400" dirty="0"/>
          </a:p>
        </p:txBody>
      </p:sp>
      <p:sp>
        <p:nvSpPr>
          <p:cNvPr id="62" name="Text 60"/>
          <p:cNvSpPr txBox="1"/>
          <p:nvPr/>
        </p:nvSpPr>
        <p:spPr>
          <a:xfrm>
            <a:off x="8796528" y="2971800"/>
            <a:ext cx="2743200" cy="228600"/>
          </a:xfrm>
          <a:prstGeom prst="rect">
            <a:avLst/>
          </a:prstGeom>
          <a:noFill/>
          <a:ln/>
        </p:spPr>
        <p:txBody>
          <a:bodyPr wrap="square" lIns="0" tIns="0" rIns="0" bIns="0" rtlCol="0" anchor="ctr"/>
          <a:lstStyle/>
          <a:p>
            <a:pPr indent="0" marL="0">
              <a:buNone/>
            </a:pPr>
            <a:r>
              <a:rPr lang="en-US" sz="1100" dirty="0">
                <a:solidFill>
                  <a:schemeClr val="tx2"/>
                </a:solidFill>
              </a:rPr>
              <a:t>same files, same schemas</a:t>
            </a:r>
            <a:endParaRPr lang="en-US" sz="1100" dirty="0"/>
          </a:p>
        </p:txBody>
      </p:sp>
      <p:sp>
        <p:nvSpPr>
          <p:cNvPr id="63" name="!!readerarrow1"/>
          <p:cNvSpPr/>
          <p:nvPr/>
        </p:nvSpPr>
        <p:spPr>
          <a:xfrm>
            <a:off x="8229600" y="2962656"/>
            <a:ext cx="393192" cy="0"/>
          </a:xfrm>
          <a:prstGeom prst="line">
            <a:avLst/>
          </a:prstGeom>
          <a:noFill/>
          <a:ln w="12700">
            <a:solidFill>
              <a:schemeClr val="accent5"/>
            </a:solidFill>
            <a:prstDash val="solid"/>
            <a:tailEnd type="triangle"/>
          </a:ln>
        </p:spPr>
      </p:sp>
      <p:sp>
        <p:nvSpPr>
          <p:cNvPr id="64" name="!!reader2"/>
          <p:cNvSpPr/>
          <p:nvPr/>
        </p:nvSpPr>
        <p:spPr>
          <a:xfrm>
            <a:off x="8641080" y="3374136"/>
            <a:ext cx="2999232" cy="585216"/>
          </a:xfrm>
          <a:prstGeom prst="roundRect">
            <a:avLst>
              <a:gd name="adj" fmla="val 12500"/>
            </a:avLst>
          </a:prstGeom>
          <a:solidFill>
            <a:schemeClr val="bg2"/>
          </a:solidFill>
          <a:ln w="9525">
            <a:solidFill>
              <a:schemeClr val="accent6"/>
            </a:solidFill>
            <a:prstDash val="solid"/>
          </a:ln>
        </p:spPr>
      </p:sp>
      <p:sp>
        <p:nvSpPr>
          <p:cNvPr id="65" name="Text 63"/>
          <p:cNvSpPr txBox="1"/>
          <p:nvPr/>
        </p:nvSpPr>
        <p:spPr>
          <a:xfrm>
            <a:off x="8796528" y="3429000"/>
            <a:ext cx="2743200" cy="256032"/>
          </a:xfrm>
          <a:prstGeom prst="rect">
            <a:avLst/>
          </a:prstGeom>
          <a:noFill/>
          <a:ln/>
        </p:spPr>
        <p:txBody>
          <a:bodyPr wrap="square" lIns="0" tIns="0" rIns="0" bIns="0" rtlCol="0" anchor="ctr"/>
          <a:lstStyle/>
          <a:p>
            <a:pPr indent="0" marL="0">
              <a:buNone/>
            </a:pPr>
            <a:r>
              <a:rPr lang="en-US" sz="1400" b="1" dirty="0">
                <a:solidFill>
                  <a:schemeClr val="tx1"/>
                </a:solidFill>
              </a:rPr>
              <a:t>Narrator</a:t>
            </a:r>
            <a:endParaRPr lang="en-US" sz="1400" dirty="0"/>
          </a:p>
        </p:txBody>
      </p:sp>
      <p:sp>
        <p:nvSpPr>
          <p:cNvPr id="66" name="Text 64"/>
          <p:cNvSpPr txBox="1"/>
          <p:nvPr/>
        </p:nvSpPr>
        <p:spPr>
          <a:xfrm>
            <a:off x="8796528" y="3675888"/>
            <a:ext cx="2743200" cy="228600"/>
          </a:xfrm>
          <a:prstGeom prst="rect">
            <a:avLst/>
          </a:prstGeom>
          <a:noFill/>
          <a:ln/>
        </p:spPr>
        <p:txBody>
          <a:bodyPr wrap="square" lIns="0" tIns="0" rIns="0" bIns="0" rtlCol="0" anchor="ctr"/>
          <a:lstStyle/>
          <a:p>
            <a:pPr indent="0" marL="0">
              <a:buNone/>
            </a:pPr>
            <a:r>
              <a:rPr lang="en-US" sz="1100" dirty="0">
                <a:solidFill>
                  <a:schemeClr val="tx2"/>
                </a:solidFill>
              </a:rPr>
              <a:t>plain-English play-by-play</a:t>
            </a:r>
            <a:endParaRPr lang="en-US" sz="1100" dirty="0"/>
          </a:p>
        </p:txBody>
      </p:sp>
      <p:sp>
        <p:nvSpPr>
          <p:cNvPr id="67" name="!!readerarrow2"/>
          <p:cNvSpPr/>
          <p:nvPr/>
        </p:nvSpPr>
        <p:spPr>
          <a:xfrm>
            <a:off x="8229600" y="3666744"/>
            <a:ext cx="393192" cy="0"/>
          </a:xfrm>
          <a:prstGeom prst="line">
            <a:avLst/>
          </a:prstGeom>
          <a:noFill/>
          <a:ln w="12700">
            <a:solidFill>
              <a:schemeClr val="accent5"/>
            </a:solidFill>
            <a:prstDash val="solid"/>
            <a:tailEnd type="triangle"/>
          </a:ln>
        </p:spPr>
      </p:sp>
      <p:sp>
        <p:nvSpPr>
          <p:cNvPr id="68" name="!!reader3"/>
          <p:cNvSpPr/>
          <p:nvPr/>
        </p:nvSpPr>
        <p:spPr>
          <a:xfrm>
            <a:off x="8641080" y="4078224"/>
            <a:ext cx="2999232" cy="585216"/>
          </a:xfrm>
          <a:prstGeom prst="roundRect">
            <a:avLst>
              <a:gd name="adj" fmla="val 12500"/>
            </a:avLst>
          </a:prstGeom>
          <a:solidFill>
            <a:schemeClr val="bg2"/>
          </a:solidFill>
          <a:ln w="9525">
            <a:solidFill>
              <a:schemeClr val="accent6"/>
            </a:solidFill>
            <a:prstDash val="solid"/>
          </a:ln>
        </p:spPr>
      </p:sp>
      <p:sp>
        <p:nvSpPr>
          <p:cNvPr id="69" name="Text 67"/>
          <p:cNvSpPr txBox="1"/>
          <p:nvPr/>
        </p:nvSpPr>
        <p:spPr>
          <a:xfrm>
            <a:off x="8796528" y="4133088"/>
            <a:ext cx="2743200" cy="256032"/>
          </a:xfrm>
          <a:prstGeom prst="rect">
            <a:avLst/>
          </a:prstGeom>
          <a:noFill/>
          <a:ln/>
        </p:spPr>
        <p:txBody>
          <a:bodyPr wrap="square" lIns="0" tIns="0" rIns="0" bIns="0" rtlCol="0" anchor="ctr"/>
          <a:lstStyle/>
          <a:p>
            <a:pPr indent="0" marL="0">
              <a:buNone/>
            </a:pPr>
            <a:r>
              <a:rPr lang="en-US" sz="1400" b="1" dirty="0">
                <a:solidFill>
                  <a:schemeClr val="tx1"/>
                </a:solidFill>
              </a:rPr>
              <a:t>Guardian</a:t>
            </a:r>
            <a:endParaRPr lang="en-US" sz="1400" dirty="0"/>
          </a:p>
        </p:txBody>
      </p:sp>
      <p:sp>
        <p:nvSpPr>
          <p:cNvPr id="70" name="Text 68"/>
          <p:cNvSpPr txBox="1"/>
          <p:nvPr/>
        </p:nvSpPr>
        <p:spPr>
          <a:xfrm>
            <a:off x="8796528" y="4379976"/>
            <a:ext cx="2743200" cy="228600"/>
          </a:xfrm>
          <a:prstGeom prst="rect">
            <a:avLst/>
          </a:prstGeom>
          <a:noFill/>
          <a:ln/>
        </p:spPr>
        <p:txBody>
          <a:bodyPr wrap="square" lIns="0" tIns="0" rIns="0" bIns="0" rtlCol="0" anchor="ctr"/>
          <a:lstStyle/>
          <a:p>
            <a:pPr indent="0" marL="0">
              <a:buNone/>
            </a:pPr>
            <a:r>
              <a:rPr lang="en-US" sz="1100" dirty="0">
                <a:solidFill>
                  <a:schemeClr val="tx2"/>
                </a:solidFill>
              </a:rPr>
              <a:t>own process · watches live.json + STOP</a:t>
            </a:r>
            <a:endParaRPr lang="en-US" sz="1100" dirty="0"/>
          </a:p>
        </p:txBody>
      </p:sp>
      <p:sp>
        <p:nvSpPr>
          <p:cNvPr id="71" name="!!readerarrow3"/>
          <p:cNvSpPr/>
          <p:nvPr/>
        </p:nvSpPr>
        <p:spPr>
          <a:xfrm>
            <a:off x="8229600" y="4370832"/>
            <a:ext cx="393192" cy="0"/>
          </a:xfrm>
          <a:prstGeom prst="line">
            <a:avLst/>
          </a:prstGeom>
          <a:noFill/>
          <a:ln w="12700">
            <a:solidFill>
              <a:schemeClr val="accent5"/>
            </a:solidFill>
            <a:prstDash val="solid"/>
            <a:tailEnd type="triangle"/>
          </a:ln>
        </p:spPr>
      </p:sp>
      <p:sp>
        <p:nvSpPr>
          <p:cNvPr id="72" name="!!callout"/>
          <p:cNvSpPr/>
          <p:nvPr/>
        </p:nvSpPr>
        <p:spPr>
          <a:xfrm>
            <a:off x="8641080" y="4846320"/>
            <a:ext cx="2999232" cy="1097280"/>
          </a:xfrm>
          <a:prstGeom prst="roundRect">
            <a:avLst>
              <a:gd name="adj" fmla="val 6667"/>
            </a:avLst>
          </a:prstGeom>
          <a:solidFill>
            <a:schemeClr val="bg1"/>
          </a:solidFill>
          <a:ln w="9525">
            <a:solidFill>
              <a:schemeClr val="accent6"/>
            </a:solidFill>
            <a:prstDash val="solid"/>
          </a:ln>
        </p:spPr>
      </p:sp>
      <p:sp>
        <p:nvSpPr>
          <p:cNvPr id="73" name="!!callouttext"/>
          <p:cNvSpPr txBox="1"/>
          <p:nvPr/>
        </p:nvSpPr>
        <p:spPr>
          <a:xfrm>
            <a:off x="8796528" y="4919472"/>
            <a:ext cx="2724912" cy="960120"/>
          </a:xfrm>
          <a:prstGeom prst="rect">
            <a:avLst/>
          </a:prstGeom>
          <a:noFill/>
          <a:ln/>
        </p:spPr>
        <p:txBody>
          <a:bodyPr wrap="square" lIns="0" tIns="0" rIns="0" bIns="0" rtlCol="0" anchor="t"/>
          <a:lstStyle/>
          <a:p>
            <a:pPr indent="0" marL="0">
              <a:buNone/>
            </a:pPr>
            <a:r>
              <a:rPr lang="en-US" sz="1300" dirty="0">
                <a:solidFill>
                  <a:schemeClr val="tx2"/>
                </a:solidFill>
              </a:rPr>
              <a:t>No message bus. No shared process. The Pydantic schemas in faultline/schemas.py are the only contract.</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spc="200" kern="0" dirty="0">
                <a:solidFill>
                  <a:schemeClr val="accent3"/>
                </a:solidFill>
                <a:latin typeface="Consolas" pitchFamily="34" charset="0"/>
                <a:ea typeface="Consolas" pitchFamily="34" charset="-122"/>
                <a:cs typeface="Consolas" pitchFamily="34" charset="-120"/>
              </a:rPr>
              <a:t>02 · ARCHITECTURE</a:t>
            </a:r>
            <a:endParaRPr lang="en-US" sz="1200" dirty="0"/>
          </a:p>
        </p:txBody>
      </p:sp>
      <p:sp>
        <p:nvSpPr>
          <p:cNvPr id="3" name="Text 1"/>
          <p:cNvSpPr/>
          <p:nvPr>
            <p:ph idx="102" type="title" hasCustomPrompt="1"/>
          </p:nvPr>
        </p:nvSpPr>
        <p:spPr>
          <a:xfrm>
            <a:off x="548640" y="676656"/>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A crashed agent loses nothing</a:t>
            </a:r>
            <a:endParaRPr lang="en-US" sz="3400" dirty="0"/>
          </a:p>
        </p:txBody>
      </p:sp>
      <p:sp>
        <p:nvSpPr>
          <p:cNvPr id="4" name="Text 2"/>
          <p:cNvSpPr txBox="1"/>
          <p:nvPr/>
        </p:nvSpPr>
        <p:spPr>
          <a:xfrm>
            <a:off x="548640" y="1572768"/>
            <a:ext cx="2743200" cy="256032"/>
          </a:xfrm>
          <a:prstGeom prst="rect">
            <a:avLst/>
          </a:prstGeom>
          <a:noFill/>
          <a:ln/>
        </p:spPr>
        <p:txBody>
          <a:bodyPr wrap="square" lIns="0" tIns="0" rIns="0" bIns="0" rtlCol="0" anchor="ctr"/>
          <a:lstStyle/>
          <a:p>
            <a:pPr indent="0" marL="0">
              <a:buNone/>
            </a:pPr>
            <a:r>
              <a:rPr lang="en-US" sz="1100" spc="100" kern="0" dirty="0">
                <a:solidFill>
                  <a:schemeClr val="accent5"/>
                </a:solidFill>
                <a:latin typeface="Consolas" pitchFamily="34" charset="0"/>
                <a:ea typeface="Consolas" pitchFamily="34" charset="-122"/>
                <a:cs typeface="Consolas" pitchFamily="34" charset="-120"/>
              </a:rPr>
              <a:t>AGENTS · each writes one file</a:t>
            </a:r>
            <a:endParaRPr lang="en-US" sz="1100" dirty="0"/>
          </a:p>
        </p:txBody>
      </p:sp>
      <p:sp>
        <p:nvSpPr>
          <p:cNvPr id="5" name="Text 3"/>
          <p:cNvSpPr txBox="1"/>
          <p:nvPr/>
        </p:nvSpPr>
        <p:spPr>
          <a:xfrm>
            <a:off x="3429000" y="1572768"/>
            <a:ext cx="4754880" cy="256032"/>
          </a:xfrm>
          <a:prstGeom prst="rect">
            <a:avLst/>
          </a:prstGeom>
          <a:noFill/>
          <a:ln/>
        </p:spPr>
        <p:txBody>
          <a:bodyPr wrap="square" lIns="0" tIns="0" rIns="0" bIns="0" rtlCol="0" anchor="ctr"/>
          <a:lstStyle/>
          <a:p>
            <a:pPr indent="0" marL="0">
              <a:buNone/>
            </a:pPr>
            <a:r>
              <a:rPr lang="en-US" sz="1100" spc="100" kern="0" dirty="0">
                <a:solidFill>
                  <a:schemeClr val="accent5"/>
                </a:solidFill>
                <a:latin typeface="Consolas" pitchFamily="34" charset="0"/>
                <a:ea typeface="Consolas" pitchFamily="34" charset="-122"/>
                <a:cs typeface="Consolas" pitchFamily="34" charset="-120"/>
              </a:rPr>
              <a:t>reports/ · THE BLACKBOARD</a:t>
            </a:r>
            <a:endParaRPr lang="en-US" sz="1100" dirty="0"/>
          </a:p>
        </p:txBody>
      </p:sp>
      <p:sp>
        <p:nvSpPr>
          <p:cNvPr id="6" name="Text 4"/>
          <p:cNvSpPr txBox="1"/>
          <p:nvPr/>
        </p:nvSpPr>
        <p:spPr>
          <a:xfrm>
            <a:off x="8641080" y="1572768"/>
            <a:ext cx="2999232" cy="256032"/>
          </a:xfrm>
          <a:prstGeom prst="rect">
            <a:avLst/>
          </a:prstGeom>
          <a:noFill/>
          <a:ln/>
        </p:spPr>
        <p:txBody>
          <a:bodyPr wrap="square" lIns="0" tIns="0" rIns="0" bIns="0" rtlCol="0" anchor="ctr"/>
          <a:lstStyle/>
          <a:p>
            <a:pPr indent="0" marL="0">
              <a:buNone/>
            </a:pPr>
            <a:r>
              <a:rPr lang="en-US" sz="1100" spc="100" kern="0" dirty="0">
                <a:solidFill>
                  <a:schemeClr val="accent5"/>
                </a:solidFill>
                <a:latin typeface="Consolas" pitchFamily="34" charset="0"/>
                <a:ea typeface="Consolas" pitchFamily="34" charset="-122"/>
                <a:cs typeface="Consolas" pitchFamily="34" charset="-120"/>
              </a:rPr>
              <a:t>READERS · same files</a:t>
            </a:r>
            <a:endParaRPr lang="en-US" sz="1100" dirty="0"/>
          </a:p>
        </p:txBody>
      </p:sp>
      <p:sp>
        <p:nvSpPr>
          <p:cNvPr id="7" name="!!board"/>
          <p:cNvSpPr/>
          <p:nvPr/>
        </p:nvSpPr>
        <p:spPr>
          <a:xfrm>
            <a:off x="3429000" y="1874520"/>
            <a:ext cx="4800600" cy="4069080"/>
          </a:xfrm>
          <a:prstGeom prst="roundRect">
            <a:avLst>
              <a:gd name="adj" fmla="val 1798"/>
            </a:avLst>
          </a:prstGeom>
          <a:solidFill>
            <a:schemeClr val="bg2"/>
          </a:solidFill>
          <a:ln w="9525">
            <a:solidFill>
              <a:schemeClr val="accent6"/>
            </a:solidFill>
            <a:prstDash val="solid"/>
          </a:ln>
        </p:spPr>
      </p:sp>
      <p:sp>
        <p:nvSpPr>
          <p:cNvPr id="8" name="!!agent0"/>
          <p:cNvSpPr/>
          <p:nvPr/>
        </p:nvSpPr>
        <p:spPr>
          <a:xfrm>
            <a:off x="548640" y="1965960"/>
            <a:ext cx="2331720" cy="438912"/>
          </a:xfrm>
          <a:prstGeom prst="roundRect">
            <a:avLst>
              <a:gd name="adj" fmla="val 16667"/>
            </a:avLst>
          </a:prstGeom>
          <a:solidFill>
            <a:schemeClr val="bg2"/>
          </a:solidFill>
          <a:ln w="9525">
            <a:solidFill>
              <a:schemeClr val="accent6"/>
            </a:solidFill>
            <a:prstDash val="solid"/>
          </a:ln>
        </p:spPr>
      </p:sp>
      <p:sp>
        <p:nvSpPr>
          <p:cNvPr id="9" name="!!agentdot0"/>
          <p:cNvSpPr/>
          <p:nvPr/>
        </p:nvSpPr>
        <p:spPr>
          <a:xfrm>
            <a:off x="694944" y="2121408"/>
            <a:ext cx="128016" cy="128016"/>
          </a:xfrm>
          <a:prstGeom prst="ellipse">
            <a:avLst/>
          </a:prstGeom>
          <a:solidFill>
            <a:schemeClr val="accent2"/>
          </a:solidFill>
          <a:ln w="6350">
            <a:solidFill>
              <a:schemeClr val="accent2"/>
            </a:solidFill>
            <a:prstDash val="solid"/>
          </a:ln>
        </p:spPr>
      </p:sp>
      <p:sp>
        <p:nvSpPr>
          <p:cNvPr id="10" name="!!agentname0"/>
          <p:cNvSpPr txBox="1"/>
          <p:nvPr/>
        </p:nvSpPr>
        <p:spPr>
          <a:xfrm>
            <a:off x="914400" y="1965960"/>
            <a:ext cx="1920240" cy="438912"/>
          </a:xfrm>
          <a:prstGeom prst="rect">
            <a:avLst/>
          </a:prstGeom>
          <a:noFill/>
          <a:ln/>
        </p:spPr>
        <p:txBody>
          <a:bodyPr wrap="square" lIns="0" tIns="0" rIns="0" bIns="0" rtlCol="0" anchor="ctr"/>
          <a:lstStyle/>
          <a:p>
            <a:pPr indent="0" marL="0">
              <a:buNone/>
            </a:pPr>
            <a:r>
              <a:rPr lang="en-US" sz="1500" dirty="0">
                <a:solidFill>
                  <a:schemeClr val="tx1"/>
                </a:solidFill>
              </a:rPr>
              <a:t>Topology</a:t>
            </a:r>
            <a:endParaRPr lang="en-US" sz="1500" dirty="0"/>
          </a:p>
        </p:txBody>
      </p:sp>
      <p:sp>
        <p:nvSpPr>
          <p:cNvPr id="11" name="!!agentarrow0"/>
          <p:cNvSpPr/>
          <p:nvPr/>
        </p:nvSpPr>
        <p:spPr>
          <a:xfrm>
            <a:off x="2898648" y="2185416"/>
            <a:ext cx="512064" cy="0"/>
          </a:xfrm>
          <a:prstGeom prst="line">
            <a:avLst/>
          </a:prstGeom>
          <a:noFill/>
          <a:ln w="12700">
            <a:solidFill>
              <a:schemeClr val="accent5"/>
            </a:solidFill>
            <a:prstDash val="solid"/>
            <a:tailEnd type="triangle"/>
          </a:ln>
        </p:spPr>
      </p:sp>
      <p:sp>
        <p:nvSpPr>
          <p:cNvPr id="12" name="Text 10"/>
          <p:cNvSpPr txBox="1"/>
          <p:nvPr/>
        </p:nvSpPr>
        <p:spPr>
          <a:xfrm>
            <a:off x="3611880" y="1965960"/>
            <a:ext cx="2560320" cy="438912"/>
          </a:xfrm>
          <a:prstGeom prst="rect">
            <a:avLst/>
          </a:prstGeom>
          <a:noFill/>
          <a:ln/>
        </p:spPr>
        <p:txBody>
          <a:bodyPr wrap="square" lIns="0" tIns="0" rIns="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topology.json</a:t>
            </a:r>
            <a:endParaRPr lang="en-US" sz="1400" dirty="0"/>
          </a:p>
        </p:txBody>
      </p:sp>
      <p:sp>
        <p:nvSpPr>
          <p:cNvPr id="13" name="Text 11"/>
          <p:cNvSpPr txBox="1"/>
          <p:nvPr/>
        </p:nvSpPr>
        <p:spPr>
          <a:xfrm>
            <a:off x="6080760" y="1965960"/>
            <a:ext cx="1965960" cy="438912"/>
          </a:xfrm>
          <a:prstGeom prst="rect">
            <a:avLst/>
          </a:prstGeom>
          <a:noFill/>
          <a:ln/>
        </p:spPr>
        <p:txBody>
          <a:bodyPr wrap="square" lIns="0" tIns="0" rIns="0" bIns="0" rtlCol="0" anchor="ctr"/>
          <a:lstStyle/>
          <a:p>
            <a:pPr algn="r" indent="0" marL="0">
              <a:buNone/>
            </a:pPr>
            <a:r>
              <a:rPr lang="en-US" sz="1200" dirty="0">
                <a:solidFill>
                  <a:schemeClr val="tx2"/>
                </a:solidFill>
                <a:latin typeface="Consolas" pitchFamily="34" charset="0"/>
                <a:ea typeface="Consolas" pitchFamily="34" charset="-122"/>
                <a:cs typeface="Consolas" pitchFamily="34" charset="-120"/>
              </a:rPr>
              <a:t>Topology</a:t>
            </a:r>
            <a:endParaRPr lang="en-US" sz="1200" dirty="0"/>
          </a:p>
        </p:txBody>
      </p:sp>
      <p:sp>
        <p:nvSpPr>
          <p:cNvPr id="14" name="Shape 12"/>
          <p:cNvSpPr/>
          <p:nvPr/>
        </p:nvSpPr>
        <p:spPr>
          <a:xfrm>
            <a:off x="3611880" y="2468880"/>
            <a:ext cx="4434840" cy="0"/>
          </a:xfrm>
          <a:prstGeom prst="line">
            <a:avLst/>
          </a:prstGeom>
          <a:noFill/>
          <a:ln w="9525">
            <a:solidFill>
              <a:schemeClr val="accent6"/>
            </a:solidFill>
            <a:prstDash val="solid"/>
          </a:ln>
        </p:spPr>
      </p:sp>
      <p:sp>
        <p:nvSpPr>
          <p:cNvPr id="15" name="!!agent1"/>
          <p:cNvSpPr/>
          <p:nvPr/>
        </p:nvSpPr>
        <p:spPr>
          <a:xfrm>
            <a:off x="548640" y="2532888"/>
            <a:ext cx="2331720" cy="438912"/>
          </a:xfrm>
          <a:prstGeom prst="roundRect">
            <a:avLst>
              <a:gd name="adj" fmla="val 16667"/>
            </a:avLst>
          </a:prstGeom>
          <a:solidFill>
            <a:schemeClr val="bg2"/>
          </a:solidFill>
          <a:ln w="9525">
            <a:solidFill>
              <a:schemeClr val="accent6"/>
            </a:solidFill>
            <a:prstDash val="solid"/>
          </a:ln>
        </p:spPr>
      </p:sp>
      <p:sp>
        <p:nvSpPr>
          <p:cNvPr id="16" name="!!agentdot1"/>
          <p:cNvSpPr/>
          <p:nvPr/>
        </p:nvSpPr>
        <p:spPr>
          <a:xfrm>
            <a:off x="694944" y="2688336"/>
            <a:ext cx="128016" cy="128016"/>
          </a:xfrm>
          <a:prstGeom prst="ellipse">
            <a:avLst/>
          </a:prstGeom>
          <a:solidFill>
            <a:schemeClr val="accent2"/>
          </a:solidFill>
          <a:ln w="6350">
            <a:solidFill>
              <a:schemeClr val="accent2"/>
            </a:solidFill>
            <a:prstDash val="solid"/>
          </a:ln>
        </p:spPr>
      </p:sp>
      <p:sp>
        <p:nvSpPr>
          <p:cNvPr id="17" name="!!agentname1"/>
          <p:cNvSpPr txBox="1"/>
          <p:nvPr/>
        </p:nvSpPr>
        <p:spPr>
          <a:xfrm>
            <a:off x="914400" y="2532888"/>
            <a:ext cx="1920240" cy="438912"/>
          </a:xfrm>
          <a:prstGeom prst="rect">
            <a:avLst/>
          </a:prstGeom>
          <a:noFill/>
          <a:ln/>
        </p:spPr>
        <p:txBody>
          <a:bodyPr wrap="square" lIns="0" tIns="0" rIns="0" bIns="0" rtlCol="0" anchor="ctr"/>
          <a:lstStyle/>
          <a:p>
            <a:pPr indent="0" marL="0">
              <a:buNone/>
            </a:pPr>
            <a:r>
              <a:rPr lang="en-US" sz="1500" dirty="0">
                <a:solidFill>
                  <a:schemeClr val="tx1"/>
                </a:solidFill>
              </a:rPr>
              <a:t>Weakness Scout</a:t>
            </a:r>
            <a:endParaRPr lang="en-US" sz="1500" dirty="0"/>
          </a:p>
        </p:txBody>
      </p:sp>
      <p:sp>
        <p:nvSpPr>
          <p:cNvPr id="18" name="!!agentarrow1"/>
          <p:cNvSpPr/>
          <p:nvPr/>
        </p:nvSpPr>
        <p:spPr>
          <a:xfrm>
            <a:off x="2898648" y="2752344"/>
            <a:ext cx="512064" cy="0"/>
          </a:xfrm>
          <a:prstGeom prst="line">
            <a:avLst/>
          </a:prstGeom>
          <a:noFill/>
          <a:ln w="12700">
            <a:solidFill>
              <a:schemeClr val="accent5"/>
            </a:solidFill>
            <a:prstDash val="solid"/>
            <a:tailEnd type="triangle"/>
          </a:ln>
        </p:spPr>
      </p:sp>
      <p:sp>
        <p:nvSpPr>
          <p:cNvPr id="19" name="Text 17"/>
          <p:cNvSpPr txBox="1"/>
          <p:nvPr/>
        </p:nvSpPr>
        <p:spPr>
          <a:xfrm>
            <a:off x="3611880" y="2532888"/>
            <a:ext cx="2560320" cy="438912"/>
          </a:xfrm>
          <a:prstGeom prst="rect">
            <a:avLst/>
          </a:prstGeom>
          <a:noFill/>
          <a:ln/>
        </p:spPr>
        <p:txBody>
          <a:bodyPr wrap="square" lIns="0" tIns="0" rIns="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weaknesses.json</a:t>
            </a:r>
            <a:endParaRPr lang="en-US" sz="1400" dirty="0"/>
          </a:p>
        </p:txBody>
      </p:sp>
      <p:sp>
        <p:nvSpPr>
          <p:cNvPr id="20" name="Text 18"/>
          <p:cNvSpPr txBox="1"/>
          <p:nvPr/>
        </p:nvSpPr>
        <p:spPr>
          <a:xfrm>
            <a:off x="6080760" y="2532888"/>
            <a:ext cx="1965960" cy="438912"/>
          </a:xfrm>
          <a:prstGeom prst="rect">
            <a:avLst/>
          </a:prstGeom>
          <a:noFill/>
          <a:ln/>
        </p:spPr>
        <p:txBody>
          <a:bodyPr wrap="square" lIns="0" tIns="0" rIns="0" bIns="0" rtlCol="0" anchor="ctr"/>
          <a:lstStyle/>
          <a:p>
            <a:pPr algn="r" indent="0" marL="0">
              <a:buNone/>
            </a:pPr>
            <a:r>
              <a:rPr lang="en-US" sz="1200" dirty="0">
                <a:solidFill>
                  <a:schemeClr val="tx2"/>
                </a:solidFill>
                <a:latin typeface="Consolas" pitchFamily="34" charset="0"/>
                <a:ea typeface="Consolas" pitchFamily="34" charset="-122"/>
                <a:cs typeface="Consolas" pitchFamily="34" charset="-120"/>
              </a:rPr>
              <a:t>WeaknessReport</a:t>
            </a:r>
            <a:endParaRPr lang="en-US" sz="1200" dirty="0"/>
          </a:p>
        </p:txBody>
      </p:sp>
      <p:sp>
        <p:nvSpPr>
          <p:cNvPr id="21" name="Shape 19"/>
          <p:cNvSpPr/>
          <p:nvPr/>
        </p:nvSpPr>
        <p:spPr>
          <a:xfrm>
            <a:off x="3611880" y="3035808"/>
            <a:ext cx="4434840" cy="0"/>
          </a:xfrm>
          <a:prstGeom prst="line">
            <a:avLst/>
          </a:prstGeom>
          <a:noFill/>
          <a:ln w="9525">
            <a:solidFill>
              <a:schemeClr val="accent6"/>
            </a:solidFill>
            <a:prstDash val="solid"/>
          </a:ln>
        </p:spPr>
      </p:sp>
      <p:sp>
        <p:nvSpPr>
          <p:cNvPr id="22" name="!!agent2"/>
          <p:cNvSpPr/>
          <p:nvPr/>
        </p:nvSpPr>
        <p:spPr>
          <a:xfrm>
            <a:off x="548640" y="3099816"/>
            <a:ext cx="2331720" cy="438912"/>
          </a:xfrm>
          <a:prstGeom prst="roundRect">
            <a:avLst>
              <a:gd name="adj" fmla="val 16667"/>
            </a:avLst>
          </a:prstGeom>
          <a:solidFill>
            <a:schemeClr val="bg2"/>
          </a:solidFill>
          <a:ln w="9525">
            <a:solidFill>
              <a:schemeClr val="accent6"/>
            </a:solidFill>
            <a:prstDash val="solid"/>
          </a:ln>
        </p:spPr>
      </p:sp>
      <p:sp>
        <p:nvSpPr>
          <p:cNvPr id="23" name="!!agentdot2"/>
          <p:cNvSpPr/>
          <p:nvPr/>
        </p:nvSpPr>
        <p:spPr>
          <a:xfrm>
            <a:off x="694944" y="3255264"/>
            <a:ext cx="128016" cy="128016"/>
          </a:xfrm>
          <a:prstGeom prst="ellipse">
            <a:avLst/>
          </a:prstGeom>
          <a:solidFill>
            <a:schemeClr val="accent2"/>
          </a:solidFill>
          <a:ln w="6350">
            <a:solidFill>
              <a:schemeClr val="accent2"/>
            </a:solidFill>
            <a:prstDash val="solid"/>
          </a:ln>
        </p:spPr>
      </p:sp>
      <p:sp>
        <p:nvSpPr>
          <p:cNvPr id="24" name="!!agentname2"/>
          <p:cNvSpPr txBox="1"/>
          <p:nvPr/>
        </p:nvSpPr>
        <p:spPr>
          <a:xfrm>
            <a:off x="914400" y="3099816"/>
            <a:ext cx="1920240" cy="438912"/>
          </a:xfrm>
          <a:prstGeom prst="rect">
            <a:avLst/>
          </a:prstGeom>
          <a:noFill/>
          <a:ln/>
        </p:spPr>
        <p:txBody>
          <a:bodyPr wrap="square" lIns="0" tIns="0" rIns="0" bIns="0" rtlCol="0" anchor="ctr"/>
          <a:lstStyle/>
          <a:p>
            <a:pPr indent="0" marL="0">
              <a:buNone/>
            </a:pPr>
            <a:r>
              <a:rPr lang="en-US" sz="1500" dirty="0">
                <a:solidFill>
                  <a:schemeClr val="tx1"/>
                </a:solidFill>
              </a:rPr>
              <a:t>Probes</a:t>
            </a:r>
            <a:endParaRPr lang="en-US" sz="1500" dirty="0"/>
          </a:p>
        </p:txBody>
      </p:sp>
      <p:sp>
        <p:nvSpPr>
          <p:cNvPr id="25" name="!!agentarrow2"/>
          <p:cNvSpPr/>
          <p:nvPr/>
        </p:nvSpPr>
        <p:spPr>
          <a:xfrm>
            <a:off x="2898648" y="3319272"/>
            <a:ext cx="512064" cy="0"/>
          </a:xfrm>
          <a:prstGeom prst="line">
            <a:avLst/>
          </a:prstGeom>
          <a:noFill/>
          <a:ln w="12700">
            <a:solidFill>
              <a:schemeClr val="accent5"/>
            </a:solidFill>
            <a:prstDash val="solid"/>
            <a:tailEnd type="triangle"/>
          </a:ln>
        </p:spPr>
      </p:sp>
      <p:sp>
        <p:nvSpPr>
          <p:cNvPr id="26" name="Text 24"/>
          <p:cNvSpPr txBox="1"/>
          <p:nvPr/>
        </p:nvSpPr>
        <p:spPr>
          <a:xfrm>
            <a:off x="3611880" y="3099816"/>
            <a:ext cx="2560320" cy="438912"/>
          </a:xfrm>
          <a:prstGeom prst="rect">
            <a:avLst/>
          </a:prstGeom>
          <a:noFill/>
          <a:ln/>
        </p:spPr>
        <p:txBody>
          <a:bodyPr wrap="square" lIns="0" tIns="0" rIns="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baseline.json</a:t>
            </a:r>
            <a:endParaRPr lang="en-US" sz="1400" dirty="0"/>
          </a:p>
        </p:txBody>
      </p:sp>
      <p:sp>
        <p:nvSpPr>
          <p:cNvPr id="27" name="Text 25"/>
          <p:cNvSpPr txBox="1"/>
          <p:nvPr/>
        </p:nvSpPr>
        <p:spPr>
          <a:xfrm>
            <a:off x="6080760" y="3099816"/>
            <a:ext cx="1965960" cy="438912"/>
          </a:xfrm>
          <a:prstGeom prst="rect">
            <a:avLst/>
          </a:prstGeom>
          <a:noFill/>
          <a:ln/>
        </p:spPr>
        <p:txBody>
          <a:bodyPr wrap="square" lIns="0" tIns="0" rIns="0" bIns="0" rtlCol="0" anchor="ctr"/>
          <a:lstStyle/>
          <a:p>
            <a:pPr algn="r" indent="0" marL="0">
              <a:buNone/>
            </a:pPr>
            <a:r>
              <a:rPr lang="en-US" sz="1200" dirty="0">
                <a:solidFill>
                  <a:schemeClr val="tx2"/>
                </a:solidFill>
                <a:latin typeface="Consolas" pitchFamily="34" charset="0"/>
                <a:ea typeface="Consolas" pitchFamily="34" charset="-122"/>
                <a:cs typeface="Consolas" pitchFamily="34" charset="-120"/>
              </a:rPr>
              <a:t>Baseline</a:t>
            </a:r>
            <a:endParaRPr lang="en-US" sz="1200" dirty="0"/>
          </a:p>
        </p:txBody>
      </p:sp>
      <p:sp>
        <p:nvSpPr>
          <p:cNvPr id="28" name="Shape 26"/>
          <p:cNvSpPr/>
          <p:nvPr/>
        </p:nvSpPr>
        <p:spPr>
          <a:xfrm>
            <a:off x="3611880" y="3602736"/>
            <a:ext cx="4434840" cy="0"/>
          </a:xfrm>
          <a:prstGeom prst="line">
            <a:avLst/>
          </a:prstGeom>
          <a:noFill/>
          <a:ln w="9525">
            <a:solidFill>
              <a:schemeClr val="accent6"/>
            </a:solidFill>
            <a:prstDash val="solid"/>
          </a:ln>
        </p:spPr>
      </p:sp>
      <p:sp>
        <p:nvSpPr>
          <p:cNvPr id="29" name="!!agent3"/>
          <p:cNvSpPr/>
          <p:nvPr/>
        </p:nvSpPr>
        <p:spPr>
          <a:xfrm>
            <a:off x="548640" y="3666744"/>
            <a:ext cx="2331720" cy="438912"/>
          </a:xfrm>
          <a:prstGeom prst="roundRect">
            <a:avLst>
              <a:gd name="adj" fmla="val 16667"/>
            </a:avLst>
          </a:prstGeom>
          <a:solidFill>
            <a:schemeClr val="bg2"/>
          </a:solidFill>
          <a:ln w="9525">
            <a:solidFill>
              <a:schemeClr val="accent1"/>
            </a:solidFill>
            <a:prstDash val="solid"/>
          </a:ln>
        </p:spPr>
      </p:sp>
      <p:sp>
        <p:nvSpPr>
          <p:cNvPr id="30" name="!!agentdot3"/>
          <p:cNvSpPr/>
          <p:nvPr/>
        </p:nvSpPr>
        <p:spPr>
          <a:xfrm>
            <a:off x="694944" y="3822192"/>
            <a:ext cx="128016" cy="128016"/>
          </a:xfrm>
          <a:prstGeom prst="ellipse">
            <a:avLst/>
          </a:prstGeom>
          <a:solidFill>
            <a:schemeClr val="accent1"/>
          </a:solidFill>
          <a:ln w="6350">
            <a:solidFill>
              <a:schemeClr val="accent1"/>
            </a:solidFill>
            <a:prstDash val="solid"/>
          </a:ln>
        </p:spPr>
      </p:sp>
      <p:sp>
        <p:nvSpPr>
          <p:cNvPr id="31" name="!!agentname3"/>
          <p:cNvSpPr txBox="1"/>
          <p:nvPr/>
        </p:nvSpPr>
        <p:spPr>
          <a:xfrm>
            <a:off x="914400" y="3666744"/>
            <a:ext cx="1920240" cy="438912"/>
          </a:xfrm>
          <a:prstGeom prst="rect">
            <a:avLst/>
          </a:prstGeom>
          <a:noFill/>
          <a:ln/>
        </p:spPr>
        <p:txBody>
          <a:bodyPr wrap="square" lIns="0" tIns="0" rIns="0" bIns="0" rtlCol="0" anchor="ctr"/>
          <a:lstStyle/>
          <a:p>
            <a:pPr indent="0" marL="0">
              <a:buNone/>
            </a:pPr>
            <a:r>
              <a:rPr lang="en-US" sz="1500" dirty="0">
                <a:solidFill>
                  <a:schemeClr val="tx1"/>
                </a:solidFill>
              </a:rPr>
              <a:t>Injector</a:t>
            </a:r>
            <a:endParaRPr lang="en-US" sz="1500" dirty="0"/>
          </a:p>
        </p:txBody>
      </p:sp>
      <p:sp>
        <p:nvSpPr>
          <p:cNvPr id="32" name="!!agentarrow3"/>
          <p:cNvSpPr/>
          <p:nvPr/>
        </p:nvSpPr>
        <p:spPr>
          <a:xfrm>
            <a:off x="2898648" y="3886200"/>
            <a:ext cx="512064" cy="0"/>
          </a:xfrm>
          <a:prstGeom prst="line">
            <a:avLst/>
          </a:prstGeom>
          <a:noFill/>
          <a:ln w="12700">
            <a:solidFill>
              <a:schemeClr val="accent5"/>
            </a:solidFill>
            <a:prstDash val="solid"/>
            <a:tailEnd type="triangle"/>
          </a:ln>
        </p:spPr>
      </p:sp>
      <p:sp>
        <p:nvSpPr>
          <p:cNvPr id="33" name="Text 31"/>
          <p:cNvSpPr txBox="1"/>
          <p:nvPr/>
        </p:nvSpPr>
        <p:spPr>
          <a:xfrm>
            <a:off x="3611880" y="3666744"/>
            <a:ext cx="2560320" cy="438912"/>
          </a:xfrm>
          <a:prstGeom prst="rect">
            <a:avLst/>
          </a:prstGeom>
          <a:noFill/>
          <a:ln/>
        </p:spPr>
        <p:txBody>
          <a:bodyPr wrap="square" lIns="0" tIns="0" rIns="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experiments/&lt;id&gt;.json</a:t>
            </a:r>
            <a:endParaRPr lang="en-US" sz="1400" dirty="0"/>
          </a:p>
        </p:txBody>
      </p:sp>
      <p:sp>
        <p:nvSpPr>
          <p:cNvPr id="34" name="Text 32"/>
          <p:cNvSpPr txBox="1"/>
          <p:nvPr/>
        </p:nvSpPr>
        <p:spPr>
          <a:xfrm>
            <a:off x="6080760" y="3666744"/>
            <a:ext cx="1965960" cy="438912"/>
          </a:xfrm>
          <a:prstGeom prst="rect">
            <a:avLst/>
          </a:prstGeom>
          <a:noFill/>
          <a:ln/>
        </p:spPr>
        <p:txBody>
          <a:bodyPr wrap="square" lIns="0" tIns="0" rIns="0" bIns="0" rtlCol="0" anchor="ctr"/>
          <a:lstStyle/>
          <a:p>
            <a:pPr algn="r" indent="0" marL="0">
              <a:buNone/>
            </a:pPr>
            <a:r>
              <a:rPr lang="en-US" sz="1200" dirty="0">
                <a:solidFill>
                  <a:schemeClr val="tx2"/>
                </a:solidFill>
                <a:latin typeface="Consolas" pitchFamily="34" charset="0"/>
                <a:ea typeface="Consolas" pitchFamily="34" charset="-122"/>
                <a:cs typeface="Consolas" pitchFamily="34" charset="-120"/>
              </a:rPr>
              <a:t>ExperimentReport</a:t>
            </a:r>
            <a:endParaRPr lang="en-US" sz="1200" dirty="0"/>
          </a:p>
        </p:txBody>
      </p:sp>
      <p:sp>
        <p:nvSpPr>
          <p:cNvPr id="35" name="Shape 33"/>
          <p:cNvSpPr/>
          <p:nvPr/>
        </p:nvSpPr>
        <p:spPr>
          <a:xfrm>
            <a:off x="3611880" y="4169664"/>
            <a:ext cx="4434840" cy="0"/>
          </a:xfrm>
          <a:prstGeom prst="line">
            <a:avLst/>
          </a:prstGeom>
          <a:noFill/>
          <a:ln w="9525">
            <a:solidFill>
              <a:schemeClr val="accent6"/>
            </a:solidFill>
            <a:prstDash val="solid"/>
          </a:ln>
        </p:spPr>
      </p:sp>
      <p:sp>
        <p:nvSpPr>
          <p:cNvPr id="36" name="!!agent4"/>
          <p:cNvSpPr/>
          <p:nvPr/>
        </p:nvSpPr>
        <p:spPr>
          <a:xfrm>
            <a:off x="548640" y="4233672"/>
            <a:ext cx="2331720" cy="438912"/>
          </a:xfrm>
          <a:prstGeom prst="roundRect">
            <a:avLst>
              <a:gd name="adj" fmla="val 16667"/>
            </a:avLst>
          </a:prstGeom>
          <a:solidFill>
            <a:schemeClr val="bg2"/>
          </a:solidFill>
          <a:ln w="19050">
            <a:solidFill>
              <a:schemeClr val="accent1"/>
            </a:solidFill>
            <a:prstDash val="solid"/>
          </a:ln>
        </p:spPr>
      </p:sp>
      <p:sp>
        <p:nvSpPr>
          <p:cNvPr id="37" name="!!agentdot4"/>
          <p:cNvSpPr/>
          <p:nvPr/>
        </p:nvSpPr>
        <p:spPr>
          <a:xfrm>
            <a:off x="694944" y="4389120"/>
            <a:ext cx="128016" cy="128016"/>
          </a:xfrm>
          <a:prstGeom prst="ellipse">
            <a:avLst/>
          </a:prstGeom>
          <a:solidFill>
            <a:schemeClr val="accent1"/>
          </a:solidFill>
          <a:ln w="6350">
            <a:solidFill>
              <a:schemeClr val="accent1"/>
            </a:solidFill>
            <a:prstDash val="solid"/>
          </a:ln>
        </p:spPr>
      </p:sp>
      <p:sp>
        <p:nvSpPr>
          <p:cNvPr id="38" name="!!agentname4"/>
          <p:cNvSpPr txBox="1"/>
          <p:nvPr/>
        </p:nvSpPr>
        <p:spPr>
          <a:xfrm>
            <a:off x="914400" y="4233672"/>
            <a:ext cx="1920240" cy="438912"/>
          </a:xfrm>
          <a:prstGeom prst="rect">
            <a:avLst/>
          </a:prstGeom>
          <a:noFill/>
          <a:ln/>
        </p:spPr>
        <p:txBody>
          <a:bodyPr wrap="square" lIns="0" tIns="0" rIns="0" bIns="0" rtlCol="0" anchor="ctr"/>
          <a:lstStyle/>
          <a:p>
            <a:pPr indent="0" marL="0">
              <a:buNone/>
            </a:pPr>
            <a:r>
              <a:rPr lang="en-US" sz="1500" dirty="0">
                <a:solidFill>
                  <a:schemeClr val="tx1"/>
                </a:solidFill>
              </a:rPr>
              <a:t>Risk  </a:t>
            </a:r>
            <a:pPr indent="0" marL="0">
              <a:buNone/>
            </a:pPr>
            <a:r>
              <a:rPr lang="en-US" sz="1300" b="1" dirty="0">
                <a:solidFill>
                  <a:schemeClr val="accent1"/>
                </a:solidFill>
              </a:rPr>
              <a:t>✕ crashed</a:t>
            </a:r>
            <a:endParaRPr lang="en-US" sz="1500" dirty="0"/>
          </a:p>
        </p:txBody>
      </p:sp>
      <p:sp>
        <p:nvSpPr>
          <p:cNvPr id="39" name="!!agentarrow4"/>
          <p:cNvSpPr/>
          <p:nvPr/>
        </p:nvSpPr>
        <p:spPr>
          <a:xfrm>
            <a:off x="2898648" y="4453128"/>
            <a:ext cx="512064" cy="0"/>
          </a:xfrm>
          <a:prstGeom prst="line">
            <a:avLst/>
          </a:prstGeom>
          <a:noFill/>
          <a:ln w="12700">
            <a:solidFill>
              <a:schemeClr val="accent1"/>
            </a:solidFill>
            <a:prstDash val="dash"/>
            <a:tailEnd type="triangle"/>
          </a:ln>
        </p:spPr>
      </p:sp>
      <p:sp>
        <p:nvSpPr>
          <p:cNvPr id="40" name="Text 38"/>
          <p:cNvSpPr txBox="1"/>
          <p:nvPr/>
        </p:nvSpPr>
        <p:spPr>
          <a:xfrm>
            <a:off x="3611880" y="4233672"/>
            <a:ext cx="2560320" cy="438912"/>
          </a:xfrm>
          <a:prstGeom prst="rect">
            <a:avLst/>
          </a:prstGeom>
          <a:noFill/>
          <a:ln/>
        </p:spPr>
        <p:txBody>
          <a:bodyPr wrap="square" lIns="0" tIns="0" rIns="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risk/&lt;id&gt;.json</a:t>
            </a:r>
            <a:endParaRPr lang="en-US" sz="1400" dirty="0"/>
          </a:p>
        </p:txBody>
      </p:sp>
      <p:sp>
        <p:nvSpPr>
          <p:cNvPr id="41" name="Text 39"/>
          <p:cNvSpPr txBox="1"/>
          <p:nvPr/>
        </p:nvSpPr>
        <p:spPr>
          <a:xfrm>
            <a:off x="6080760" y="4233672"/>
            <a:ext cx="1965960" cy="438912"/>
          </a:xfrm>
          <a:prstGeom prst="rect">
            <a:avLst/>
          </a:prstGeom>
          <a:noFill/>
          <a:ln/>
        </p:spPr>
        <p:txBody>
          <a:bodyPr wrap="square" lIns="0" tIns="0" rIns="0" bIns="0" rtlCol="0" anchor="ctr"/>
          <a:lstStyle/>
          <a:p>
            <a:pPr algn="r" indent="0" marL="0">
              <a:buNone/>
            </a:pPr>
            <a:r>
              <a:rPr lang="en-US" sz="1200" dirty="0">
                <a:solidFill>
                  <a:schemeClr val="tx2"/>
                </a:solidFill>
                <a:latin typeface="Consolas" pitchFamily="34" charset="0"/>
                <a:ea typeface="Consolas" pitchFamily="34" charset="-122"/>
                <a:cs typeface="Consolas" pitchFamily="34" charset="-120"/>
              </a:rPr>
              <a:t>RiskAssessment</a:t>
            </a:r>
            <a:endParaRPr lang="en-US" sz="1200" dirty="0"/>
          </a:p>
        </p:txBody>
      </p:sp>
      <p:sp>
        <p:nvSpPr>
          <p:cNvPr id="42" name="Shape 40"/>
          <p:cNvSpPr/>
          <p:nvPr/>
        </p:nvSpPr>
        <p:spPr>
          <a:xfrm>
            <a:off x="3611880" y="4736592"/>
            <a:ext cx="4434840" cy="0"/>
          </a:xfrm>
          <a:prstGeom prst="line">
            <a:avLst/>
          </a:prstGeom>
          <a:noFill/>
          <a:ln w="9525">
            <a:solidFill>
              <a:schemeClr val="accent6"/>
            </a:solidFill>
            <a:prstDash val="solid"/>
          </a:ln>
        </p:spPr>
      </p:sp>
      <p:sp>
        <p:nvSpPr>
          <p:cNvPr id="43" name="!!agent5"/>
          <p:cNvSpPr/>
          <p:nvPr/>
        </p:nvSpPr>
        <p:spPr>
          <a:xfrm>
            <a:off x="548640" y="4800600"/>
            <a:ext cx="2331720" cy="438912"/>
          </a:xfrm>
          <a:prstGeom prst="roundRect">
            <a:avLst>
              <a:gd name="adj" fmla="val 16667"/>
            </a:avLst>
          </a:prstGeom>
          <a:solidFill>
            <a:schemeClr val="bg2"/>
          </a:solidFill>
          <a:ln w="9525">
            <a:solidFill>
              <a:schemeClr val="accent6"/>
            </a:solidFill>
            <a:prstDash val="solid"/>
          </a:ln>
        </p:spPr>
      </p:sp>
      <p:sp>
        <p:nvSpPr>
          <p:cNvPr id="44" name="!!agentdot5"/>
          <p:cNvSpPr/>
          <p:nvPr/>
        </p:nvSpPr>
        <p:spPr>
          <a:xfrm>
            <a:off x="694944" y="4956048"/>
            <a:ext cx="128016" cy="128016"/>
          </a:xfrm>
          <a:prstGeom prst="ellipse">
            <a:avLst/>
          </a:prstGeom>
          <a:solidFill>
            <a:schemeClr val="accent2"/>
          </a:solidFill>
          <a:ln w="6350">
            <a:solidFill>
              <a:schemeClr val="accent2"/>
            </a:solidFill>
            <a:prstDash val="solid"/>
          </a:ln>
        </p:spPr>
      </p:sp>
      <p:sp>
        <p:nvSpPr>
          <p:cNvPr id="45" name="!!agentname5"/>
          <p:cNvSpPr txBox="1"/>
          <p:nvPr/>
        </p:nvSpPr>
        <p:spPr>
          <a:xfrm>
            <a:off x="914400" y="4800600"/>
            <a:ext cx="1920240" cy="438912"/>
          </a:xfrm>
          <a:prstGeom prst="rect">
            <a:avLst/>
          </a:prstGeom>
          <a:noFill/>
          <a:ln/>
        </p:spPr>
        <p:txBody>
          <a:bodyPr wrap="square" lIns="0" tIns="0" rIns="0" bIns="0" rtlCol="0" anchor="ctr"/>
          <a:lstStyle/>
          <a:p>
            <a:pPr indent="0" marL="0">
              <a:buNone/>
            </a:pPr>
            <a:r>
              <a:rPr lang="en-US" sz="1500" dirty="0">
                <a:solidFill>
                  <a:schemeClr val="tx1"/>
                </a:solidFill>
              </a:rPr>
              <a:t>Fix</a:t>
            </a:r>
            <a:endParaRPr lang="en-US" sz="1500" dirty="0"/>
          </a:p>
        </p:txBody>
      </p:sp>
      <p:sp>
        <p:nvSpPr>
          <p:cNvPr id="46" name="!!agentarrow5"/>
          <p:cNvSpPr/>
          <p:nvPr/>
        </p:nvSpPr>
        <p:spPr>
          <a:xfrm>
            <a:off x="2898648" y="5020056"/>
            <a:ext cx="512064" cy="0"/>
          </a:xfrm>
          <a:prstGeom prst="line">
            <a:avLst/>
          </a:prstGeom>
          <a:noFill/>
          <a:ln w="12700">
            <a:solidFill>
              <a:schemeClr val="accent5"/>
            </a:solidFill>
            <a:prstDash val="solid"/>
            <a:tailEnd type="triangle"/>
          </a:ln>
        </p:spPr>
      </p:sp>
      <p:sp>
        <p:nvSpPr>
          <p:cNvPr id="47" name="Text 45"/>
          <p:cNvSpPr txBox="1"/>
          <p:nvPr/>
        </p:nvSpPr>
        <p:spPr>
          <a:xfrm>
            <a:off x="3611880" y="4800600"/>
            <a:ext cx="2560320" cy="438912"/>
          </a:xfrm>
          <a:prstGeom prst="rect">
            <a:avLst/>
          </a:prstGeom>
          <a:noFill/>
          <a:ln/>
        </p:spPr>
        <p:txBody>
          <a:bodyPr wrap="square" lIns="0" tIns="0" rIns="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fixes/&lt;id&gt;.json</a:t>
            </a:r>
            <a:endParaRPr lang="en-US" sz="1400" dirty="0"/>
          </a:p>
        </p:txBody>
      </p:sp>
      <p:sp>
        <p:nvSpPr>
          <p:cNvPr id="48" name="Text 46"/>
          <p:cNvSpPr txBox="1"/>
          <p:nvPr/>
        </p:nvSpPr>
        <p:spPr>
          <a:xfrm>
            <a:off x="6080760" y="4800600"/>
            <a:ext cx="1965960" cy="438912"/>
          </a:xfrm>
          <a:prstGeom prst="rect">
            <a:avLst/>
          </a:prstGeom>
          <a:noFill/>
          <a:ln/>
        </p:spPr>
        <p:txBody>
          <a:bodyPr wrap="square" lIns="0" tIns="0" rIns="0" bIns="0" rtlCol="0" anchor="ctr"/>
          <a:lstStyle/>
          <a:p>
            <a:pPr algn="r" indent="0" marL="0">
              <a:buNone/>
            </a:pPr>
            <a:r>
              <a:rPr lang="en-US" sz="1200" dirty="0">
                <a:solidFill>
                  <a:schemeClr val="tx2"/>
                </a:solidFill>
                <a:latin typeface="Consolas" pitchFamily="34" charset="0"/>
                <a:ea typeface="Consolas" pitchFamily="34" charset="-122"/>
                <a:cs typeface="Consolas" pitchFamily="34" charset="-120"/>
              </a:rPr>
              <a:t>FixRecommendation</a:t>
            </a:r>
            <a:endParaRPr lang="en-US" sz="1200" dirty="0"/>
          </a:p>
        </p:txBody>
      </p:sp>
      <p:sp>
        <p:nvSpPr>
          <p:cNvPr id="49" name="Shape 47"/>
          <p:cNvSpPr/>
          <p:nvPr/>
        </p:nvSpPr>
        <p:spPr>
          <a:xfrm>
            <a:off x="3611880" y="5303520"/>
            <a:ext cx="4434840" cy="0"/>
          </a:xfrm>
          <a:prstGeom prst="line">
            <a:avLst/>
          </a:prstGeom>
          <a:noFill/>
          <a:ln w="9525">
            <a:solidFill>
              <a:schemeClr val="accent6"/>
            </a:solidFill>
            <a:prstDash val="solid"/>
          </a:ln>
        </p:spPr>
      </p:sp>
      <p:sp>
        <p:nvSpPr>
          <p:cNvPr id="50" name="!!agent6"/>
          <p:cNvSpPr/>
          <p:nvPr/>
        </p:nvSpPr>
        <p:spPr>
          <a:xfrm>
            <a:off x="548640" y="5367528"/>
            <a:ext cx="2331720" cy="438912"/>
          </a:xfrm>
          <a:prstGeom prst="roundRect">
            <a:avLst>
              <a:gd name="adj" fmla="val 16667"/>
            </a:avLst>
          </a:prstGeom>
          <a:solidFill>
            <a:schemeClr val="bg2"/>
          </a:solidFill>
          <a:ln w="9525">
            <a:solidFill>
              <a:schemeClr val="accent6"/>
            </a:solidFill>
            <a:prstDash val="solid"/>
          </a:ln>
        </p:spPr>
      </p:sp>
      <p:sp>
        <p:nvSpPr>
          <p:cNvPr id="51" name="!!agentdot6"/>
          <p:cNvSpPr/>
          <p:nvPr/>
        </p:nvSpPr>
        <p:spPr>
          <a:xfrm>
            <a:off x="694944" y="5522976"/>
            <a:ext cx="128016" cy="128016"/>
          </a:xfrm>
          <a:prstGeom prst="ellipse">
            <a:avLst/>
          </a:prstGeom>
          <a:solidFill>
            <a:schemeClr val="accent2"/>
          </a:solidFill>
          <a:ln w="6350">
            <a:solidFill>
              <a:schemeClr val="accent2"/>
            </a:solidFill>
            <a:prstDash val="solid"/>
          </a:ln>
        </p:spPr>
      </p:sp>
      <p:sp>
        <p:nvSpPr>
          <p:cNvPr id="52" name="!!agentname6"/>
          <p:cNvSpPr txBox="1"/>
          <p:nvPr/>
        </p:nvSpPr>
        <p:spPr>
          <a:xfrm>
            <a:off x="914400" y="5367528"/>
            <a:ext cx="1920240" cy="438912"/>
          </a:xfrm>
          <a:prstGeom prst="rect">
            <a:avLst/>
          </a:prstGeom>
          <a:noFill/>
          <a:ln/>
        </p:spPr>
        <p:txBody>
          <a:bodyPr wrap="square" lIns="0" tIns="0" rIns="0" bIns="0" rtlCol="0" anchor="ctr"/>
          <a:lstStyle/>
          <a:p>
            <a:pPr indent="0" marL="0">
              <a:buNone/>
            </a:pPr>
            <a:r>
              <a:rPr lang="en-US" sz="1500" dirty="0">
                <a:solidFill>
                  <a:schemeClr val="tx1"/>
                </a:solidFill>
              </a:rPr>
              <a:t>Scorecard</a:t>
            </a:r>
            <a:endParaRPr lang="en-US" sz="1500" dirty="0"/>
          </a:p>
        </p:txBody>
      </p:sp>
      <p:sp>
        <p:nvSpPr>
          <p:cNvPr id="53" name="!!agentarrow6"/>
          <p:cNvSpPr/>
          <p:nvPr/>
        </p:nvSpPr>
        <p:spPr>
          <a:xfrm>
            <a:off x="2898648" y="5586984"/>
            <a:ext cx="512064" cy="0"/>
          </a:xfrm>
          <a:prstGeom prst="line">
            <a:avLst/>
          </a:prstGeom>
          <a:noFill/>
          <a:ln w="12700">
            <a:solidFill>
              <a:schemeClr val="accent5"/>
            </a:solidFill>
            <a:prstDash val="solid"/>
            <a:tailEnd type="triangle"/>
          </a:ln>
        </p:spPr>
      </p:sp>
      <p:sp>
        <p:nvSpPr>
          <p:cNvPr id="54" name="Text 52"/>
          <p:cNvSpPr txBox="1"/>
          <p:nvPr/>
        </p:nvSpPr>
        <p:spPr>
          <a:xfrm>
            <a:off x="3611880" y="5367528"/>
            <a:ext cx="2560320" cy="438912"/>
          </a:xfrm>
          <a:prstGeom prst="rect">
            <a:avLst/>
          </a:prstGeom>
          <a:noFill/>
          <a:ln/>
        </p:spPr>
        <p:txBody>
          <a:bodyPr wrap="square" lIns="0" tIns="0" rIns="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scorecard.json</a:t>
            </a:r>
            <a:endParaRPr lang="en-US" sz="1400" dirty="0"/>
          </a:p>
        </p:txBody>
      </p:sp>
      <p:sp>
        <p:nvSpPr>
          <p:cNvPr id="55" name="Text 53"/>
          <p:cNvSpPr txBox="1"/>
          <p:nvPr/>
        </p:nvSpPr>
        <p:spPr>
          <a:xfrm>
            <a:off x="6080760" y="5367528"/>
            <a:ext cx="1965960" cy="438912"/>
          </a:xfrm>
          <a:prstGeom prst="rect">
            <a:avLst/>
          </a:prstGeom>
          <a:noFill/>
          <a:ln/>
        </p:spPr>
        <p:txBody>
          <a:bodyPr wrap="square" lIns="0" tIns="0" rIns="0" bIns="0" rtlCol="0" anchor="ctr"/>
          <a:lstStyle/>
          <a:p>
            <a:pPr algn="r" indent="0" marL="0">
              <a:buNone/>
            </a:pPr>
            <a:r>
              <a:rPr lang="en-US" sz="1200" dirty="0">
                <a:solidFill>
                  <a:schemeClr val="tx2"/>
                </a:solidFill>
                <a:latin typeface="Consolas" pitchFamily="34" charset="0"/>
                <a:ea typeface="Consolas" pitchFamily="34" charset="-122"/>
                <a:cs typeface="Consolas" pitchFamily="34" charset="-120"/>
              </a:rPr>
              <a:t>Scorecard</a:t>
            </a:r>
            <a:endParaRPr lang="en-US" sz="1200" dirty="0"/>
          </a:p>
        </p:txBody>
      </p:sp>
      <p:sp>
        <p:nvSpPr>
          <p:cNvPr id="56" name="!!intact"/>
          <p:cNvSpPr/>
          <p:nvPr/>
        </p:nvSpPr>
        <p:spPr>
          <a:xfrm>
            <a:off x="3502152" y="3639312"/>
            <a:ext cx="4654296" cy="493776"/>
          </a:xfrm>
          <a:prstGeom prst="roundRect">
            <a:avLst>
              <a:gd name="adj" fmla="val 14815"/>
            </a:avLst>
          </a:prstGeom>
          <a:solidFill>
            <a:schemeClr val="bg2"/>
          </a:solidFill>
          <a:ln w="15875">
            <a:solidFill>
              <a:schemeClr val="accent2"/>
            </a:solidFill>
            <a:prstDash val="solid"/>
          </a:ln>
        </p:spPr>
      </p:sp>
      <p:sp>
        <p:nvSpPr>
          <p:cNvPr id="57" name="Text 55"/>
          <p:cNvSpPr txBox="1"/>
          <p:nvPr/>
        </p:nvSpPr>
        <p:spPr>
          <a:xfrm>
            <a:off x="3611880" y="3666744"/>
            <a:ext cx="2560320" cy="438912"/>
          </a:xfrm>
          <a:prstGeom prst="rect">
            <a:avLst/>
          </a:prstGeom>
          <a:noFill/>
          <a:ln/>
        </p:spPr>
        <p:txBody>
          <a:bodyPr wrap="square" lIns="0" tIns="0" rIns="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experiments/&lt;id&gt;.json</a:t>
            </a:r>
            <a:endParaRPr lang="en-US" sz="1400" dirty="0"/>
          </a:p>
        </p:txBody>
      </p:sp>
      <p:sp>
        <p:nvSpPr>
          <p:cNvPr id="58" name="Text 56"/>
          <p:cNvSpPr txBox="1"/>
          <p:nvPr/>
        </p:nvSpPr>
        <p:spPr>
          <a:xfrm>
            <a:off x="6080760" y="3666744"/>
            <a:ext cx="1965960" cy="438912"/>
          </a:xfrm>
          <a:prstGeom prst="rect">
            <a:avLst/>
          </a:prstGeom>
          <a:noFill/>
          <a:ln/>
        </p:spPr>
        <p:txBody>
          <a:bodyPr wrap="square" lIns="0" tIns="0" rIns="0" bIns="0" rtlCol="0" anchor="ctr"/>
          <a:lstStyle/>
          <a:p>
            <a:pPr algn="r" indent="0" marL="0">
              <a:buNone/>
            </a:pPr>
            <a:r>
              <a:rPr lang="en-US" sz="1200" dirty="0">
                <a:solidFill>
                  <a:schemeClr val="accent2"/>
                </a:solidFill>
                <a:latin typeface="Consolas" pitchFamily="34" charset="0"/>
                <a:ea typeface="Consolas" pitchFamily="34" charset="-122"/>
                <a:cs typeface="Consolas" pitchFamily="34" charset="-120"/>
              </a:rPr>
              <a:t>intact on disk</a:t>
            </a:r>
            <a:endParaRPr lang="en-US" sz="1200" dirty="0"/>
          </a:p>
        </p:txBody>
      </p:sp>
      <p:sp>
        <p:nvSpPr>
          <p:cNvPr id="59" name="!!reader0"/>
          <p:cNvSpPr/>
          <p:nvPr/>
        </p:nvSpPr>
        <p:spPr>
          <a:xfrm>
            <a:off x="8641080" y="1965960"/>
            <a:ext cx="2999232" cy="585216"/>
          </a:xfrm>
          <a:prstGeom prst="roundRect">
            <a:avLst>
              <a:gd name="adj" fmla="val 12500"/>
            </a:avLst>
          </a:prstGeom>
          <a:solidFill>
            <a:schemeClr val="bg2"/>
          </a:solidFill>
          <a:ln w="9525">
            <a:solidFill>
              <a:schemeClr val="accent6"/>
            </a:solidFill>
            <a:prstDash val="solid"/>
          </a:ln>
        </p:spPr>
      </p:sp>
      <p:sp>
        <p:nvSpPr>
          <p:cNvPr id="60" name="Text 58"/>
          <p:cNvSpPr txBox="1"/>
          <p:nvPr/>
        </p:nvSpPr>
        <p:spPr>
          <a:xfrm>
            <a:off x="8796528" y="2020824"/>
            <a:ext cx="2743200" cy="256032"/>
          </a:xfrm>
          <a:prstGeom prst="rect">
            <a:avLst/>
          </a:prstGeom>
          <a:noFill/>
          <a:ln/>
        </p:spPr>
        <p:txBody>
          <a:bodyPr wrap="square" lIns="0" tIns="0" rIns="0" bIns="0" rtlCol="0" anchor="ctr"/>
          <a:lstStyle/>
          <a:p>
            <a:pPr indent="0" marL="0">
              <a:buNone/>
            </a:pPr>
            <a:r>
              <a:rPr lang="en-US" sz="1400" b="1" dirty="0">
                <a:solidFill>
                  <a:schemeClr val="tx1"/>
                </a:solidFill>
              </a:rPr>
              <a:t>Control room  :8765</a:t>
            </a:r>
            <a:endParaRPr lang="en-US" sz="1400" dirty="0"/>
          </a:p>
        </p:txBody>
      </p:sp>
      <p:sp>
        <p:nvSpPr>
          <p:cNvPr id="61" name="Text 59"/>
          <p:cNvSpPr txBox="1"/>
          <p:nvPr/>
        </p:nvSpPr>
        <p:spPr>
          <a:xfrm>
            <a:off x="8796528" y="2267712"/>
            <a:ext cx="2743200" cy="228600"/>
          </a:xfrm>
          <a:prstGeom prst="rect">
            <a:avLst/>
          </a:prstGeom>
          <a:noFill/>
          <a:ln/>
        </p:spPr>
        <p:txBody>
          <a:bodyPr wrap="square" lIns="0" tIns="0" rIns="0" bIns="0" rtlCol="0" anchor="ctr"/>
          <a:lstStyle/>
          <a:p>
            <a:pPr indent="0" marL="0">
              <a:buNone/>
            </a:pPr>
            <a:r>
              <a:rPr lang="en-US" sz="1100" dirty="0">
                <a:solidFill>
                  <a:schemeClr val="tx2"/>
                </a:solidFill>
              </a:rPr>
              <a:t>renders one snapshot of the board</a:t>
            </a:r>
            <a:endParaRPr lang="en-US" sz="1100" dirty="0"/>
          </a:p>
        </p:txBody>
      </p:sp>
      <p:sp>
        <p:nvSpPr>
          <p:cNvPr id="62" name="!!readerarrow0"/>
          <p:cNvSpPr/>
          <p:nvPr/>
        </p:nvSpPr>
        <p:spPr>
          <a:xfrm>
            <a:off x="8229600" y="2258568"/>
            <a:ext cx="393192" cy="0"/>
          </a:xfrm>
          <a:prstGeom prst="line">
            <a:avLst/>
          </a:prstGeom>
          <a:noFill/>
          <a:ln w="12700">
            <a:solidFill>
              <a:schemeClr val="accent5"/>
            </a:solidFill>
            <a:prstDash val="solid"/>
            <a:tailEnd type="triangle"/>
          </a:ln>
        </p:spPr>
      </p:sp>
      <p:sp>
        <p:nvSpPr>
          <p:cNvPr id="63" name="!!reader1"/>
          <p:cNvSpPr/>
          <p:nvPr/>
        </p:nvSpPr>
        <p:spPr>
          <a:xfrm>
            <a:off x="8641080" y="2670048"/>
            <a:ext cx="2999232" cy="585216"/>
          </a:xfrm>
          <a:prstGeom prst="roundRect">
            <a:avLst>
              <a:gd name="adj" fmla="val 12500"/>
            </a:avLst>
          </a:prstGeom>
          <a:solidFill>
            <a:schemeClr val="bg2"/>
          </a:solidFill>
          <a:ln w="9525">
            <a:solidFill>
              <a:schemeClr val="accent6"/>
            </a:solidFill>
            <a:prstDash val="solid"/>
          </a:ln>
        </p:spPr>
      </p:sp>
      <p:sp>
        <p:nvSpPr>
          <p:cNvPr id="64" name="Text 62"/>
          <p:cNvSpPr txBox="1"/>
          <p:nvPr/>
        </p:nvSpPr>
        <p:spPr>
          <a:xfrm>
            <a:off x="8796528" y="2724912"/>
            <a:ext cx="2743200" cy="256032"/>
          </a:xfrm>
          <a:prstGeom prst="rect">
            <a:avLst/>
          </a:prstGeom>
          <a:noFill/>
          <a:ln/>
        </p:spPr>
        <p:txBody>
          <a:bodyPr wrap="square" lIns="0" tIns="0" rIns="0" bIns="0" rtlCol="0" anchor="ctr"/>
          <a:lstStyle/>
          <a:p>
            <a:pPr indent="0" marL="0">
              <a:buNone/>
            </a:pPr>
            <a:r>
              <a:rPr lang="en-US" sz="1400" b="1" dirty="0">
                <a:solidFill>
                  <a:schemeClr val="tx1"/>
                </a:solidFill>
              </a:rPr>
              <a:t>CLI  faultline &lt;cmd&gt;</a:t>
            </a:r>
            <a:endParaRPr lang="en-US" sz="1400" dirty="0"/>
          </a:p>
        </p:txBody>
      </p:sp>
      <p:sp>
        <p:nvSpPr>
          <p:cNvPr id="65" name="Text 63"/>
          <p:cNvSpPr txBox="1"/>
          <p:nvPr/>
        </p:nvSpPr>
        <p:spPr>
          <a:xfrm>
            <a:off x="8796528" y="2971800"/>
            <a:ext cx="2743200" cy="228600"/>
          </a:xfrm>
          <a:prstGeom prst="rect">
            <a:avLst/>
          </a:prstGeom>
          <a:noFill/>
          <a:ln/>
        </p:spPr>
        <p:txBody>
          <a:bodyPr wrap="square" lIns="0" tIns="0" rIns="0" bIns="0" rtlCol="0" anchor="ctr"/>
          <a:lstStyle/>
          <a:p>
            <a:pPr indent="0" marL="0">
              <a:buNone/>
            </a:pPr>
            <a:r>
              <a:rPr lang="en-US" sz="1100" dirty="0">
                <a:solidFill>
                  <a:schemeClr val="tx2"/>
                </a:solidFill>
              </a:rPr>
              <a:t>same files, same schemas</a:t>
            </a:r>
            <a:endParaRPr lang="en-US" sz="1100" dirty="0"/>
          </a:p>
        </p:txBody>
      </p:sp>
      <p:sp>
        <p:nvSpPr>
          <p:cNvPr id="66" name="!!readerarrow1"/>
          <p:cNvSpPr/>
          <p:nvPr/>
        </p:nvSpPr>
        <p:spPr>
          <a:xfrm>
            <a:off x="8229600" y="2962656"/>
            <a:ext cx="393192" cy="0"/>
          </a:xfrm>
          <a:prstGeom prst="line">
            <a:avLst/>
          </a:prstGeom>
          <a:noFill/>
          <a:ln w="12700">
            <a:solidFill>
              <a:schemeClr val="accent5"/>
            </a:solidFill>
            <a:prstDash val="solid"/>
            <a:tailEnd type="triangle"/>
          </a:ln>
        </p:spPr>
      </p:sp>
      <p:sp>
        <p:nvSpPr>
          <p:cNvPr id="67" name="!!reader2"/>
          <p:cNvSpPr/>
          <p:nvPr/>
        </p:nvSpPr>
        <p:spPr>
          <a:xfrm>
            <a:off x="8641080" y="3374136"/>
            <a:ext cx="2999232" cy="585216"/>
          </a:xfrm>
          <a:prstGeom prst="roundRect">
            <a:avLst>
              <a:gd name="adj" fmla="val 12500"/>
            </a:avLst>
          </a:prstGeom>
          <a:solidFill>
            <a:schemeClr val="bg2"/>
          </a:solidFill>
          <a:ln w="9525">
            <a:solidFill>
              <a:schemeClr val="accent6"/>
            </a:solidFill>
            <a:prstDash val="solid"/>
          </a:ln>
        </p:spPr>
      </p:sp>
      <p:sp>
        <p:nvSpPr>
          <p:cNvPr id="68" name="Text 66"/>
          <p:cNvSpPr txBox="1"/>
          <p:nvPr/>
        </p:nvSpPr>
        <p:spPr>
          <a:xfrm>
            <a:off x="8796528" y="3429000"/>
            <a:ext cx="2743200" cy="256032"/>
          </a:xfrm>
          <a:prstGeom prst="rect">
            <a:avLst/>
          </a:prstGeom>
          <a:noFill/>
          <a:ln/>
        </p:spPr>
        <p:txBody>
          <a:bodyPr wrap="square" lIns="0" tIns="0" rIns="0" bIns="0" rtlCol="0" anchor="ctr"/>
          <a:lstStyle/>
          <a:p>
            <a:pPr indent="0" marL="0">
              <a:buNone/>
            </a:pPr>
            <a:r>
              <a:rPr lang="en-US" sz="1400" b="1" dirty="0">
                <a:solidFill>
                  <a:schemeClr val="tx1"/>
                </a:solidFill>
              </a:rPr>
              <a:t>Narrator</a:t>
            </a:r>
            <a:endParaRPr lang="en-US" sz="1400" dirty="0"/>
          </a:p>
        </p:txBody>
      </p:sp>
      <p:sp>
        <p:nvSpPr>
          <p:cNvPr id="69" name="Text 67"/>
          <p:cNvSpPr txBox="1"/>
          <p:nvPr/>
        </p:nvSpPr>
        <p:spPr>
          <a:xfrm>
            <a:off x="8796528" y="3675888"/>
            <a:ext cx="2743200" cy="228600"/>
          </a:xfrm>
          <a:prstGeom prst="rect">
            <a:avLst/>
          </a:prstGeom>
          <a:noFill/>
          <a:ln/>
        </p:spPr>
        <p:txBody>
          <a:bodyPr wrap="square" lIns="0" tIns="0" rIns="0" bIns="0" rtlCol="0" anchor="ctr"/>
          <a:lstStyle/>
          <a:p>
            <a:pPr indent="0" marL="0">
              <a:buNone/>
            </a:pPr>
            <a:r>
              <a:rPr lang="en-US" sz="1100" dirty="0">
                <a:solidFill>
                  <a:schemeClr val="tx2"/>
                </a:solidFill>
              </a:rPr>
              <a:t>plain-English play-by-play</a:t>
            </a:r>
            <a:endParaRPr lang="en-US" sz="1100" dirty="0"/>
          </a:p>
        </p:txBody>
      </p:sp>
      <p:sp>
        <p:nvSpPr>
          <p:cNvPr id="70" name="!!readerarrow2"/>
          <p:cNvSpPr/>
          <p:nvPr/>
        </p:nvSpPr>
        <p:spPr>
          <a:xfrm>
            <a:off x="8229600" y="3666744"/>
            <a:ext cx="393192" cy="0"/>
          </a:xfrm>
          <a:prstGeom prst="line">
            <a:avLst/>
          </a:prstGeom>
          <a:noFill/>
          <a:ln w="12700">
            <a:solidFill>
              <a:schemeClr val="accent5"/>
            </a:solidFill>
            <a:prstDash val="solid"/>
            <a:tailEnd type="triangle"/>
          </a:ln>
        </p:spPr>
      </p:sp>
      <p:sp>
        <p:nvSpPr>
          <p:cNvPr id="71" name="!!reader3"/>
          <p:cNvSpPr/>
          <p:nvPr/>
        </p:nvSpPr>
        <p:spPr>
          <a:xfrm>
            <a:off x="8641080" y="4078224"/>
            <a:ext cx="2999232" cy="585216"/>
          </a:xfrm>
          <a:prstGeom prst="roundRect">
            <a:avLst>
              <a:gd name="adj" fmla="val 12500"/>
            </a:avLst>
          </a:prstGeom>
          <a:solidFill>
            <a:schemeClr val="bg2"/>
          </a:solidFill>
          <a:ln w="9525">
            <a:solidFill>
              <a:schemeClr val="accent6"/>
            </a:solidFill>
            <a:prstDash val="solid"/>
          </a:ln>
        </p:spPr>
      </p:sp>
      <p:sp>
        <p:nvSpPr>
          <p:cNvPr id="72" name="Text 70"/>
          <p:cNvSpPr txBox="1"/>
          <p:nvPr/>
        </p:nvSpPr>
        <p:spPr>
          <a:xfrm>
            <a:off x="8796528" y="4133088"/>
            <a:ext cx="2743200" cy="256032"/>
          </a:xfrm>
          <a:prstGeom prst="rect">
            <a:avLst/>
          </a:prstGeom>
          <a:noFill/>
          <a:ln/>
        </p:spPr>
        <p:txBody>
          <a:bodyPr wrap="square" lIns="0" tIns="0" rIns="0" bIns="0" rtlCol="0" anchor="ctr"/>
          <a:lstStyle/>
          <a:p>
            <a:pPr indent="0" marL="0">
              <a:buNone/>
            </a:pPr>
            <a:r>
              <a:rPr lang="en-US" sz="1400" b="1" dirty="0">
                <a:solidFill>
                  <a:schemeClr val="tx1"/>
                </a:solidFill>
              </a:rPr>
              <a:t>Guardian</a:t>
            </a:r>
            <a:endParaRPr lang="en-US" sz="1400" dirty="0"/>
          </a:p>
        </p:txBody>
      </p:sp>
      <p:sp>
        <p:nvSpPr>
          <p:cNvPr id="73" name="Text 71"/>
          <p:cNvSpPr txBox="1"/>
          <p:nvPr/>
        </p:nvSpPr>
        <p:spPr>
          <a:xfrm>
            <a:off x="8796528" y="4379976"/>
            <a:ext cx="2743200" cy="228600"/>
          </a:xfrm>
          <a:prstGeom prst="rect">
            <a:avLst/>
          </a:prstGeom>
          <a:noFill/>
          <a:ln/>
        </p:spPr>
        <p:txBody>
          <a:bodyPr wrap="square" lIns="0" tIns="0" rIns="0" bIns="0" rtlCol="0" anchor="ctr"/>
          <a:lstStyle/>
          <a:p>
            <a:pPr indent="0" marL="0">
              <a:buNone/>
            </a:pPr>
            <a:r>
              <a:rPr lang="en-US" sz="1100" dirty="0">
                <a:solidFill>
                  <a:schemeClr val="tx2"/>
                </a:solidFill>
              </a:rPr>
              <a:t>own process · watches live.json + STOP</a:t>
            </a:r>
            <a:endParaRPr lang="en-US" sz="1100" dirty="0"/>
          </a:p>
        </p:txBody>
      </p:sp>
      <p:sp>
        <p:nvSpPr>
          <p:cNvPr id="74" name="!!readerarrow3"/>
          <p:cNvSpPr/>
          <p:nvPr/>
        </p:nvSpPr>
        <p:spPr>
          <a:xfrm>
            <a:off x="8229600" y="4370832"/>
            <a:ext cx="393192" cy="0"/>
          </a:xfrm>
          <a:prstGeom prst="line">
            <a:avLst/>
          </a:prstGeom>
          <a:noFill/>
          <a:ln w="12700">
            <a:solidFill>
              <a:schemeClr val="accent5"/>
            </a:solidFill>
            <a:prstDash val="solid"/>
            <a:tailEnd type="triangle"/>
          </a:ln>
        </p:spPr>
      </p:sp>
      <p:sp>
        <p:nvSpPr>
          <p:cNvPr id="75" name="!!callout"/>
          <p:cNvSpPr/>
          <p:nvPr/>
        </p:nvSpPr>
        <p:spPr>
          <a:xfrm>
            <a:off x="8641080" y="4846320"/>
            <a:ext cx="2999232" cy="1097280"/>
          </a:xfrm>
          <a:prstGeom prst="roundRect">
            <a:avLst>
              <a:gd name="adj" fmla="val 6667"/>
            </a:avLst>
          </a:prstGeom>
          <a:solidFill>
            <a:schemeClr val="bg1"/>
          </a:solidFill>
          <a:ln w="15875">
            <a:solidFill>
              <a:schemeClr val="accent1"/>
            </a:solidFill>
            <a:prstDash val="solid"/>
          </a:ln>
        </p:spPr>
      </p:sp>
      <p:sp>
        <p:nvSpPr>
          <p:cNvPr id="76" name="!!callouttext"/>
          <p:cNvSpPr txBox="1"/>
          <p:nvPr/>
        </p:nvSpPr>
        <p:spPr>
          <a:xfrm>
            <a:off x="8796528" y="4919472"/>
            <a:ext cx="2724912" cy="96012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Its input is still on disk. Re-run it alone:</a:t>
            </a:r>
            <a:endParaRPr lang="en-US" sz="1300" dirty="0"/>
          </a:p>
          <a:p>
            <a:pPr indent="0" marL="0">
              <a:spcAft>
                <a:spcPts val="600"/>
              </a:spcAft>
              <a:buNone/>
            </a:pPr>
            <a:r>
              <a:rPr lang="en-US" sz="1400" dirty="0">
                <a:solidFill>
                  <a:schemeClr val="accent2"/>
                </a:solidFill>
                <a:latin typeface="Consolas" pitchFamily="34" charset="0"/>
                <a:ea typeface="Consolas" pitchFamily="34" charset="-122"/>
                <a:cs typeface="Consolas" pitchFamily="34" charset="-120"/>
              </a:rPr>
              <a:t>faultline risk &lt;id&gt;</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spc="200" kern="0" dirty="0">
                <a:solidFill>
                  <a:schemeClr val="accent3"/>
                </a:solidFill>
                <a:latin typeface="Consolas" pitchFamily="34" charset="0"/>
                <a:ea typeface="Consolas" pitchFamily="34" charset="-122"/>
                <a:cs typeface="Consolas" pitchFamily="34" charset="-120"/>
              </a:rPr>
              <a:t>03 · DATA QUALITY</a:t>
            </a:r>
            <a:endParaRPr lang="en-US" sz="1200" dirty="0"/>
          </a:p>
        </p:txBody>
      </p:sp>
      <p:sp>
        <p:nvSpPr>
          <p:cNvPr id="3" name="Text 1"/>
          <p:cNvSpPr/>
          <p:nvPr>
            <p:ph idx="102" type="title" hasCustomPrompt="1"/>
          </p:nvPr>
        </p:nvSpPr>
        <p:spPr>
          <a:xfrm>
            <a:off x="548640" y="676656"/>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How it knows its own output is true</a:t>
            </a:r>
            <a:endParaRPr lang="en-US" sz="3400" dirty="0"/>
          </a:p>
        </p:txBody>
      </p:sp>
      <p:sp>
        <p:nvSpPr>
          <p:cNvPr id="4" name="Shape 2"/>
          <p:cNvSpPr/>
          <p:nvPr/>
        </p:nvSpPr>
        <p:spPr>
          <a:xfrm>
            <a:off x="548640" y="1645920"/>
            <a:ext cx="6172200" cy="914400"/>
          </a:xfrm>
          <a:prstGeom prst="roundRect">
            <a:avLst>
              <a:gd name="adj" fmla="val 8000"/>
            </a:avLst>
          </a:prstGeom>
          <a:solidFill>
            <a:schemeClr val="bg2"/>
          </a:solidFill>
          <a:ln w="9525">
            <a:solidFill>
              <a:schemeClr val="accent6"/>
            </a:solidFill>
            <a:prstDash val="solid"/>
          </a:ln>
        </p:spPr>
      </p:sp>
      <p:sp>
        <p:nvSpPr>
          <p:cNvPr id="5" name="Text 3"/>
          <p:cNvSpPr txBox="1"/>
          <p:nvPr/>
        </p:nvSpPr>
        <p:spPr>
          <a:xfrm>
            <a:off x="731520" y="1773936"/>
            <a:ext cx="457200" cy="274320"/>
          </a:xfrm>
          <a:prstGeom prst="rect">
            <a:avLst/>
          </a:prstGeom>
          <a:noFill/>
          <a:ln/>
        </p:spPr>
        <p:txBody>
          <a:bodyPr wrap="square" lIns="0" tIns="0" rIns="0" bIns="0" rtlCol="0" anchor="ctr"/>
          <a:lstStyle/>
          <a:p>
            <a:pPr indent="0" marL="0">
              <a:buNone/>
            </a:pPr>
            <a:r>
              <a:rPr lang="en-US" sz="1400" b="1" dirty="0">
                <a:solidFill>
                  <a:schemeClr val="accent2"/>
                </a:solidFill>
                <a:latin typeface="Consolas" pitchFamily="34" charset="0"/>
                <a:ea typeface="Consolas" pitchFamily="34" charset="-122"/>
                <a:cs typeface="Consolas" pitchFamily="34" charset="-120"/>
              </a:rPr>
              <a:t>01</a:t>
            </a:r>
            <a:endParaRPr lang="en-US" sz="1400" dirty="0"/>
          </a:p>
        </p:txBody>
      </p:sp>
      <p:sp>
        <p:nvSpPr>
          <p:cNvPr id="6" name="Text 4"/>
          <p:cNvSpPr txBox="1"/>
          <p:nvPr/>
        </p:nvSpPr>
        <p:spPr>
          <a:xfrm>
            <a:off x="1234440" y="1737360"/>
            <a:ext cx="5349240" cy="310896"/>
          </a:xfrm>
          <a:prstGeom prst="rect">
            <a:avLst/>
          </a:prstGeom>
          <a:noFill/>
          <a:ln/>
        </p:spPr>
        <p:txBody>
          <a:bodyPr wrap="square" lIns="0" tIns="0" rIns="0" bIns="0" rtlCol="0" anchor="ctr"/>
          <a:lstStyle/>
          <a:p>
            <a:pPr indent="0" marL="0">
              <a:buNone/>
            </a:pPr>
            <a:r>
              <a:rPr lang="en-US" sz="1700" b="1" dirty="0">
                <a:solidFill>
                  <a:schemeClr val="tx1"/>
                </a:solidFill>
              </a:rPr>
              <a:t>Typed before it touches disk</a:t>
            </a:r>
            <a:endParaRPr lang="en-US" sz="1700" dirty="0"/>
          </a:p>
        </p:txBody>
      </p:sp>
      <p:sp>
        <p:nvSpPr>
          <p:cNvPr id="7" name="Text 5"/>
          <p:cNvSpPr txBox="1"/>
          <p:nvPr/>
        </p:nvSpPr>
        <p:spPr>
          <a:xfrm>
            <a:off x="1234440" y="2029968"/>
            <a:ext cx="5349240" cy="475488"/>
          </a:xfrm>
          <a:prstGeom prst="rect">
            <a:avLst/>
          </a:prstGeom>
          <a:noFill/>
          <a:ln/>
        </p:spPr>
        <p:txBody>
          <a:bodyPr wrap="square" lIns="0" tIns="0" rIns="0" bIns="0" rtlCol="0" anchor="t"/>
          <a:lstStyle/>
          <a:p>
            <a:pPr indent="0" marL="0">
              <a:buNone/>
            </a:pPr>
            <a:r>
              <a:rPr lang="en-US" sz="1300" dirty="0">
                <a:solidFill>
                  <a:schemeClr val="tx2"/>
                </a:solidFill>
              </a:rPr>
              <a:t>Each report is a Pydantic model, written atomically (tmp → rename) and re-validated on read. LLM output that fails its schema is dropped.</a:t>
            </a:r>
            <a:endParaRPr lang="en-US" sz="1300" dirty="0"/>
          </a:p>
        </p:txBody>
      </p:sp>
      <p:sp>
        <p:nvSpPr>
          <p:cNvPr id="8" name="Shape 6"/>
          <p:cNvSpPr/>
          <p:nvPr/>
        </p:nvSpPr>
        <p:spPr>
          <a:xfrm>
            <a:off x="548640" y="2670048"/>
            <a:ext cx="6172200" cy="914400"/>
          </a:xfrm>
          <a:prstGeom prst="roundRect">
            <a:avLst>
              <a:gd name="adj" fmla="val 8000"/>
            </a:avLst>
          </a:prstGeom>
          <a:solidFill>
            <a:schemeClr val="bg2"/>
          </a:solidFill>
          <a:ln w="9525">
            <a:solidFill>
              <a:schemeClr val="accent6"/>
            </a:solidFill>
            <a:prstDash val="solid"/>
          </a:ln>
        </p:spPr>
      </p:sp>
      <p:sp>
        <p:nvSpPr>
          <p:cNvPr id="9" name="Text 7"/>
          <p:cNvSpPr txBox="1"/>
          <p:nvPr/>
        </p:nvSpPr>
        <p:spPr>
          <a:xfrm>
            <a:off x="731520" y="2798064"/>
            <a:ext cx="457200" cy="274320"/>
          </a:xfrm>
          <a:prstGeom prst="rect">
            <a:avLst/>
          </a:prstGeom>
          <a:noFill/>
          <a:ln/>
        </p:spPr>
        <p:txBody>
          <a:bodyPr wrap="square" lIns="0" tIns="0" rIns="0" bIns="0" rtlCol="0" anchor="ctr"/>
          <a:lstStyle/>
          <a:p>
            <a:pPr indent="0" marL="0">
              <a:buNone/>
            </a:pPr>
            <a:r>
              <a:rPr lang="en-US" sz="1400" b="1" dirty="0">
                <a:solidFill>
                  <a:schemeClr val="accent2"/>
                </a:solidFill>
                <a:latin typeface="Consolas" pitchFamily="34" charset="0"/>
                <a:ea typeface="Consolas" pitchFamily="34" charset="-122"/>
                <a:cs typeface="Consolas" pitchFamily="34" charset="-120"/>
              </a:rPr>
              <a:t>02</a:t>
            </a:r>
            <a:endParaRPr lang="en-US" sz="1400" dirty="0"/>
          </a:p>
        </p:txBody>
      </p:sp>
      <p:sp>
        <p:nvSpPr>
          <p:cNvPr id="10" name="Text 8"/>
          <p:cNvSpPr txBox="1"/>
          <p:nvPr/>
        </p:nvSpPr>
        <p:spPr>
          <a:xfrm>
            <a:off x="1234440" y="2761488"/>
            <a:ext cx="5349240" cy="310896"/>
          </a:xfrm>
          <a:prstGeom prst="rect">
            <a:avLst/>
          </a:prstGeom>
          <a:noFill/>
          <a:ln/>
        </p:spPr>
        <p:txBody>
          <a:bodyPr wrap="square" lIns="0" tIns="0" rIns="0" bIns="0" rtlCol="0" anchor="ctr"/>
          <a:lstStyle/>
          <a:p>
            <a:pPr indent="0" marL="0">
              <a:buNone/>
            </a:pPr>
            <a:r>
              <a:rPr lang="en-US" sz="1700" b="1" dirty="0">
                <a:solidFill>
                  <a:schemeClr val="tx1"/>
                </a:solidFill>
              </a:rPr>
              <a:t>A measured baseline, not an assumed one</a:t>
            </a:r>
            <a:endParaRPr lang="en-US" sz="1700" dirty="0"/>
          </a:p>
        </p:txBody>
      </p:sp>
      <p:sp>
        <p:nvSpPr>
          <p:cNvPr id="11" name="Text 9"/>
          <p:cNvSpPr txBox="1"/>
          <p:nvPr/>
        </p:nvSpPr>
        <p:spPr>
          <a:xfrm>
            <a:off x="1234440" y="3054096"/>
            <a:ext cx="5349240" cy="475488"/>
          </a:xfrm>
          <a:prstGeom prst="rect">
            <a:avLst/>
          </a:prstGeom>
          <a:noFill/>
          <a:ln/>
        </p:spPr>
        <p:txBody>
          <a:bodyPr wrap="square" lIns="0" tIns="0" rIns="0" bIns="0" rtlCol="0" anchor="t"/>
          <a:lstStyle/>
          <a:p>
            <a:pPr indent="0" marL="0">
              <a:buNone/>
            </a:pPr>
            <a:r>
              <a:rPr lang="en-US" sz="1300" dirty="0">
                <a:solidFill>
                  <a:schemeClr val="tx2"/>
                </a:solidFill>
              </a:rPr>
              <a:t>60 s of live traffic: 100% success, p95 38.9 ms. Abort limits are derived from it, and a system below 95% success is never injected.</a:t>
            </a:r>
            <a:endParaRPr lang="en-US" sz="1300" dirty="0"/>
          </a:p>
        </p:txBody>
      </p:sp>
      <p:sp>
        <p:nvSpPr>
          <p:cNvPr id="12" name="Shape 10"/>
          <p:cNvSpPr/>
          <p:nvPr/>
        </p:nvSpPr>
        <p:spPr>
          <a:xfrm>
            <a:off x="548640" y="3694176"/>
            <a:ext cx="6172200" cy="914400"/>
          </a:xfrm>
          <a:prstGeom prst="roundRect">
            <a:avLst>
              <a:gd name="adj" fmla="val 8000"/>
            </a:avLst>
          </a:prstGeom>
          <a:solidFill>
            <a:schemeClr val="bg2"/>
          </a:solidFill>
          <a:ln w="9525">
            <a:solidFill>
              <a:schemeClr val="accent6"/>
            </a:solidFill>
            <a:prstDash val="solid"/>
          </a:ln>
        </p:spPr>
      </p:sp>
      <p:sp>
        <p:nvSpPr>
          <p:cNvPr id="13" name="Text 11"/>
          <p:cNvSpPr txBox="1"/>
          <p:nvPr/>
        </p:nvSpPr>
        <p:spPr>
          <a:xfrm>
            <a:off x="731520" y="3822192"/>
            <a:ext cx="457200" cy="274320"/>
          </a:xfrm>
          <a:prstGeom prst="rect">
            <a:avLst/>
          </a:prstGeom>
          <a:noFill/>
          <a:ln/>
        </p:spPr>
        <p:txBody>
          <a:bodyPr wrap="square" lIns="0" tIns="0" rIns="0" bIns="0" rtlCol="0" anchor="ctr"/>
          <a:lstStyle/>
          <a:p>
            <a:pPr indent="0" marL="0">
              <a:buNone/>
            </a:pPr>
            <a:r>
              <a:rPr lang="en-US" sz="1400" b="1" dirty="0">
                <a:solidFill>
                  <a:schemeClr val="accent2"/>
                </a:solidFill>
                <a:latin typeface="Consolas" pitchFamily="34" charset="0"/>
                <a:ea typeface="Consolas" pitchFamily="34" charset="-122"/>
                <a:cs typeface="Consolas" pitchFamily="34" charset="-120"/>
              </a:rPr>
              <a:t>03</a:t>
            </a:r>
            <a:endParaRPr lang="en-US" sz="1400" dirty="0"/>
          </a:p>
        </p:txBody>
      </p:sp>
      <p:sp>
        <p:nvSpPr>
          <p:cNvPr id="14" name="Text 12"/>
          <p:cNvSpPr txBox="1"/>
          <p:nvPr/>
        </p:nvSpPr>
        <p:spPr>
          <a:xfrm>
            <a:off x="1234440" y="3785616"/>
            <a:ext cx="5349240" cy="310896"/>
          </a:xfrm>
          <a:prstGeom prst="rect">
            <a:avLst/>
          </a:prstGeom>
          <a:noFill/>
          <a:ln/>
        </p:spPr>
        <p:txBody>
          <a:bodyPr wrap="square" lIns="0" tIns="0" rIns="0" bIns="0" rtlCol="0" anchor="ctr"/>
          <a:lstStyle/>
          <a:p>
            <a:pPr indent="0" marL="0">
              <a:buNone/>
            </a:pPr>
            <a:r>
              <a:rPr lang="en-US" sz="1700" b="1" dirty="0">
                <a:solidFill>
                  <a:schemeClr val="tx1"/>
                </a:solidFill>
              </a:rPr>
              <a:t>Two independent signals, cross-checked</a:t>
            </a:r>
            <a:endParaRPr lang="en-US" sz="1700" dirty="0"/>
          </a:p>
        </p:txBody>
      </p:sp>
      <p:sp>
        <p:nvSpPr>
          <p:cNvPr id="15" name="Text 13"/>
          <p:cNvSpPr txBox="1"/>
          <p:nvPr/>
        </p:nvSpPr>
        <p:spPr>
          <a:xfrm>
            <a:off x="1234440" y="4078224"/>
            <a:ext cx="5349240" cy="475488"/>
          </a:xfrm>
          <a:prstGeom prst="rect">
            <a:avLst/>
          </a:prstGeom>
          <a:noFill/>
          <a:ln/>
        </p:spPr>
        <p:txBody>
          <a:bodyPr wrap="square" lIns="0" tIns="0" rIns="0" bIns="0" rtlCol="0" anchor="t"/>
          <a:lstStyle/>
          <a:p>
            <a:pPr indent="0" marL="0">
              <a:buNone/>
            </a:pPr>
            <a:r>
              <a:rPr lang="en-US" sz="1300" dirty="0">
                <a:solidFill>
                  <a:schemeClr val="tx2"/>
                </a:solidFill>
              </a:rPr>
              <a:t>API probe (what a client sees) vs /alive + /ready (what the platform claims). When they disagree: health_check_masked_failure.</a:t>
            </a:r>
            <a:endParaRPr lang="en-US" sz="1300" dirty="0"/>
          </a:p>
        </p:txBody>
      </p:sp>
      <p:sp>
        <p:nvSpPr>
          <p:cNvPr id="16" name="Shape 14"/>
          <p:cNvSpPr/>
          <p:nvPr/>
        </p:nvSpPr>
        <p:spPr>
          <a:xfrm>
            <a:off x="548640" y="4718304"/>
            <a:ext cx="6172200" cy="914400"/>
          </a:xfrm>
          <a:prstGeom prst="roundRect">
            <a:avLst>
              <a:gd name="adj" fmla="val 8000"/>
            </a:avLst>
          </a:prstGeom>
          <a:solidFill>
            <a:schemeClr val="bg2"/>
          </a:solidFill>
          <a:ln w="9525">
            <a:solidFill>
              <a:schemeClr val="accent6"/>
            </a:solidFill>
            <a:prstDash val="solid"/>
          </a:ln>
        </p:spPr>
      </p:sp>
      <p:sp>
        <p:nvSpPr>
          <p:cNvPr id="17" name="Text 15"/>
          <p:cNvSpPr txBox="1"/>
          <p:nvPr/>
        </p:nvSpPr>
        <p:spPr>
          <a:xfrm>
            <a:off x="731520" y="4846320"/>
            <a:ext cx="457200" cy="274320"/>
          </a:xfrm>
          <a:prstGeom prst="rect">
            <a:avLst/>
          </a:prstGeom>
          <a:noFill/>
          <a:ln/>
        </p:spPr>
        <p:txBody>
          <a:bodyPr wrap="square" lIns="0" tIns="0" rIns="0" bIns="0" rtlCol="0" anchor="ctr"/>
          <a:lstStyle/>
          <a:p>
            <a:pPr indent="0" marL="0">
              <a:buNone/>
            </a:pPr>
            <a:r>
              <a:rPr lang="en-US" sz="1400" b="1" dirty="0">
                <a:solidFill>
                  <a:schemeClr val="accent2"/>
                </a:solidFill>
                <a:latin typeface="Consolas" pitchFamily="34" charset="0"/>
                <a:ea typeface="Consolas" pitchFamily="34" charset="-122"/>
                <a:cs typeface="Consolas" pitchFamily="34" charset="-120"/>
              </a:rPr>
              <a:t>04</a:t>
            </a:r>
            <a:endParaRPr lang="en-US" sz="1400" dirty="0"/>
          </a:p>
        </p:txBody>
      </p:sp>
      <p:sp>
        <p:nvSpPr>
          <p:cNvPr id="18" name="Text 16"/>
          <p:cNvSpPr txBox="1"/>
          <p:nvPr/>
        </p:nvSpPr>
        <p:spPr>
          <a:xfrm>
            <a:off x="1234440" y="4809744"/>
            <a:ext cx="5349240" cy="310896"/>
          </a:xfrm>
          <a:prstGeom prst="rect">
            <a:avLst/>
          </a:prstGeom>
          <a:noFill/>
          <a:ln/>
        </p:spPr>
        <p:txBody>
          <a:bodyPr wrap="square" lIns="0" tIns="0" rIns="0" bIns="0" rtlCol="0" anchor="ctr"/>
          <a:lstStyle/>
          <a:p>
            <a:pPr indent="0" marL="0">
              <a:buNone/>
            </a:pPr>
            <a:r>
              <a:rPr lang="en-US" sz="1700" b="1" dirty="0">
                <a:solidFill>
                  <a:schemeClr val="tx1"/>
                </a:solidFill>
              </a:rPr>
              <a:t>A canary that proves nothing was lost</a:t>
            </a:r>
            <a:endParaRPr lang="en-US" sz="1700" dirty="0"/>
          </a:p>
        </p:txBody>
      </p:sp>
      <p:sp>
        <p:nvSpPr>
          <p:cNvPr id="19" name="Text 17"/>
          <p:cNvSpPr txBox="1"/>
          <p:nvPr/>
        </p:nvSpPr>
        <p:spPr>
          <a:xfrm>
            <a:off x="1234440" y="5102352"/>
            <a:ext cx="5349240" cy="475488"/>
          </a:xfrm>
          <a:prstGeom prst="rect">
            <a:avLst/>
          </a:prstGeom>
          <a:noFill/>
          <a:ln/>
        </p:spPr>
        <p:txBody>
          <a:bodyPr wrap="square" lIns="0" tIns="0" rIns="0" bIns="0" rtlCol="0" anchor="t"/>
          <a:lstStyle/>
          <a:p>
            <a:pPr indent="0" marL="0">
              <a:buNone/>
            </a:pPr>
            <a:r>
              <a:rPr lang="en-US" sz="1300" dirty="0">
                <a:solidFill>
                  <a:schemeClr val="tx2"/>
                </a:solidFill>
              </a:rPr>
              <a:t>Every write carries a rising sequence number, read back after recovery. 11 of 11 experiments: data_integrity_ok = true.</a:t>
            </a:r>
            <a:endParaRPr lang="en-US" sz="1300" dirty="0"/>
          </a:p>
        </p:txBody>
      </p:sp>
      <p:sp>
        <p:nvSpPr>
          <p:cNvPr id="20" name="Shape 18"/>
          <p:cNvSpPr/>
          <p:nvPr/>
        </p:nvSpPr>
        <p:spPr>
          <a:xfrm>
            <a:off x="6949440" y="1645920"/>
            <a:ext cx="4690872" cy="4078224"/>
          </a:xfrm>
          <a:prstGeom prst="roundRect">
            <a:avLst>
              <a:gd name="adj" fmla="val 1794"/>
            </a:avLst>
          </a:prstGeom>
          <a:solidFill>
            <a:schemeClr val="bg2"/>
          </a:solidFill>
          <a:ln w="9525">
            <a:solidFill>
              <a:schemeClr val="accent6"/>
            </a:solidFill>
            <a:prstDash val="solid"/>
          </a:ln>
        </p:spPr>
      </p:sp>
      <p:sp>
        <p:nvSpPr>
          <p:cNvPr id="21" name="Text 19"/>
          <p:cNvSpPr txBox="1"/>
          <p:nvPr/>
        </p:nvSpPr>
        <p:spPr>
          <a:xfrm>
            <a:off x="7132320" y="1737360"/>
            <a:ext cx="4325112" cy="256032"/>
          </a:xfrm>
          <a:prstGeom prst="rect">
            <a:avLst/>
          </a:prstGeom>
          <a:noFill/>
          <a:ln/>
        </p:spPr>
        <p:txBody>
          <a:bodyPr wrap="square" lIns="0" tIns="0" rIns="0" bIns="0" rtlCol="0" anchor="ctr"/>
          <a:lstStyle/>
          <a:p>
            <a:pPr indent="0" marL="0">
              <a:buNone/>
            </a:pPr>
            <a:r>
              <a:rPr lang="en-US" sz="1000" spc="100" kern="0" dirty="0">
                <a:solidFill>
                  <a:schemeClr val="accent5"/>
                </a:solidFill>
                <a:latin typeface="Consolas" pitchFamily="34" charset="0"/>
                <a:ea typeface="Consolas" pitchFamily="34" charset="-122"/>
                <a:cs typeface="Consolas" pitchFamily="34" charset="-120"/>
              </a:rPr>
              <a:t>reports/experiments/fd1b18f67001.json · excerpt</a:t>
            </a:r>
            <a:endParaRPr lang="en-US" sz="1000" dirty="0"/>
          </a:p>
        </p:txBody>
      </p:sp>
      <p:sp>
        <p:nvSpPr>
          <p:cNvPr id="22" name="Shape 20"/>
          <p:cNvSpPr/>
          <p:nvPr/>
        </p:nvSpPr>
        <p:spPr>
          <a:xfrm>
            <a:off x="7132320" y="2048256"/>
            <a:ext cx="4325112" cy="0"/>
          </a:xfrm>
          <a:prstGeom prst="line">
            <a:avLst/>
          </a:prstGeom>
          <a:noFill/>
          <a:ln w="9525">
            <a:solidFill>
              <a:schemeClr val="accent6"/>
            </a:solidFill>
            <a:prstDash val="solid"/>
          </a:ln>
        </p:spPr>
      </p:sp>
      <p:sp>
        <p:nvSpPr>
          <p:cNvPr id="23" name="Text 21"/>
          <p:cNvSpPr txBox="1"/>
          <p:nvPr/>
        </p:nvSpPr>
        <p:spPr>
          <a:xfrm>
            <a:off x="7132320" y="2139696"/>
            <a:ext cx="4370832" cy="3520440"/>
          </a:xfrm>
          <a:prstGeom prst="rect">
            <a:avLst/>
          </a:prstGeom>
          <a:noFill/>
          <a:ln/>
        </p:spPr>
        <p:txBody>
          <a:bodyPr wrap="square" lIns="0" tIns="0" rIns="0" bIns="0" rtlCol="0" anchor="t"/>
          <a:lstStyle/>
          <a:p>
            <a:pPr indent="0" marL="0">
              <a:lnSpc>
                <a:spcPct val="1050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chemeClr val="tx2"/>
                </a:solidFill>
                <a:latin typeface="Consolas" pitchFamily="34" charset="0"/>
                <a:ea typeface="Consolas" pitchFamily="34" charset="-122"/>
                <a:cs typeface="Consolas" pitchFamily="34" charset="-120"/>
              </a:rPr>
              <a:t>  "experiment_id": </a:t>
            </a:r>
            <a:pPr indent="0" marL="0">
              <a:lnSpc>
                <a:spcPct val="105000"/>
              </a:lnSpc>
              <a:buNone/>
            </a:pPr>
            <a:r>
              <a:rPr lang="en-US" sz="1100" dirty="0">
                <a:solidFill>
                  <a:schemeClr val="tx1"/>
                </a:solidFill>
                <a:latin typeface="Consolas" pitchFamily="34" charset="0"/>
                <a:ea typeface="Consolas" pitchFamily="34" charset="-122"/>
                <a:cs typeface="Consolas" pitchFamily="34" charset="-120"/>
              </a:rPr>
              <a:t>"fd1b18f67001",</a:t>
            </a:r>
            <a:endParaRPr lang="en-US" sz="1100" dirty="0"/>
          </a:p>
          <a:p>
            <a:pPr indent="0" marL="0">
              <a:lnSpc>
                <a:spcPct val="105000"/>
              </a:lnSpc>
              <a:buNone/>
            </a:pPr>
            <a:r>
              <a:rPr lang="en-US" sz="1100" dirty="0">
                <a:solidFill>
                  <a:schemeClr val="tx2"/>
                </a:solidFill>
                <a:latin typeface="Consolas" pitchFamily="34" charset="0"/>
                <a:ea typeface="Consolas" pitchFamily="34" charset="-122"/>
                <a:cs typeface="Consolas" pitchFamily="34" charset="-120"/>
              </a:rPr>
              <a:t>  "target": {"service": </a:t>
            </a:r>
            <a:pPr indent="0" marL="0">
              <a:lnSpc>
                <a:spcPct val="105000"/>
              </a:lnSpc>
              <a:buNone/>
            </a:pPr>
            <a:r>
              <a:rPr lang="en-US" sz="1100" dirty="0">
                <a:solidFill>
                  <a:schemeClr val="tx1"/>
                </a:solidFill>
                <a:latin typeface="Consolas" pitchFamily="34" charset="0"/>
                <a:ea typeface="Consolas" pitchFamily="34" charset="-122"/>
                <a:cs typeface="Consolas" pitchFamily="34" charset="-120"/>
              </a:rPr>
              <a:t>"things"</a:t>
            </a:r>
            <a:pPr indent="0" marL="0">
              <a:lnSpc>
                <a:spcPct val="105000"/>
              </a:lnSpc>
              <a:buNone/>
            </a:pPr>
            <a:r>
              <a:rPr lang="en-US" sz="1100" dirty="0">
                <a:solidFill>
                  <a:schemeClr val="tx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chemeClr val="tx2"/>
                </a:solidFill>
                <a:latin typeface="Consolas" pitchFamily="34" charset="0"/>
                <a:ea typeface="Consolas" pitchFamily="34" charset="-122"/>
                <a:cs typeface="Consolas" pitchFamily="34" charset="-120"/>
              </a:rPr>
              <a:t>  "failure_type": </a:t>
            </a:r>
            <a:pPr indent="0" marL="0">
              <a:lnSpc>
                <a:spcPct val="105000"/>
              </a:lnSpc>
              <a:buNone/>
            </a:pPr>
            <a:r>
              <a:rPr lang="en-US" sz="1100" dirty="0">
                <a:solidFill>
                  <a:schemeClr val="accent1"/>
                </a:solidFill>
                <a:latin typeface="Consolas" pitchFamily="34" charset="0"/>
                <a:ea typeface="Consolas" pitchFamily="34" charset="-122"/>
                <a:cs typeface="Consolas" pitchFamily="34" charset="-120"/>
              </a:rPr>
              <a:t>"container_crash",</a:t>
            </a:r>
            <a:endParaRPr lang="en-US" sz="1100" dirty="0"/>
          </a:p>
          <a:p>
            <a:pPr indent="0" marL="0">
              <a:lnSpc>
                <a:spcPct val="105000"/>
              </a:lnSpc>
              <a:buNone/>
            </a:pPr>
            <a:r>
              <a:rPr lang="en-US" sz="1100" dirty="0">
                <a:solidFill>
                  <a:schemeClr val="tx2"/>
                </a:solidFill>
                <a:latin typeface="Consolas" pitchFamily="34" charset="0"/>
                <a:ea typeface="Consolas" pitchFamily="34" charset="-122"/>
                <a:cs typeface="Consolas" pitchFamily="34" charset="-120"/>
              </a:rPr>
              <a:t>  "during": {"success_rate": </a:t>
            </a:r>
            <a:pPr indent="0" marL="0">
              <a:lnSpc>
                <a:spcPct val="105000"/>
              </a:lnSpc>
              <a:buNone/>
            </a:pPr>
            <a:r>
              <a:rPr lang="en-US" sz="1100" dirty="0">
                <a:solidFill>
                  <a:schemeClr val="accent1"/>
                </a:solidFill>
                <a:latin typeface="Consolas" pitchFamily="34" charset="0"/>
                <a:ea typeface="Consolas" pitchFamily="34" charset="-122"/>
                <a:cs typeface="Consolas" pitchFamily="34" charset="-120"/>
              </a:rPr>
              <a:t>0.0</a:t>
            </a:r>
            <a:pPr indent="0" marL="0">
              <a:lnSpc>
                <a:spcPct val="105000"/>
              </a:lnSpc>
              <a:buNone/>
            </a:pPr>
            <a:r>
              <a:rPr lang="en-US" sz="1100" dirty="0">
                <a:solidFill>
                  <a:schemeClr val="tx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chemeClr val="tx2"/>
                </a:solidFill>
                <a:latin typeface="Consolas" pitchFamily="34" charset="0"/>
                <a:ea typeface="Consolas" pitchFamily="34" charset="-122"/>
                <a:cs typeface="Consolas" pitchFamily="34" charset="-120"/>
              </a:rPr>
              <a:t>  "safety": {"abort_reason": </a:t>
            </a:r>
            <a:pPr indent="0" marL="0">
              <a:lnSpc>
                <a:spcPct val="105000"/>
              </a:lnSpc>
              <a:buNone/>
            </a:pPr>
            <a:r>
              <a:rPr lang="en-US" sz="1100" dirty="0">
                <a:solidFill>
                  <a:schemeClr val="accent4"/>
                </a:solidFill>
                <a:latin typeface="Consolas" pitchFamily="34" charset="0"/>
                <a:ea typeface="Consolas" pitchFamily="34" charset="-122"/>
                <a:cs typeface="Consolas" pitchFamily="34" charset="-120"/>
              </a:rPr>
              <a:t>"error_rate"</a:t>
            </a:r>
            <a:pPr indent="0" marL="0">
              <a:lnSpc>
                <a:spcPct val="105000"/>
              </a:lnSpc>
              <a:buNone/>
            </a:pPr>
            <a:r>
              <a:rPr lang="en-US" sz="1100" dirty="0">
                <a:solidFill>
                  <a:schemeClr val="tx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chemeClr val="tx2"/>
                </a:solidFill>
                <a:latin typeface="Consolas" pitchFamily="34" charset="0"/>
                <a:ea typeface="Consolas" pitchFamily="34" charset="-122"/>
                <a:cs typeface="Consolas" pitchFamily="34" charset="-120"/>
              </a:rPr>
              <a:t>  "findings": [ …, {</a:t>
            </a:r>
            <a:endParaRPr lang="en-US" sz="1100" dirty="0"/>
          </a:p>
          <a:p>
            <a:pPr indent="0" marL="0">
              <a:lnSpc>
                <a:spcPct val="105000"/>
              </a:lnSpc>
              <a:buNone/>
            </a:pPr>
            <a:r>
              <a:rPr lang="en-US" sz="1100" dirty="0">
                <a:solidFill>
                  <a:schemeClr val="tx2"/>
                </a:solidFill>
                <a:latin typeface="Consolas" pitchFamily="34" charset="0"/>
                <a:ea typeface="Consolas" pitchFamily="34" charset="-122"/>
                <a:cs typeface="Consolas" pitchFamily="34" charset="-120"/>
              </a:rPr>
              <a:t>    "code": </a:t>
            </a:r>
            <a:pPr indent="0" marL="0">
              <a:lnSpc>
                <a:spcPct val="105000"/>
              </a:lnSpc>
              <a:buNone/>
            </a:pPr>
            <a:r>
              <a:rPr lang="en-US" sz="1100" dirty="0">
                <a:solidFill>
                  <a:schemeClr val="accent3"/>
                </a:solidFill>
                <a:latin typeface="Consolas" pitchFamily="34" charset="0"/>
                <a:ea typeface="Consolas" pitchFamily="34" charset="-122"/>
                <a:cs typeface="Consolas" pitchFamily="34" charset="-120"/>
              </a:rPr>
              <a:t>"health_check_masked_failure",</a:t>
            </a:r>
            <a:endParaRPr lang="en-US" sz="1100" dirty="0"/>
          </a:p>
          <a:p>
            <a:pPr indent="0" marL="0">
              <a:lnSpc>
                <a:spcPct val="105000"/>
              </a:lnSpc>
              <a:buNone/>
            </a:pPr>
            <a:r>
              <a:rPr lang="en-US" sz="1100" dirty="0">
                <a:solidFill>
                  <a:schemeClr val="tx2"/>
                </a:solidFill>
                <a:latin typeface="Consolas" pitchFamily="34" charset="0"/>
                <a:ea typeface="Consolas" pitchFamily="34" charset="-122"/>
                <a:cs typeface="Consolas" pitchFamily="34" charset="-120"/>
              </a:rPr>
              <a:t>    "title": </a:t>
            </a:r>
            <a:pPr indent="0" marL="0">
              <a:lnSpc>
                <a:spcPct val="105000"/>
              </a:lnSpc>
              <a:buNone/>
            </a:pPr>
            <a:r>
              <a:rPr lang="en-US" sz="1100" dirty="0">
                <a:solidFill>
                  <a:schemeClr val="tx1"/>
                </a:solidFill>
                <a:latin typeface="Consolas" pitchFamily="34" charset="0"/>
                <a:ea typeface="Consolas" pitchFamily="34" charset="-122"/>
                <a:cs typeface="Consolas" pitchFamily="34" charset="-120"/>
              </a:rPr>
              <a:t>"gateway kept reporting</a:t>
            </a:r>
            <a:endParaRPr lang="en-US" sz="1100" dirty="0"/>
          </a:p>
          <a:p>
            <a:pPr indent="0" marL="0">
              <a:lnSpc>
                <a:spcPct val="105000"/>
              </a:lnSpc>
              <a:buNone/>
            </a:pPr>
            <a:r>
              <a:rPr lang="en-US" sz="1100" dirty="0">
                <a:solidFill>
                  <a:schemeClr val="tx1"/>
                </a:solidFill>
                <a:latin typeface="Consolas" pitchFamily="34" charset="0"/>
                <a:ea typeface="Consolas" pitchFamily="34" charset="-122"/>
                <a:cs typeface="Consolas" pitchFamily="34" charset="-120"/>
              </a:rPr>
              <a:t>      /ready=200 while the API was failing"</a:t>
            </a:r>
            <a:endParaRPr lang="en-US" sz="1100" dirty="0"/>
          </a:p>
          <a:p>
            <a:pPr indent="0" marL="0">
              <a:lnSpc>
                <a:spcPct val="105000"/>
              </a:lnSpc>
              <a:buNone/>
            </a:pPr>
            <a:r>
              <a:rPr lang="en-US" sz="1100" dirty="0">
                <a:solidFill>
                  <a:schemeClr val="tx2"/>
                </a:solidFill>
                <a:latin typeface="Consolas" pitchFamily="34" charset="0"/>
                <a:ea typeface="Consolas" pitchFamily="34" charset="-122"/>
                <a:cs typeface="Consolas" pitchFamily="34" charset="-120"/>
              </a:rPr>
              <a:t>  }, … ],</a:t>
            </a:r>
            <a:endParaRPr lang="en-US" sz="1100" dirty="0"/>
          </a:p>
          <a:p>
            <a:pPr indent="0" marL="0">
              <a:lnSpc>
                <a:spcPct val="105000"/>
              </a:lnSpc>
              <a:buNone/>
            </a:pPr>
            <a:r>
              <a:rPr lang="en-US" sz="1100" dirty="0">
                <a:solidFill>
                  <a:schemeClr val="tx2"/>
                </a:solidFill>
                <a:latin typeface="Consolas" pitchFamily="34" charset="0"/>
                <a:ea typeface="Consolas" pitchFamily="34" charset="-122"/>
                <a:cs typeface="Consolas" pitchFamily="34" charset="-120"/>
              </a:rPr>
              <a:t>  "recovery": {</a:t>
            </a:r>
            <a:endParaRPr lang="en-US" sz="1100" dirty="0"/>
          </a:p>
          <a:p>
            <a:pPr indent="0" marL="0">
              <a:lnSpc>
                <a:spcPct val="105000"/>
              </a:lnSpc>
              <a:buNone/>
            </a:pPr>
            <a:r>
              <a:rPr lang="en-US" sz="1100" dirty="0">
                <a:solidFill>
                  <a:schemeClr val="tx2"/>
                </a:solidFill>
                <a:latin typeface="Consolas" pitchFamily="34" charset="0"/>
                <a:ea typeface="Consolas" pitchFamily="34" charset="-122"/>
                <a:cs typeface="Consolas" pitchFamily="34" charset="-120"/>
              </a:rPr>
              <a:t>    "data_integrity_ok": </a:t>
            </a:r>
            <a:pPr indent="0" marL="0">
              <a:lnSpc>
                <a:spcPct val="105000"/>
              </a:lnSpc>
              <a:buNone/>
            </a:pPr>
            <a:r>
              <a:rPr lang="en-US" sz="1100" dirty="0">
                <a:solidFill>
                  <a:schemeClr val="accent2"/>
                </a:solidFill>
                <a:latin typeface="Consolas" pitchFamily="34" charset="0"/>
                <a:ea typeface="Consolas" pitchFamily="34" charset="-122"/>
                <a:cs typeface="Consolas" pitchFamily="34" charset="-120"/>
              </a:rPr>
              <a:t>true,</a:t>
            </a:r>
            <a:endParaRPr lang="en-US" sz="1100" dirty="0"/>
          </a:p>
          <a:p>
            <a:pPr indent="0" marL="0">
              <a:lnSpc>
                <a:spcPct val="105000"/>
              </a:lnSpc>
              <a:buNone/>
            </a:pPr>
            <a:r>
              <a:rPr lang="en-US" sz="1100" dirty="0">
                <a:solidFill>
                  <a:schemeClr val="tx2"/>
                </a:solidFill>
                <a:latin typeface="Consolas" pitchFamily="34" charset="0"/>
                <a:ea typeface="Consolas" pitchFamily="34" charset="-122"/>
                <a:cs typeface="Consolas" pitchFamily="34" charset="-120"/>
              </a:rPr>
              <a:t>    "data_integrity_detail":</a:t>
            </a:r>
            <a:endParaRPr lang="en-US" sz="1100" dirty="0"/>
          </a:p>
          <a:p>
            <a:pPr indent="0" marL="0">
              <a:lnSpc>
                <a:spcPct val="105000"/>
              </a:lnSpc>
              <a:buNone/>
            </a:pPr>
            <a:r>
              <a:rPr lang="en-US" sz="1100" dirty="0">
                <a:solidFill>
                  <a:schemeClr val="tx1"/>
                </a:solidFill>
                <a:latin typeface="Consolas" pitchFamily="34" charset="0"/>
                <a:ea typeface="Consolas" pitchFamily="34" charset="-122"/>
                <a:cs typeface="Consolas" pitchFamily="34" charset="-120"/>
              </a:rPr>
              <a:t>      "stored seq=58, last acknowledged</a:t>
            </a:r>
            <a:endParaRPr lang="en-US" sz="1100" dirty="0"/>
          </a:p>
          <a:p>
            <a:pPr indent="0" marL="0">
              <a:lnSpc>
                <a:spcPct val="105000"/>
              </a:lnSpc>
              <a:buNone/>
            </a:pPr>
            <a:r>
              <a:rPr lang="en-US" sz="1100" dirty="0">
                <a:solidFill>
                  <a:schemeClr val="tx1"/>
                </a:solidFill>
                <a:latin typeface="Consolas" pitchFamily="34" charset="0"/>
                <a:ea typeface="Consolas" pitchFamily="34" charset="-122"/>
                <a:cs typeface="Consolas" pitchFamily="34" charset="-120"/>
              </a:rPr>
              <a:t>       write seq=58"</a:t>
            </a:r>
            <a:endParaRPr lang="en-US" sz="1100" dirty="0"/>
          </a:p>
          <a:p>
            <a:pPr indent="0" marL="0">
              <a:lnSpc>
                <a:spcPct val="105000"/>
              </a:lnSpc>
              <a:buNone/>
            </a:pPr>
            <a:r>
              <a:rPr lang="en-US" sz="1100" dirty="0">
                <a:solidFill>
                  <a:schemeClr val="tx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p:txBody>
      </p:sp>
      <p:sp>
        <p:nvSpPr>
          <p:cNvPr id="24" name="Text 22"/>
          <p:cNvSpPr txBox="1"/>
          <p:nvPr/>
        </p:nvSpPr>
        <p:spPr>
          <a:xfrm>
            <a:off x="548640" y="5870448"/>
            <a:ext cx="11064240" cy="320040"/>
          </a:xfrm>
          <a:prstGeom prst="rect">
            <a:avLst/>
          </a:prstGeom>
          <a:noFill/>
          <a:ln/>
        </p:spPr>
        <p:txBody>
          <a:bodyPr wrap="square" lIns="0" tIns="0" rIns="0" bIns="0" rtlCol="0" anchor="ctr"/>
          <a:lstStyle/>
          <a:p>
            <a:pPr indent="0" marL="0">
              <a:buNone/>
            </a:pPr>
            <a:r>
              <a:rPr lang="en-US" sz="1300" b="1" dirty="0">
                <a:solidFill>
                  <a:schemeClr val="accent2"/>
                </a:solidFill>
              </a:rPr>
              <a:t>✓  </a:t>
            </a:r>
            <a:pPr indent="0" marL="0">
              <a:buNone/>
            </a:pPr>
            <a:r>
              <a:rPr lang="en-US" sz="1300" dirty="0">
                <a:solidFill>
                  <a:schemeClr val="tx2"/>
                </a:solidFill>
              </a:rPr>
              <a:t>Nothing is a black box: every number in this deck is a field in a JSON file under </a:t>
            </a:r>
            <a:pPr indent="0" marL="0">
              <a:buNone/>
            </a:pPr>
            <a:r>
              <a:rPr lang="en-US" sz="1300" dirty="0">
                <a:solidFill>
                  <a:schemeClr val="tx2"/>
                </a:solidFill>
                <a:latin typeface="Consolas" pitchFamily="34" charset="0"/>
                <a:ea typeface="Consolas" pitchFamily="34" charset="-122"/>
                <a:cs typeface="Consolas" pitchFamily="34" charset="-120"/>
              </a:rPr>
              <a:t>reports/</a:t>
            </a:r>
            <a:pPr indent="0" marL="0">
              <a:buNone/>
            </a:pPr>
            <a:r>
              <a:rPr lang="en-US" sz="1300" dirty="0">
                <a:solidFill>
                  <a:schemeClr val="tx2"/>
                </a:solidFill>
              </a:rPr>
              <a:t> that the system wrote itself.</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spc="200" kern="0" dirty="0">
                <a:solidFill>
                  <a:schemeClr val="accent3"/>
                </a:solidFill>
                <a:latin typeface="Consolas" pitchFamily="34" charset="0"/>
                <a:ea typeface="Consolas" pitchFamily="34" charset="-122"/>
                <a:cs typeface="Consolas" pitchFamily="34" charset="-120"/>
              </a:rPr>
              <a:t>04 · REPORT</a:t>
            </a:r>
            <a:endParaRPr lang="en-US" sz="1200" dirty="0"/>
          </a:p>
        </p:txBody>
      </p:sp>
      <p:sp>
        <p:nvSpPr>
          <p:cNvPr id="3" name="Text 1"/>
          <p:cNvSpPr/>
          <p:nvPr>
            <p:ph idx="102" type="title" hasCustomPrompt="1"/>
          </p:nvPr>
        </p:nvSpPr>
        <p:spPr>
          <a:xfrm>
            <a:off x="548640" y="676656"/>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Ranked findings, matched fixes, a graded scorecard</a:t>
            </a:r>
            <a:endParaRPr lang="en-US" sz="3400" dirty="0"/>
          </a:p>
        </p:txBody>
      </p:sp>
      <p:sp>
        <p:nvSpPr>
          <p:cNvPr id="4" name="Text 2"/>
          <p:cNvSpPr txBox="1"/>
          <p:nvPr/>
        </p:nvSpPr>
        <p:spPr>
          <a:xfrm>
            <a:off x="548640" y="1572768"/>
            <a:ext cx="6949440" cy="256032"/>
          </a:xfrm>
          <a:prstGeom prst="rect">
            <a:avLst/>
          </a:prstGeom>
          <a:noFill/>
          <a:ln/>
        </p:spPr>
        <p:txBody>
          <a:bodyPr wrap="square" lIns="0" tIns="0" rIns="0" bIns="0" rtlCol="0" anchor="ctr"/>
          <a:lstStyle/>
          <a:p>
            <a:pPr indent="0" marL="0">
              <a:buNone/>
            </a:pPr>
            <a:r>
              <a:rPr lang="en-US" sz="1100" spc="100" kern="0" dirty="0">
                <a:solidFill>
                  <a:schemeClr val="accent5"/>
                </a:solidFill>
                <a:latin typeface="Consolas" pitchFamily="34" charset="0"/>
                <a:ea typeface="Consolas" pitchFamily="34" charset="-122"/>
                <a:cs typeface="Consolas" pitchFamily="34" charset="-120"/>
              </a:rPr>
              <a:t>FINDINGS · ranked by risk severity 0–10, worst first</a:t>
            </a:r>
            <a:endParaRPr lang="en-US" sz="1100" dirty="0"/>
          </a:p>
        </p:txBody>
      </p:sp>
      <p:sp>
        <p:nvSpPr>
          <p:cNvPr id="5" name="Shape 3"/>
          <p:cNvSpPr/>
          <p:nvPr/>
        </p:nvSpPr>
        <p:spPr>
          <a:xfrm>
            <a:off x="548640" y="1901952"/>
            <a:ext cx="6995160" cy="658368"/>
          </a:xfrm>
          <a:prstGeom prst="roundRect">
            <a:avLst>
              <a:gd name="adj" fmla="val 11111"/>
            </a:avLst>
          </a:prstGeom>
          <a:solidFill>
            <a:schemeClr val="bg2"/>
          </a:solidFill>
          <a:ln w="9525">
            <a:solidFill>
              <a:schemeClr val="accent6"/>
            </a:solidFill>
            <a:prstDash val="solid"/>
          </a:ln>
        </p:spPr>
      </p:sp>
      <p:sp>
        <p:nvSpPr>
          <p:cNvPr id="6" name="Text 4"/>
          <p:cNvSpPr txBox="1"/>
          <p:nvPr/>
        </p:nvSpPr>
        <p:spPr>
          <a:xfrm>
            <a:off x="658368" y="1956816"/>
            <a:ext cx="868680" cy="347472"/>
          </a:xfrm>
          <a:prstGeom prst="rect">
            <a:avLst/>
          </a:prstGeom>
          <a:noFill/>
          <a:ln/>
        </p:spPr>
        <p:txBody>
          <a:bodyPr wrap="square" lIns="0" tIns="0" rIns="0" bIns="0" rtlCol="0" anchor="ctr"/>
          <a:lstStyle/>
          <a:p>
            <a:pPr algn="ctr" indent="0" marL="0">
              <a:buNone/>
            </a:pPr>
            <a:r>
              <a:rPr lang="en-US" sz="2200" b="1" dirty="0">
                <a:solidFill>
                  <a:schemeClr val="accent1"/>
                </a:solidFill>
                <a:latin typeface="Consolas" pitchFamily="34" charset="0"/>
                <a:ea typeface="Consolas" pitchFamily="34" charset="-122"/>
                <a:cs typeface="Consolas" pitchFamily="34" charset="-120"/>
              </a:rPr>
              <a:t>5.79</a:t>
            </a:r>
            <a:endParaRPr lang="en-US" sz="2200" dirty="0"/>
          </a:p>
        </p:txBody>
      </p:sp>
      <p:sp>
        <p:nvSpPr>
          <p:cNvPr id="7" name="Text 5"/>
          <p:cNvSpPr txBox="1"/>
          <p:nvPr/>
        </p:nvSpPr>
        <p:spPr>
          <a:xfrm>
            <a:off x="658368" y="2304288"/>
            <a:ext cx="868680" cy="182880"/>
          </a:xfrm>
          <a:prstGeom prst="rect">
            <a:avLst/>
          </a:prstGeom>
          <a:noFill/>
          <a:ln/>
        </p:spPr>
        <p:txBody>
          <a:bodyPr wrap="square" lIns="0" tIns="0" rIns="0" bIns="0" rtlCol="0" anchor="ctr"/>
          <a:lstStyle/>
          <a:p>
            <a:pPr algn="ctr" indent="0" marL="0">
              <a:buNone/>
            </a:pPr>
            <a:r>
              <a:rPr lang="en-US" sz="900" b="1" spc="100" kern="0" dirty="0">
                <a:solidFill>
                  <a:schemeClr val="accent1"/>
                </a:solidFill>
              </a:rPr>
              <a:t>HIGH</a:t>
            </a:r>
            <a:endParaRPr lang="en-US" sz="900" dirty="0"/>
          </a:p>
        </p:txBody>
      </p:sp>
      <p:sp>
        <p:nvSpPr>
          <p:cNvPr id="8" name="Text 6"/>
          <p:cNvSpPr txBox="1"/>
          <p:nvPr/>
        </p:nvSpPr>
        <p:spPr>
          <a:xfrm>
            <a:off x="1691640" y="1965960"/>
            <a:ext cx="5760720" cy="274320"/>
          </a:xfrm>
          <a:prstGeom prst="rect">
            <a:avLst/>
          </a:prstGeom>
          <a:noFill/>
          <a:ln/>
        </p:spPr>
        <p:txBody>
          <a:bodyPr wrap="square" lIns="0" tIns="0" rIns="0" bIns="0" rtlCol="0" anchor="ctr"/>
          <a:lstStyle/>
          <a:p>
            <a:pPr indent="0" marL="0">
              <a:buNone/>
            </a:pPr>
            <a:r>
              <a:rPr lang="en-US" sz="1500" b="1" dirty="0">
                <a:solidFill>
                  <a:schemeClr val="tx1"/>
                </a:solidFill>
              </a:rPr>
              <a:t>things · container_crash</a:t>
            </a:r>
            <a:pPr indent="0" marL="0">
              <a:buNone/>
            </a:pPr>
            <a:r>
              <a:rPr lang="en-US" sz="1200" dirty="0">
                <a:solidFill>
                  <a:schemeClr val="tx2"/>
                </a:solidFill>
              </a:rPr>
              <a:t>   API 0% · 3 services stayed /ready=200</a:t>
            </a:r>
            <a:endParaRPr lang="en-US" sz="1400" dirty="0"/>
          </a:p>
        </p:txBody>
      </p:sp>
      <p:sp>
        <p:nvSpPr>
          <p:cNvPr id="9" name="Text 7"/>
          <p:cNvSpPr txBox="1"/>
          <p:nvPr/>
        </p:nvSpPr>
        <p:spPr>
          <a:xfrm>
            <a:off x="1691640" y="2249424"/>
            <a:ext cx="5074920" cy="256032"/>
          </a:xfrm>
          <a:prstGeom prst="rect">
            <a:avLst/>
          </a:prstGeom>
          <a:noFill/>
          <a:ln/>
        </p:spPr>
        <p:txBody>
          <a:bodyPr wrap="square" lIns="0" tIns="0" rIns="0" bIns="0" rtlCol="0" anchor="ctr"/>
          <a:lstStyle/>
          <a:p>
            <a:pPr indent="0" marL="0">
              <a:buNone/>
            </a:pPr>
            <a:r>
              <a:rPr lang="en-US" sz="1100" dirty="0">
                <a:solidFill>
                  <a:schemeClr val="accent5"/>
                </a:solidFill>
                <a:latin typeface="Consolas" pitchFamily="34" charset="0"/>
                <a:ea typeface="Consolas" pitchFamily="34" charset="-122"/>
                <a:cs typeface="Consolas" pitchFamily="34" charset="-120"/>
              </a:rPr>
              <a:t>→ fix  </a:t>
            </a:r>
            <a:pPr indent="0" marL="0">
              <a:buNone/>
            </a:pPr>
            <a:r>
              <a:rPr lang="en-US" sz="1300" dirty="0">
                <a:solidFill>
                  <a:schemeClr val="accent2"/>
                </a:solidFill>
              </a:rPr>
              <a:t>Make readiness reflect subsystem health …</a:t>
            </a:r>
            <a:endParaRPr lang="en-US" sz="1300" dirty="0"/>
          </a:p>
        </p:txBody>
      </p:sp>
      <p:sp>
        <p:nvSpPr>
          <p:cNvPr id="10" name="Text 8"/>
          <p:cNvSpPr txBox="1"/>
          <p:nvPr/>
        </p:nvSpPr>
        <p:spPr>
          <a:xfrm>
            <a:off x="6720840" y="2249424"/>
            <a:ext cx="731520" cy="256032"/>
          </a:xfrm>
          <a:prstGeom prst="rect">
            <a:avLst/>
          </a:prstGeom>
          <a:noFill/>
          <a:ln/>
        </p:spPr>
        <p:txBody>
          <a:bodyPr wrap="square" lIns="0" tIns="0" rIns="0" bIns="0" rtlCol="0" anchor="ctr"/>
          <a:lstStyle/>
          <a:p>
            <a:pPr algn="r" indent="0" marL="0">
              <a:buNone/>
            </a:pPr>
            <a:r>
              <a:rPr lang="en-US" sz="1100" dirty="0">
                <a:solidFill>
                  <a:schemeClr val="accent5"/>
                </a:solidFill>
                <a:latin typeface="Consolas" pitchFamily="34" charset="0"/>
                <a:ea typeface="Consolas" pitchFamily="34" charset="-122"/>
                <a:cs typeface="Consolas" pitchFamily="34" charset="-120"/>
              </a:rPr>
              <a:t>conf 0.90</a:t>
            </a:r>
            <a:endParaRPr lang="en-US" sz="1100" dirty="0"/>
          </a:p>
        </p:txBody>
      </p:sp>
      <p:sp>
        <p:nvSpPr>
          <p:cNvPr id="11" name="Shape 9"/>
          <p:cNvSpPr/>
          <p:nvPr/>
        </p:nvSpPr>
        <p:spPr>
          <a:xfrm>
            <a:off x="548640" y="2633472"/>
            <a:ext cx="6995160" cy="658368"/>
          </a:xfrm>
          <a:prstGeom prst="roundRect">
            <a:avLst>
              <a:gd name="adj" fmla="val 11111"/>
            </a:avLst>
          </a:prstGeom>
          <a:solidFill>
            <a:schemeClr val="bg2"/>
          </a:solidFill>
          <a:ln w="9525">
            <a:solidFill>
              <a:schemeClr val="accent6"/>
            </a:solidFill>
            <a:prstDash val="solid"/>
          </a:ln>
        </p:spPr>
      </p:sp>
      <p:sp>
        <p:nvSpPr>
          <p:cNvPr id="12" name="Text 10"/>
          <p:cNvSpPr txBox="1"/>
          <p:nvPr/>
        </p:nvSpPr>
        <p:spPr>
          <a:xfrm>
            <a:off x="658368" y="2688336"/>
            <a:ext cx="868680" cy="347472"/>
          </a:xfrm>
          <a:prstGeom prst="rect">
            <a:avLst/>
          </a:prstGeom>
          <a:noFill/>
          <a:ln/>
        </p:spPr>
        <p:txBody>
          <a:bodyPr wrap="square" lIns="0" tIns="0" rIns="0" bIns="0" rtlCol="0" anchor="ctr"/>
          <a:lstStyle/>
          <a:p>
            <a:pPr algn="ctr" indent="0" marL="0">
              <a:buNone/>
            </a:pPr>
            <a:r>
              <a:rPr lang="en-US" sz="2200" b="1" dirty="0">
                <a:solidFill>
                  <a:schemeClr val="accent3"/>
                </a:solidFill>
                <a:latin typeface="Consolas" pitchFamily="34" charset="0"/>
                <a:ea typeface="Consolas" pitchFamily="34" charset="-122"/>
                <a:cs typeface="Consolas" pitchFamily="34" charset="-120"/>
              </a:rPr>
              <a:t>4.76</a:t>
            </a:r>
            <a:endParaRPr lang="en-US" sz="2200" dirty="0"/>
          </a:p>
        </p:txBody>
      </p:sp>
      <p:sp>
        <p:nvSpPr>
          <p:cNvPr id="13" name="Text 11"/>
          <p:cNvSpPr txBox="1"/>
          <p:nvPr/>
        </p:nvSpPr>
        <p:spPr>
          <a:xfrm>
            <a:off x="658368" y="3035808"/>
            <a:ext cx="868680" cy="182880"/>
          </a:xfrm>
          <a:prstGeom prst="rect">
            <a:avLst/>
          </a:prstGeom>
          <a:noFill/>
          <a:ln/>
        </p:spPr>
        <p:txBody>
          <a:bodyPr wrap="square" lIns="0" tIns="0" rIns="0" bIns="0" rtlCol="0" anchor="ctr"/>
          <a:lstStyle/>
          <a:p>
            <a:pPr algn="ctr" indent="0" marL="0">
              <a:buNone/>
            </a:pPr>
            <a:r>
              <a:rPr lang="en-US" sz="900" b="1" spc="100" kern="0" dirty="0">
                <a:solidFill>
                  <a:schemeClr val="accent3"/>
                </a:solidFill>
              </a:rPr>
              <a:t>MEDIUM</a:t>
            </a:r>
            <a:endParaRPr lang="en-US" sz="900" dirty="0"/>
          </a:p>
        </p:txBody>
      </p:sp>
      <p:sp>
        <p:nvSpPr>
          <p:cNvPr id="14" name="Text 12"/>
          <p:cNvSpPr txBox="1"/>
          <p:nvPr/>
        </p:nvSpPr>
        <p:spPr>
          <a:xfrm>
            <a:off x="1691640" y="2697480"/>
            <a:ext cx="5760720" cy="274320"/>
          </a:xfrm>
          <a:prstGeom prst="rect">
            <a:avLst/>
          </a:prstGeom>
          <a:noFill/>
          <a:ln/>
        </p:spPr>
        <p:txBody>
          <a:bodyPr wrap="square" lIns="0" tIns="0" rIns="0" bIns="0" rtlCol="0" anchor="ctr"/>
          <a:lstStyle/>
          <a:p>
            <a:pPr indent="0" marL="0">
              <a:buNone/>
            </a:pPr>
            <a:r>
              <a:rPr lang="en-US" sz="1500" b="1" dirty="0">
                <a:solidFill>
                  <a:schemeClr val="tx1"/>
                </a:solidFill>
              </a:rPr>
              <a:t>things · container_crash</a:t>
            </a:r>
            <a:pPr indent="0" marL="0">
              <a:buNone/>
            </a:pPr>
            <a:r>
              <a:rPr lang="en-US" sz="1200" dirty="0">
                <a:solidFill>
                  <a:schemeClr val="tx2"/>
                </a:solidFill>
              </a:rPr>
              <a:t>   Day-2 repeat · API 0% again</a:t>
            </a:r>
            <a:endParaRPr lang="en-US" sz="1400" dirty="0"/>
          </a:p>
        </p:txBody>
      </p:sp>
      <p:sp>
        <p:nvSpPr>
          <p:cNvPr id="15" name="Text 13"/>
          <p:cNvSpPr txBox="1"/>
          <p:nvPr/>
        </p:nvSpPr>
        <p:spPr>
          <a:xfrm>
            <a:off x="1691640" y="2980944"/>
            <a:ext cx="5074920" cy="256032"/>
          </a:xfrm>
          <a:prstGeom prst="rect">
            <a:avLst/>
          </a:prstGeom>
          <a:noFill/>
          <a:ln/>
        </p:spPr>
        <p:txBody>
          <a:bodyPr wrap="square" lIns="0" tIns="0" rIns="0" bIns="0" rtlCol="0" anchor="ctr"/>
          <a:lstStyle/>
          <a:p>
            <a:pPr indent="0" marL="0">
              <a:buNone/>
            </a:pPr>
            <a:r>
              <a:rPr lang="en-US" sz="1100" dirty="0">
                <a:solidFill>
                  <a:schemeClr val="accent5"/>
                </a:solidFill>
                <a:latin typeface="Consolas" pitchFamily="34" charset="0"/>
                <a:ea typeface="Consolas" pitchFamily="34" charset="-122"/>
                <a:cs typeface="Consolas" pitchFamily="34" charset="-120"/>
              </a:rPr>
              <a:t>→ fix  </a:t>
            </a:r>
            <a:pPr indent="0" marL="0">
              <a:buNone/>
            </a:pPr>
            <a:r>
              <a:rPr lang="en-US" sz="1300" dirty="0">
                <a:solidFill>
                  <a:schemeClr val="accent2"/>
                </a:solidFill>
              </a:rPr>
              <a:t>Scale things horizontally and make clients retry …</a:t>
            </a:r>
            <a:endParaRPr lang="en-US" sz="1300" dirty="0"/>
          </a:p>
        </p:txBody>
      </p:sp>
      <p:sp>
        <p:nvSpPr>
          <p:cNvPr id="16" name="Text 14"/>
          <p:cNvSpPr txBox="1"/>
          <p:nvPr/>
        </p:nvSpPr>
        <p:spPr>
          <a:xfrm>
            <a:off x="6720840" y="2980944"/>
            <a:ext cx="731520" cy="256032"/>
          </a:xfrm>
          <a:prstGeom prst="rect">
            <a:avLst/>
          </a:prstGeom>
          <a:noFill/>
          <a:ln/>
        </p:spPr>
        <p:txBody>
          <a:bodyPr wrap="square" lIns="0" tIns="0" rIns="0" bIns="0" rtlCol="0" anchor="ctr"/>
          <a:lstStyle/>
          <a:p>
            <a:pPr algn="r" indent="0" marL="0">
              <a:buNone/>
            </a:pPr>
            <a:r>
              <a:rPr lang="en-US" sz="1100" dirty="0">
                <a:solidFill>
                  <a:schemeClr val="accent5"/>
                </a:solidFill>
                <a:latin typeface="Consolas" pitchFamily="34" charset="0"/>
                <a:ea typeface="Consolas" pitchFamily="34" charset="-122"/>
                <a:cs typeface="Consolas" pitchFamily="34" charset="-120"/>
              </a:rPr>
              <a:t>conf 0.80</a:t>
            </a:r>
            <a:endParaRPr lang="en-US" sz="1100" dirty="0"/>
          </a:p>
        </p:txBody>
      </p:sp>
      <p:sp>
        <p:nvSpPr>
          <p:cNvPr id="17" name="Shape 15"/>
          <p:cNvSpPr/>
          <p:nvPr/>
        </p:nvSpPr>
        <p:spPr>
          <a:xfrm>
            <a:off x="548640" y="3364992"/>
            <a:ext cx="6995160" cy="658368"/>
          </a:xfrm>
          <a:prstGeom prst="roundRect">
            <a:avLst>
              <a:gd name="adj" fmla="val 11111"/>
            </a:avLst>
          </a:prstGeom>
          <a:solidFill>
            <a:schemeClr val="bg2"/>
          </a:solidFill>
          <a:ln w="9525">
            <a:solidFill>
              <a:schemeClr val="accent6"/>
            </a:solidFill>
            <a:prstDash val="solid"/>
          </a:ln>
        </p:spPr>
      </p:sp>
      <p:sp>
        <p:nvSpPr>
          <p:cNvPr id="18" name="Text 16"/>
          <p:cNvSpPr txBox="1"/>
          <p:nvPr/>
        </p:nvSpPr>
        <p:spPr>
          <a:xfrm>
            <a:off x="658368" y="3419856"/>
            <a:ext cx="868680" cy="347472"/>
          </a:xfrm>
          <a:prstGeom prst="rect">
            <a:avLst/>
          </a:prstGeom>
          <a:noFill/>
          <a:ln/>
        </p:spPr>
        <p:txBody>
          <a:bodyPr wrap="square" lIns="0" tIns="0" rIns="0" bIns="0" rtlCol="0" anchor="ctr"/>
          <a:lstStyle/>
          <a:p>
            <a:pPr algn="ctr" indent="0" marL="0">
              <a:buNone/>
            </a:pPr>
            <a:r>
              <a:rPr lang="en-US" sz="2200" b="1" dirty="0">
                <a:solidFill>
                  <a:schemeClr val="tx2"/>
                </a:solidFill>
                <a:latin typeface="Consolas" pitchFamily="34" charset="0"/>
                <a:ea typeface="Consolas" pitchFamily="34" charset="-122"/>
                <a:cs typeface="Consolas" pitchFamily="34" charset="-120"/>
              </a:rPr>
              <a:t>2.39</a:t>
            </a:r>
            <a:endParaRPr lang="en-US" sz="2200" dirty="0"/>
          </a:p>
        </p:txBody>
      </p:sp>
      <p:sp>
        <p:nvSpPr>
          <p:cNvPr id="19" name="Text 17"/>
          <p:cNvSpPr txBox="1"/>
          <p:nvPr/>
        </p:nvSpPr>
        <p:spPr>
          <a:xfrm>
            <a:off x="658368" y="3767328"/>
            <a:ext cx="868680" cy="182880"/>
          </a:xfrm>
          <a:prstGeom prst="rect">
            <a:avLst/>
          </a:prstGeom>
          <a:noFill/>
          <a:ln/>
        </p:spPr>
        <p:txBody>
          <a:bodyPr wrap="square" lIns="0" tIns="0" rIns="0" bIns="0" rtlCol="0" anchor="ctr"/>
          <a:lstStyle/>
          <a:p>
            <a:pPr algn="ctr" indent="0" marL="0">
              <a:buNone/>
            </a:pPr>
            <a:r>
              <a:rPr lang="en-US" sz="900" b="1" spc="100" kern="0" dirty="0">
                <a:solidFill>
                  <a:schemeClr val="tx2"/>
                </a:solidFill>
              </a:rPr>
              <a:t>LOW</a:t>
            </a:r>
            <a:endParaRPr lang="en-US" sz="900" dirty="0"/>
          </a:p>
        </p:txBody>
      </p:sp>
      <p:sp>
        <p:nvSpPr>
          <p:cNvPr id="20" name="Text 18"/>
          <p:cNvSpPr txBox="1"/>
          <p:nvPr/>
        </p:nvSpPr>
        <p:spPr>
          <a:xfrm>
            <a:off x="1691640" y="3429000"/>
            <a:ext cx="5760720" cy="274320"/>
          </a:xfrm>
          <a:prstGeom prst="rect">
            <a:avLst/>
          </a:prstGeom>
          <a:noFill/>
          <a:ln/>
        </p:spPr>
        <p:txBody>
          <a:bodyPr wrap="square" lIns="0" tIns="0" rIns="0" bIns="0" rtlCol="0" anchor="ctr"/>
          <a:lstStyle/>
          <a:p>
            <a:pPr indent="0" marL="0">
              <a:buNone/>
            </a:pPr>
            <a:r>
              <a:rPr lang="en-US" sz="1500" b="1" dirty="0">
                <a:solidFill>
                  <a:schemeClr val="tx1"/>
                </a:solidFill>
              </a:rPr>
              <a:t>things · container_pause</a:t>
            </a:r>
            <a:pPr indent="0" marL="0">
              <a:buNone/>
            </a:pPr>
            <a:r>
              <a:rPr lang="en-US" sz="1200" dirty="0">
                <a:solidFill>
                  <a:schemeClr val="tx2"/>
                </a:solidFill>
              </a:rPr>
              <a:t>   50% success · p95 3,865 ms</a:t>
            </a:r>
            <a:endParaRPr lang="en-US" sz="1400" dirty="0"/>
          </a:p>
        </p:txBody>
      </p:sp>
      <p:sp>
        <p:nvSpPr>
          <p:cNvPr id="21" name="Text 19"/>
          <p:cNvSpPr txBox="1"/>
          <p:nvPr/>
        </p:nvSpPr>
        <p:spPr>
          <a:xfrm>
            <a:off x="1691640" y="3712464"/>
            <a:ext cx="5074920" cy="256032"/>
          </a:xfrm>
          <a:prstGeom prst="rect">
            <a:avLst/>
          </a:prstGeom>
          <a:noFill/>
          <a:ln/>
        </p:spPr>
        <p:txBody>
          <a:bodyPr wrap="square" lIns="0" tIns="0" rIns="0" bIns="0" rtlCol="0" anchor="ctr"/>
          <a:lstStyle/>
          <a:p>
            <a:pPr indent="0" marL="0">
              <a:buNone/>
            </a:pPr>
            <a:r>
              <a:rPr lang="en-US" sz="1100" dirty="0">
                <a:solidFill>
                  <a:schemeClr val="accent5"/>
                </a:solidFill>
                <a:latin typeface="Consolas" pitchFamily="34" charset="0"/>
                <a:ea typeface="Consolas" pitchFamily="34" charset="-122"/>
                <a:cs typeface="Consolas" pitchFamily="34" charset="-120"/>
              </a:rPr>
              <a:t>→ fix  </a:t>
            </a:r>
            <a:pPr indent="0" marL="0">
              <a:buNone/>
            </a:pPr>
            <a:r>
              <a:rPr lang="en-US" sz="1300" dirty="0">
                <a:solidFill>
                  <a:schemeClr val="accent2"/>
                </a:solidFill>
              </a:rPr>
              <a:t>Scale things horizontally and make clients retry …</a:t>
            </a:r>
            <a:endParaRPr lang="en-US" sz="1300" dirty="0"/>
          </a:p>
        </p:txBody>
      </p:sp>
      <p:sp>
        <p:nvSpPr>
          <p:cNvPr id="22" name="Text 20"/>
          <p:cNvSpPr txBox="1"/>
          <p:nvPr/>
        </p:nvSpPr>
        <p:spPr>
          <a:xfrm>
            <a:off x="6720840" y="3712464"/>
            <a:ext cx="731520" cy="256032"/>
          </a:xfrm>
          <a:prstGeom prst="rect">
            <a:avLst/>
          </a:prstGeom>
          <a:noFill/>
          <a:ln/>
        </p:spPr>
        <p:txBody>
          <a:bodyPr wrap="square" lIns="0" tIns="0" rIns="0" bIns="0" rtlCol="0" anchor="ctr"/>
          <a:lstStyle/>
          <a:p>
            <a:pPr algn="r" indent="0" marL="0">
              <a:buNone/>
            </a:pPr>
            <a:r>
              <a:rPr lang="en-US" sz="1100" dirty="0">
                <a:solidFill>
                  <a:schemeClr val="accent5"/>
                </a:solidFill>
                <a:latin typeface="Consolas" pitchFamily="34" charset="0"/>
                <a:ea typeface="Consolas" pitchFamily="34" charset="-122"/>
                <a:cs typeface="Consolas" pitchFamily="34" charset="-120"/>
              </a:rPr>
              <a:t>conf 0.80</a:t>
            </a:r>
            <a:endParaRPr lang="en-US" sz="1100" dirty="0"/>
          </a:p>
        </p:txBody>
      </p:sp>
      <p:sp>
        <p:nvSpPr>
          <p:cNvPr id="23" name="Shape 21"/>
          <p:cNvSpPr/>
          <p:nvPr/>
        </p:nvSpPr>
        <p:spPr>
          <a:xfrm>
            <a:off x="548640" y="4096512"/>
            <a:ext cx="6995160" cy="658368"/>
          </a:xfrm>
          <a:prstGeom prst="roundRect">
            <a:avLst>
              <a:gd name="adj" fmla="val 11111"/>
            </a:avLst>
          </a:prstGeom>
          <a:solidFill>
            <a:schemeClr val="bg2"/>
          </a:solidFill>
          <a:ln w="9525">
            <a:solidFill>
              <a:schemeClr val="accent6"/>
            </a:solidFill>
            <a:prstDash val="solid"/>
          </a:ln>
        </p:spPr>
      </p:sp>
      <p:sp>
        <p:nvSpPr>
          <p:cNvPr id="24" name="Text 22"/>
          <p:cNvSpPr txBox="1"/>
          <p:nvPr/>
        </p:nvSpPr>
        <p:spPr>
          <a:xfrm>
            <a:off x="658368" y="4151376"/>
            <a:ext cx="868680" cy="347472"/>
          </a:xfrm>
          <a:prstGeom prst="rect">
            <a:avLst/>
          </a:prstGeom>
          <a:noFill/>
          <a:ln/>
        </p:spPr>
        <p:txBody>
          <a:bodyPr wrap="square" lIns="0" tIns="0" rIns="0" bIns="0" rtlCol="0" anchor="ctr"/>
          <a:lstStyle/>
          <a:p>
            <a:pPr algn="ctr" indent="0" marL="0">
              <a:buNone/>
            </a:pPr>
            <a:r>
              <a:rPr lang="en-US" sz="2200" b="1" dirty="0">
                <a:solidFill>
                  <a:schemeClr val="tx2"/>
                </a:solidFill>
                <a:latin typeface="Consolas" pitchFamily="34" charset="0"/>
                <a:ea typeface="Consolas" pitchFamily="34" charset="-122"/>
                <a:cs typeface="Consolas" pitchFamily="34" charset="-120"/>
              </a:rPr>
              <a:t>2.29</a:t>
            </a:r>
            <a:endParaRPr lang="en-US" sz="2200" dirty="0"/>
          </a:p>
        </p:txBody>
      </p:sp>
      <p:sp>
        <p:nvSpPr>
          <p:cNvPr id="25" name="Text 23"/>
          <p:cNvSpPr txBox="1"/>
          <p:nvPr/>
        </p:nvSpPr>
        <p:spPr>
          <a:xfrm>
            <a:off x="658368" y="4498848"/>
            <a:ext cx="868680" cy="182880"/>
          </a:xfrm>
          <a:prstGeom prst="rect">
            <a:avLst/>
          </a:prstGeom>
          <a:noFill/>
          <a:ln/>
        </p:spPr>
        <p:txBody>
          <a:bodyPr wrap="square" lIns="0" tIns="0" rIns="0" bIns="0" rtlCol="0" anchor="ctr"/>
          <a:lstStyle/>
          <a:p>
            <a:pPr algn="ctr" indent="0" marL="0">
              <a:buNone/>
            </a:pPr>
            <a:r>
              <a:rPr lang="en-US" sz="900" b="1" spc="100" kern="0" dirty="0">
                <a:solidFill>
                  <a:schemeClr val="tx2"/>
                </a:solidFill>
              </a:rPr>
              <a:t>LOW</a:t>
            </a:r>
            <a:endParaRPr lang="en-US" sz="900" dirty="0"/>
          </a:p>
        </p:txBody>
      </p:sp>
      <p:sp>
        <p:nvSpPr>
          <p:cNvPr id="26" name="Text 24"/>
          <p:cNvSpPr txBox="1"/>
          <p:nvPr/>
        </p:nvSpPr>
        <p:spPr>
          <a:xfrm>
            <a:off x="1691640" y="4160520"/>
            <a:ext cx="5760720" cy="274320"/>
          </a:xfrm>
          <a:prstGeom prst="rect">
            <a:avLst/>
          </a:prstGeom>
          <a:noFill/>
          <a:ln/>
        </p:spPr>
        <p:txBody>
          <a:bodyPr wrap="square" lIns="0" tIns="0" rIns="0" bIns="0" rtlCol="0" anchor="ctr"/>
          <a:lstStyle/>
          <a:p>
            <a:pPr indent="0" marL="0">
              <a:buNone/>
            </a:pPr>
            <a:r>
              <a:rPr lang="en-US" sz="1500" b="1" dirty="0">
                <a:solidFill>
                  <a:schemeClr val="tx1"/>
                </a:solidFill>
              </a:rPr>
              <a:t>mongodb · db_flood</a:t>
            </a:r>
            <a:pPr indent="0" marL="0">
              <a:buNone/>
            </a:pPr>
            <a:r>
              <a:rPr lang="en-US" sz="1200" dirty="0">
                <a:solidFill>
                  <a:schemeClr val="tx2"/>
                </a:solidFill>
              </a:rPr>
              <a:t>   recovery 121 s vs 60 s hypothesised</a:t>
            </a:r>
            <a:endParaRPr lang="en-US" sz="1400" dirty="0"/>
          </a:p>
        </p:txBody>
      </p:sp>
      <p:sp>
        <p:nvSpPr>
          <p:cNvPr id="27" name="Text 25"/>
          <p:cNvSpPr txBox="1"/>
          <p:nvPr/>
        </p:nvSpPr>
        <p:spPr>
          <a:xfrm>
            <a:off x="1691640" y="4443984"/>
            <a:ext cx="5074920" cy="256032"/>
          </a:xfrm>
          <a:prstGeom prst="rect">
            <a:avLst/>
          </a:prstGeom>
          <a:noFill/>
          <a:ln/>
        </p:spPr>
        <p:txBody>
          <a:bodyPr wrap="square" lIns="0" tIns="0" rIns="0" bIns="0" rtlCol="0" anchor="ctr"/>
          <a:lstStyle/>
          <a:p>
            <a:pPr indent="0" marL="0">
              <a:buNone/>
            </a:pPr>
            <a:r>
              <a:rPr lang="en-US" sz="1100" dirty="0">
                <a:solidFill>
                  <a:schemeClr val="accent5"/>
                </a:solidFill>
                <a:latin typeface="Consolas" pitchFamily="34" charset="0"/>
                <a:ea typeface="Consolas" pitchFamily="34" charset="-122"/>
                <a:cs typeface="Consolas" pitchFamily="34" charset="-120"/>
              </a:rPr>
              <a:t>→ fix  </a:t>
            </a:r>
            <a:pPr indent="0" marL="0">
              <a:buNone/>
            </a:pPr>
            <a:r>
              <a:rPr lang="en-US" sz="1300" dirty="0">
                <a:solidFill>
                  <a:schemeClr val="accent2"/>
                </a:solidFill>
              </a:rPr>
              <a:t>Add a MongoDB healthcheck and an autoheal sidecar</a:t>
            </a:r>
            <a:endParaRPr lang="en-US" sz="1300" dirty="0"/>
          </a:p>
        </p:txBody>
      </p:sp>
      <p:sp>
        <p:nvSpPr>
          <p:cNvPr id="28" name="Text 26"/>
          <p:cNvSpPr txBox="1"/>
          <p:nvPr/>
        </p:nvSpPr>
        <p:spPr>
          <a:xfrm>
            <a:off x="6720840" y="4443984"/>
            <a:ext cx="731520" cy="256032"/>
          </a:xfrm>
          <a:prstGeom prst="rect">
            <a:avLst/>
          </a:prstGeom>
          <a:noFill/>
          <a:ln/>
        </p:spPr>
        <p:txBody>
          <a:bodyPr wrap="square" lIns="0" tIns="0" rIns="0" bIns="0" rtlCol="0" anchor="ctr"/>
          <a:lstStyle/>
          <a:p>
            <a:pPr algn="r" indent="0" marL="0">
              <a:buNone/>
            </a:pPr>
            <a:r>
              <a:rPr lang="en-US" sz="1100" dirty="0">
                <a:solidFill>
                  <a:schemeClr val="accent5"/>
                </a:solidFill>
                <a:latin typeface="Consolas" pitchFamily="34" charset="0"/>
                <a:ea typeface="Consolas" pitchFamily="34" charset="-122"/>
                <a:cs typeface="Consolas" pitchFamily="34" charset="-120"/>
              </a:rPr>
              <a:t>conf 0.85</a:t>
            </a:r>
            <a:endParaRPr lang="en-US" sz="1100" dirty="0"/>
          </a:p>
        </p:txBody>
      </p:sp>
      <p:sp>
        <p:nvSpPr>
          <p:cNvPr id="29" name="Shape 27"/>
          <p:cNvSpPr/>
          <p:nvPr/>
        </p:nvSpPr>
        <p:spPr>
          <a:xfrm>
            <a:off x="548640" y="4828032"/>
            <a:ext cx="6995160" cy="658368"/>
          </a:xfrm>
          <a:prstGeom prst="roundRect">
            <a:avLst>
              <a:gd name="adj" fmla="val 11111"/>
            </a:avLst>
          </a:prstGeom>
          <a:solidFill>
            <a:schemeClr val="bg2"/>
          </a:solidFill>
          <a:ln w="9525">
            <a:solidFill>
              <a:schemeClr val="accent6"/>
            </a:solidFill>
            <a:prstDash val="solid"/>
          </a:ln>
        </p:spPr>
      </p:sp>
      <p:sp>
        <p:nvSpPr>
          <p:cNvPr id="30" name="Text 28"/>
          <p:cNvSpPr txBox="1"/>
          <p:nvPr/>
        </p:nvSpPr>
        <p:spPr>
          <a:xfrm>
            <a:off x="658368" y="4882896"/>
            <a:ext cx="868680" cy="347472"/>
          </a:xfrm>
          <a:prstGeom prst="rect">
            <a:avLst/>
          </a:prstGeom>
          <a:noFill/>
          <a:ln/>
        </p:spPr>
        <p:txBody>
          <a:bodyPr wrap="square" lIns="0" tIns="0" rIns="0" bIns="0" rtlCol="0" anchor="ctr"/>
          <a:lstStyle/>
          <a:p>
            <a:pPr algn="ctr" indent="0" marL="0">
              <a:buNone/>
            </a:pPr>
            <a:r>
              <a:rPr lang="en-US" sz="2200" b="1" dirty="0">
                <a:solidFill>
                  <a:schemeClr val="tx2"/>
                </a:solidFill>
                <a:latin typeface="Consolas" pitchFamily="34" charset="0"/>
                <a:ea typeface="Consolas" pitchFamily="34" charset="-122"/>
                <a:cs typeface="Consolas" pitchFamily="34" charset="-120"/>
              </a:rPr>
              <a:t>2.10</a:t>
            </a:r>
            <a:endParaRPr lang="en-US" sz="2200" dirty="0"/>
          </a:p>
        </p:txBody>
      </p:sp>
      <p:sp>
        <p:nvSpPr>
          <p:cNvPr id="31" name="Text 29"/>
          <p:cNvSpPr txBox="1"/>
          <p:nvPr/>
        </p:nvSpPr>
        <p:spPr>
          <a:xfrm>
            <a:off x="658368" y="5230368"/>
            <a:ext cx="868680" cy="182880"/>
          </a:xfrm>
          <a:prstGeom prst="rect">
            <a:avLst/>
          </a:prstGeom>
          <a:noFill/>
          <a:ln/>
        </p:spPr>
        <p:txBody>
          <a:bodyPr wrap="square" lIns="0" tIns="0" rIns="0" bIns="0" rtlCol="0" anchor="ctr"/>
          <a:lstStyle/>
          <a:p>
            <a:pPr algn="ctr" indent="0" marL="0">
              <a:buNone/>
            </a:pPr>
            <a:r>
              <a:rPr lang="en-US" sz="900" b="1" spc="100" kern="0" dirty="0">
                <a:solidFill>
                  <a:schemeClr val="tx2"/>
                </a:solidFill>
              </a:rPr>
              <a:t>LOW</a:t>
            </a:r>
            <a:endParaRPr lang="en-US" sz="900" dirty="0"/>
          </a:p>
        </p:txBody>
      </p:sp>
      <p:sp>
        <p:nvSpPr>
          <p:cNvPr id="32" name="Text 30"/>
          <p:cNvSpPr txBox="1"/>
          <p:nvPr/>
        </p:nvSpPr>
        <p:spPr>
          <a:xfrm>
            <a:off x="1691640" y="4892040"/>
            <a:ext cx="5760720" cy="274320"/>
          </a:xfrm>
          <a:prstGeom prst="rect">
            <a:avLst/>
          </a:prstGeom>
          <a:noFill/>
          <a:ln/>
        </p:spPr>
        <p:txBody>
          <a:bodyPr wrap="square" lIns="0" tIns="0" rIns="0" bIns="0" rtlCol="0" anchor="ctr"/>
          <a:lstStyle/>
          <a:p>
            <a:pPr indent="0" marL="0">
              <a:buNone/>
            </a:pPr>
            <a:r>
              <a:rPr lang="en-US" sz="1500" b="1" dirty="0">
                <a:solidFill>
                  <a:schemeClr val="tx1"/>
                </a:solidFill>
              </a:rPr>
              <a:t>gateway · container_pause</a:t>
            </a:r>
            <a:pPr indent="0" marL="0">
              <a:buNone/>
            </a:pPr>
            <a:r>
              <a:rPr lang="en-US" sz="1200" dirty="0">
                <a:solidFill>
                  <a:schemeClr val="tx2"/>
                </a:solidFill>
              </a:rPr>
              <a:t>   57% success · p95 4,820 ms</a:t>
            </a:r>
            <a:endParaRPr lang="en-US" sz="1400" dirty="0"/>
          </a:p>
        </p:txBody>
      </p:sp>
      <p:sp>
        <p:nvSpPr>
          <p:cNvPr id="33" name="Text 31"/>
          <p:cNvSpPr txBox="1"/>
          <p:nvPr/>
        </p:nvSpPr>
        <p:spPr>
          <a:xfrm>
            <a:off x="1691640" y="5175504"/>
            <a:ext cx="5074920" cy="256032"/>
          </a:xfrm>
          <a:prstGeom prst="rect">
            <a:avLst/>
          </a:prstGeom>
          <a:noFill/>
          <a:ln/>
        </p:spPr>
        <p:txBody>
          <a:bodyPr wrap="square" lIns="0" tIns="0" rIns="0" bIns="0" rtlCol="0" anchor="ctr"/>
          <a:lstStyle/>
          <a:p>
            <a:pPr indent="0" marL="0">
              <a:buNone/>
            </a:pPr>
            <a:r>
              <a:rPr lang="en-US" sz="1100" dirty="0">
                <a:solidFill>
                  <a:schemeClr val="accent5"/>
                </a:solidFill>
                <a:latin typeface="Consolas" pitchFamily="34" charset="0"/>
                <a:ea typeface="Consolas" pitchFamily="34" charset="-122"/>
                <a:cs typeface="Consolas" pitchFamily="34" charset="-120"/>
              </a:rPr>
              <a:t>→ fix  </a:t>
            </a:r>
            <a:pPr indent="0" marL="0">
              <a:buNone/>
            </a:pPr>
            <a:r>
              <a:rPr lang="en-US" sz="1300" dirty="0">
                <a:solidFill>
                  <a:schemeClr val="accent2"/>
                </a:solidFill>
              </a:rPr>
              <a:t>Run two gateway replicas behind an nginx upstream …</a:t>
            </a:r>
            <a:endParaRPr lang="en-US" sz="1300" dirty="0"/>
          </a:p>
        </p:txBody>
      </p:sp>
      <p:sp>
        <p:nvSpPr>
          <p:cNvPr id="34" name="Text 32"/>
          <p:cNvSpPr txBox="1"/>
          <p:nvPr/>
        </p:nvSpPr>
        <p:spPr>
          <a:xfrm>
            <a:off x="6720840" y="5175504"/>
            <a:ext cx="731520" cy="256032"/>
          </a:xfrm>
          <a:prstGeom prst="rect">
            <a:avLst/>
          </a:prstGeom>
          <a:noFill/>
          <a:ln/>
        </p:spPr>
        <p:txBody>
          <a:bodyPr wrap="square" lIns="0" tIns="0" rIns="0" bIns="0" rtlCol="0" anchor="ctr"/>
          <a:lstStyle/>
          <a:p>
            <a:pPr algn="r" indent="0" marL="0">
              <a:buNone/>
            </a:pPr>
            <a:r>
              <a:rPr lang="en-US" sz="1100" dirty="0">
                <a:solidFill>
                  <a:schemeClr val="accent5"/>
                </a:solidFill>
                <a:latin typeface="Consolas" pitchFamily="34" charset="0"/>
                <a:ea typeface="Consolas" pitchFamily="34" charset="-122"/>
                <a:cs typeface="Consolas" pitchFamily="34" charset="-120"/>
              </a:rPr>
              <a:t>conf 0.85</a:t>
            </a:r>
            <a:endParaRPr lang="en-US" sz="1100" dirty="0"/>
          </a:p>
        </p:txBody>
      </p:sp>
      <p:sp>
        <p:nvSpPr>
          <p:cNvPr id="35" name="Text 33"/>
          <p:cNvSpPr txBox="1"/>
          <p:nvPr/>
        </p:nvSpPr>
        <p:spPr>
          <a:xfrm>
            <a:off x="548640" y="5596128"/>
            <a:ext cx="6995160" cy="365760"/>
          </a:xfrm>
          <a:prstGeom prst="rect">
            <a:avLst/>
          </a:prstGeom>
          <a:noFill/>
          <a:ln/>
        </p:spPr>
        <p:txBody>
          <a:bodyPr wrap="square" lIns="0" tIns="0" rIns="0" bIns="0" rtlCol="0" anchor="t"/>
          <a:lstStyle/>
          <a:p>
            <a:pPr indent="0" marL="0">
              <a:buNone/>
            </a:pPr>
            <a:r>
              <a:rPr lang="en-US" sz="1100" dirty="0">
                <a:solidFill>
                  <a:schemeClr val="accent5"/>
                </a:solidFill>
              </a:rPr>
              <a:t>+ 6 more, all LOW (0.39–1.53): five degrade-only faults on mongodb, one network_delay on policies</a:t>
            </a:r>
            <a:endParaRPr lang="en-US" sz="1100" dirty="0"/>
          </a:p>
        </p:txBody>
      </p:sp>
      <p:sp>
        <p:nvSpPr>
          <p:cNvPr id="36" name="Text 34"/>
          <p:cNvSpPr txBox="1"/>
          <p:nvPr/>
        </p:nvSpPr>
        <p:spPr>
          <a:xfrm>
            <a:off x="7818120" y="1572768"/>
            <a:ext cx="3822192" cy="256032"/>
          </a:xfrm>
          <a:prstGeom prst="rect">
            <a:avLst/>
          </a:prstGeom>
          <a:noFill/>
          <a:ln/>
        </p:spPr>
        <p:txBody>
          <a:bodyPr wrap="square" lIns="0" tIns="0" rIns="0" bIns="0" rtlCol="0" anchor="ctr"/>
          <a:lstStyle/>
          <a:p>
            <a:pPr indent="0" marL="0">
              <a:buNone/>
            </a:pPr>
            <a:r>
              <a:rPr lang="en-US" sz="1100" spc="100" kern="0" dirty="0">
                <a:solidFill>
                  <a:schemeClr val="accent5"/>
                </a:solidFill>
                <a:latin typeface="Consolas" pitchFamily="34" charset="0"/>
                <a:ea typeface="Consolas" pitchFamily="34" charset="-122"/>
                <a:cs typeface="Consolas" pitchFamily="34" charset="-120"/>
              </a:rPr>
              <a:t>SCORECARD · worst first</a:t>
            </a:r>
            <a:endParaRPr lang="en-US" sz="1100" dirty="0"/>
          </a:p>
        </p:txBody>
      </p:sp>
      <p:sp>
        <p:nvSpPr>
          <p:cNvPr id="37" name="!!scorepanel"/>
          <p:cNvSpPr/>
          <p:nvPr/>
        </p:nvSpPr>
        <p:spPr>
          <a:xfrm>
            <a:off x="7818120" y="1901952"/>
            <a:ext cx="3822192" cy="3648456"/>
          </a:xfrm>
          <a:prstGeom prst="roundRect">
            <a:avLst>
              <a:gd name="adj" fmla="val 2005"/>
            </a:avLst>
          </a:prstGeom>
          <a:solidFill>
            <a:schemeClr val="bg2"/>
          </a:solidFill>
          <a:ln w="9525">
            <a:solidFill>
              <a:schemeClr val="accent6"/>
            </a:solidFill>
            <a:prstDash val="solid"/>
          </a:ln>
        </p:spPr>
      </p:sp>
      <p:sp>
        <p:nvSpPr>
          <p:cNvPr id="38" name="!!overall"/>
          <p:cNvSpPr txBox="1"/>
          <p:nvPr/>
        </p:nvSpPr>
        <p:spPr>
          <a:xfrm>
            <a:off x="8001000" y="2011680"/>
            <a:ext cx="1600200" cy="685800"/>
          </a:xfrm>
          <a:prstGeom prst="rect">
            <a:avLst/>
          </a:prstGeom>
          <a:noFill/>
          <a:ln/>
        </p:spPr>
        <p:txBody>
          <a:bodyPr wrap="square" lIns="0" tIns="0" rIns="0" bIns="0" rtlCol="0" anchor="ctr"/>
          <a:lstStyle/>
          <a:p>
            <a:pPr indent="0" marL="0">
              <a:buNone/>
            </a:pPr>
            <a:r>
              <a:rPr lang="en-US" sz="4400" b="1" dirty="0">
                <a:solidFill>
                  <a:schemeClr val="tx1"/>
                </a:solidFill>
              </a:rPr>
              <a:t>81.0</a:t>
            </a:r>
            <a:endParaRPr lang="en-US" sz="4400" dirty="0"/>
          </a:p>
        </p:txBody>
      </p:sp>
      <p:sp>
        <p:nvSpPr>
          <p:cNvPr id="39" name="Text 37"/>
          <p:cNvSpPr txBox="1"/>
          <p:nvPr/>
        </p:nvSpPr>
        <p:spPr>
          <a:xfrm>
            <a:off x="9555480" y="2103120"/>
            <a:ext cx="1965960" cy="548640"/>
          </a:xfrm>
          <a:prstGeom prst="rect">
            <a:avLst/>
          </a:prstGeom>
          <a:noFill/>
          <a:ln/>
        </p:spPr>
        <p:txBody>
          <a:bodyPr wrap="square" lIns="0" tIns="0" rIns="0" bIns="0" rtlCol="0" anchor="ctr"/>
          <a:lstStyle/>
          <a:p>
            <a:pPr indent="0" marL="0">
              <a:buNone/>
            </a:pPr>
            <a:r>
              <a:rPr lang="en-US" sz="1300" dirty="0">
                <a:solidFill>
                  <a:schemeClr val="tx2"/>
                </a:solidFill>
              </a:rPr>
              <a:t>/ 100 overall</a:t>
            </a:r>
            <a:endParaRPr lang="en-US" sz="1300" dirty="0"/>
          </a:p>
          <a:p>
            <a:pPr indent="0" marL="0">
              <a:buNone/>
            </a:pPr>
            <a:r>
              <a:rPr lang="en-US" sz="1100" dirty="0">
                <a:solidFill>
                  <a:schemeClr val="accent5"/>
                </a:solidFill>
              </a:rPr>
              <a:t>11 experiments · 4/7 services</a:t>
            </a:r>
            <a:endParaRPr lang="en-US" sz="1300" dirty="0"/>
          </a:p>
        </p:txBody>
      </p:sp>
      <p:sp>
        <p:nvSpPr>
          <p:cNvPr id="40" name="Text 38"/>
          <p:cNvSpPr txBox="1"/>
          <p:nvPr/>
        </p:nvSpPr>
        <p:spPr>
          <a:xfrm>
            <a:off x="8001000" y="2880360"/>
            <a:ext cx="1051560" cy="329184"/>
          </a:xfrm>
          <a:prstGeom prst="rect">
            <a:avLst/>
          </a:prstGeom>
          <a:noFill/>
          <a:ln/>
        </p:spPr>
        <p:txBody>
          <a:bodyPr wrap="square" lIns="0" tIns="0" rIns="0" bIns="0" rtlCol="0" anchor="ctr"/>
          <a:lstStyle/>
          <a:p>
            <a:pPr indent="0" marL="0">
              <a:buNone/>
            </a:pPr>
            <a:r>
              <a:rPr lang="en-US" sz="1400" dirty="0">
                <a:solidFill>
                  <a:schemeClr val="tx1"/>
                </a:solidFill>
              </a:rPr>
              <a:t>things</a:t>
            </a:r>
            <a:endParaRPr lang="en-US" sz="1400" dirty="0"/>
          </a:p>
        </p:txBody>
      </p:sp>
      <p:sp>
        <p:nvSpPr>
          <p:cNvPr id="41" name="!!grade0"/>
          <p:cNvSpPr/>
          <p:nvPr/>
        </p:nvSpPr>
        <p:spPr>
          <a:xfrm>
            <a:off x="9061704" y="2880360"/>
            <a:ext cx="329184" cy="329184"/>
          </a:xfrm>
          <a:prstGeom prst="roundRect">
            <a:avLst>
              <a:gd name="adj" fmla="val 13889"/>
            </a:avLst>
          </a:prstGeom>
          <a:solidFill>
            <a:schemeClr val="accent1"/>
          </a:solidFill>
          <a:ln w="9525">
            <a:solidFill>
              <a:schemeClr val="accent1"/>
            </a:solidFill>
            <a:prstDash val="solid"/>
          </a:ln>
        </p:spPr>
      </p:sp>
      <p:sp>
        <p:nvSpPr>
          <p:cNvPr id="42" name="Text 40"/>
          <p:cNvSpPr txBox="1"/>
          <p:nvPr/>
        </p:nvSpPr>
        <p:spPr>
          <a:xfrm>
            <a:off x="9061704" y="288036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43" name="!!track0"/>
          <p:cNvSpPr/>
          <p:nvPr/>
        </p:nvSpPr>
        <p:spPr>
          <a:xfrm>
            <a:off x="9509760" y="2980944"/>
            <a:ext cx="1417320" cy="128016"/>
          </a:xfrm>
          <a:prstGeom prst="rect">
            <a:avLst/>
          </a:prstGeom>
          <a:solidFill>
            <a:schemeClr val="accent6"/>
          </a:solidFill>
          <a:ln w="9525">
            <a:solidFill>
              <a:schemeClr val="accent6"/>
            </a:solidFill>
            <a:prstDash val="solid"/>
          </a:ln>
        </p:spPr>
      </p:sp>
      <p:sp>
        <p:nvSpPr>
          <p:cNvPr id="44" name="!!bar0"/>
          <p:cNvSpPr/>
          <p:nvPr/>
        </p:nvSpPr>
        <p:spPr>
          <a:xfrm>
            <a:off x="9509760" y="2980944"/>
            <a:ext cx="27432" cy="128016"/>
          </a:xfrm>
          <a:prstGeom prst="rect">
            <a:avLst/>
          </a:prstGeom>
          <a:solidFill>
            <a:schemeClr val="accent1"/>
          </a:solidFill>
          <a:ln w="9525">
            <a:solidFill>
              <a:schemeClr val="accent1"/>
            </a:solidFill>
            <a:prstDash val="solid"/>
          </a:ln>
        </p:spPr>
      </p:sp>
      <p:sp>
        <p:nvSpPr>
          <p:cNvPr id="45" name="Text 43"/>
          <p:cNvSpPr txBox="1"/>
          <p:nvPr/>
        </p:nvSpPr>
        <p:spPr>
          <a:xfrm>
            <a:off x="10972800" y="2880360"/>
            <a:ext cx="548640" cy="329184"/>
          </a:xfrm>
          <a:prstGeom prst="rect">
            <a:avLst/>
          </a:prstGeom>
          <a:noFill/>
          <a:ln/>
        </p:spPr>
        <p:txBody>
          <a:bodyPr wrap="square" lIns="0" tIns="0" rIns="0" bIns="0" rtlCol="0" anchor="ctr"/>
          <a:lstStyle/>
          <a:p>
            <a:pPr algn="r" indent="0" marL="0">
              <a:buNone/>
            </a:pPr>
            <a:r>
              <a:rPr lang="en-US" sz="1300" dirty="0">
                <a:solidFill>
                  <a:schemeClr val="tx1"/>
                </a:solidFill>
                <a:latin typeface="Consolas" pitchFamily="34" charset="0"/>
                <a:ea typeface="Consolas" pitchFamily="34" charset="-122"/>
                <a:cs typeface="Consolas" pitchFamily="34" charset="-120"/>
              </a:rPr>
              <a:t>49.7</a:t>
            </a:r>
            <a:endParaRPr lang="en-US" sz="1300" dirty="0"/>
          </a:p>
        </p:txBody>
      </p:sp>
      <p:sp>
        <p:nvSpPr>
          <p:cNvPr id="46" name="Text 44"/>
          <p:cNvSpPr txBox="1"/>
          <p:nvPr/>
        </p:nvSpPr>
        <p:spPr>
          <a:xfrm>
            <a:off x="8001000" y="3392424"/>
            <a:ext cx="1051560" cy="329184"/>
          </a:xfrm>
          <a:prstGeom prst="rect">
            <a:avLst/>
          </a:prstGeom>
          <a:noFill/>
          <a:ln/>
        </p:spPr>
        <p:txBody>
          <a:bodyPr wrap="square" lIns="0" tIns="0" rIns="0" bIns="0" rtlCol="0" anchor="ctr"/>
          <a:lstStyle/>
          <a:p>
            <a:pPr indent="0" marL="0">
              <a:buNone/>
            </a:pPr>
            <a:r>
              <a:rPr lang="en-US" sz="1400" dirty="0">
                <a:solidFill>
                  <a:schemeClr val="tx1"/>
                </a:solidFill>
              </a:rPr>
              <a:t>gateway</a:t>
            </a:r>
            <a:endParaRPr lang="en-US" sz="1400" dirty="0"/>
          </a:p>
        </p:txBody>
      </p:sp>
      <p:sp>
        <p:nvSpPr>
          <p:cNvPr id="47" name="!!grade1"/>
          <p:cNvSpPr/>
          <p:nvPr/>
        </p:nvSpPr>
        <p:spPr>
          <a:xfrm>
            <a:off x="9061704" y="3392424"/>
            <a:ext cx="329184" cy="329184"/>
          </a:xfrm>
          <a:prstGeom prst="roundRect">
            <a:avLst>
              <a:gd name="adj" fmla="val 13889"/>
            </a:avLst>
          </a:prstGeom>
          <a:solidFill>
            <a:schemeClr val="accent3"/>
          </a:solidFill>
          <a:ln w="9525">
            <a:solidFill>
              <a:schemeClr val="accent3"/>
            </a:solidFill>
            <a:prstDash val="solid"/>
          </a:ln>
        </p:spPr>
      </p:sp>
      <p:sp>
        <p:nvSpPr>
          <p:cNvPr id="48" name="Text 46"/>
          <p:cNvSpPr txBox="1"/>
          <p:nvPr/>
        </p:nvSpPr>
        <p:spPr>
          <a:xfrm>
            <a:off x="9061704" y="3392424"/>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49" name="!!track1"/>
          <p:cNvSpPr/>
          <p:nvPr/>
        </p:nvSpPr>
        <p:spPr>
          <a:xfrm>
            <a:off x="9509760" y="3493008"/>
            <a:ext cx="1417320" cy="128016"/>
          </a:xfrm>
          <a:prstGeom prst="rect">
            <a:avLst/>
          </a:prstGeom>
          <a:solidFill>
            <a:schemeClr val="accent6"/>
          </a:solidFill>
          <a:ln w="9525">
            <a:solidFill>
              <a:schemeClr val="accent6"/>
            </a:solidFill>
            <a:prstDash val="solid"/>
          </a:ln>
        </p:spPr>
      </p:sp>
      <p:sp>
        <p:nvSpPr>
          <p:cNvPr id="50" name="!!bar1"/>
          <p:cNvSpPr/>
          <p:nvPr/>
        </p:nvSpPr>
        <p:spPr>
          <a:xfrm>
            <a:off x="9509760" y="3493008"/>
            <a:ext cx="27432" cy="128016"/>
          </a:xfrm>
          <a:prstGeom prst="rect">
            <a:avLst/>
          </a:prstGeom>
          <a:solidFill>
            <a:schemeClr val="accent3"/>
          </a:solidFill>
          <a:ln w="9525">
            <a:solidFill>
              <a:schemeClr val="accent3"/>
            </a:solidFill>
            <a:prstDash val="solid"/>
          </a:ln>
        </p:spPr>
      </p:sp>
      <p:sp>
        <p:nvSpPr>
          <p:cNvPr id="51" name="Text 49"/>
          <p:cNvSpPr txBox="1"/>
          <p:nvPr/>
        </p:nvSpPr>
        <p:spPr>
          <a:xfrm>
            <a:off x="10972800" y="3392424"/>
            <a:ext cx="548640" cy="329184"/>
          </a:xfrm>
          <a:prstGeom prst="rect">
            <a:avLst/>
          </a:prstGeom>
          <a:noFill/>
          <a:ln/>
        </p:spPr>
        <p:txBody>
          <a:bodyPr wrap="square" lIns="0" tIns="0" rIns="0" bIns="0" rtlCol="0" anchor="ctr"/>
          <a:lstStyle/>
          <a:p>
            <a:pPr algn="r" indent="0" marL="0">
              <a:buNone/>
            </a:pPr>
            <a:r>
              <a:rPr lang="en-US" sz="1300" dirty="0">
                <a:solidFill>
                  <a:schemeClr val="tx1"/>
                </a:solidFill>
                <a:latin typeface="Consolas" pitchFamily="34" charset="0"/>
                <a:ea typeface="Consolas" pitchFamily="34" charset="-122"/>
                <a:cs typeface="Consolas" pitchFamily="34" charset="-120"/>
              </a:rPr>
              <a:t>81.8</a:t>
            </a:r>
            <a:endParaRPr lang="en-US" sz="1300" dirty="0"/>
          </a:p>
        </p:txBody>
      </p:sp>
      <p:sp>
        <p:nvSpPr>
          <p:cNvPr id="52" name="Text 50"/>
          <p:cNvSpPr txBox="1"/>
          <p:nvPr/>
        </p:nvSpPr>
        <p:spPr>
          <a:xfrm>
            <a:off x="8001000" y="3904488"/>
            <a:ext cx="1051560" cy="329184"/>
          </a:xfrm>
          <a:prstGeom prst="rect">
            <a:avLst/>
          </a:prstGeom>
          <a:noFill/>
          <a:ln/>
        </p:spPr>
        <p:txBody>
          <a:bodyPr wrap="square" lIns="0" tIns="0" rIns="0" bIns="0" rtlCol="0" anchor="ctr"/>
          <a:lstStyle/>
          <a:p>
            <a:pPr indent="0" marL="0">
              <a:buNone/>
            </a:pPr>
            <a:r>
              <a:rPr lang="en-US" sz="1400" dirty="0">
                <a:solidFill>
                  <a:schemeClr val="tx1"/>
                </a:solidFill>
              </a:rPr>
              <a:t>mongodb</a:t>
            </a:r>
            <a:endParaRPr lang="en-US" sz="1400" dirty="0"/>
          </a:p>
        </p:txBody>
      </p:sp>
      <p:sp>
        <p:nvSpPr>
          <p:cNvPr id="53" name="!!grade2"/>
          <p:cNvSpPr/>
          <p:nvPr/>
        </p:nvSpPr>
        <p:spPr>
          <a:xfrm>
            <a:off x="9061704" y="3904488"/>
            <a:ext cx="329184" cy="329184"/>
          </a:xfrm>
          <a:prstGeom prst="roundRect">
            <a:avLst>
              <a:gd name="adj" fmla="val 13889"/>
            </a:avLst>
          </a:prstGeom>
          <a:solidFill>
            <a:schemeClr val="accent2"/>
          </a:solidFill>
          <a:ln w="9525">
            <a:solidFill>
              <a:schemeClr val="accent2"/>
            </a:solidFill>
            <a:prstDash val="solid"/>
          </a:ln>
        </p:spPr>
      </p:sp>
      <p:sp>
        <p:nvSpPr>
          <p:cNvPr id="54" name="Text 52"/>
          <p:cNvSpPr txBox="1"/>
          <p:nvPr/>
        </p:nvSpPr>
        <p:spPr>
          <a:xfrm>
            <a:off x="9061704" y="390448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55" name="!!track2"/>
          <p:cNvSpPr/>
          <p:nvPr/>
        </p:nvSpPr>
        <p:spPr>
          <a:xfrm>
            <a:off x="9509760" y="4005072"/>
            <a:ext cx="1417320" cy="128016"/>
          </a:xfrm>
          <a:prstGeom prst="rect">
            <a:avLst/>
          </a:prstGeom>
          <a:solidFill>
            <a:schemeClr val="accent6"/>
          </a:solidFill>
          <a:ln w="9525">
            <a:solidFill>
              <a:schemeClr val="accent6"/>
            </a:solidFill>
            <a:prstDash val="solid"/>
          </a:ln>
        </p:spPr>
      </p:sp>
      <p:sp>
        <p:nvSpPr>
          <p:cNvPr id="56" name="!!bar2"/>
          <p:cNvSpPr/>
          <p:nvPr/>
        </p:nvSpPr>
        <p:spPr>
          <a:xfrm>
            <a:off x="9509760" y="4005072"/>
            <a:ext cx="27432" cy="128016"/>
          </a:xfrm>
          <a:prstGeom prst="rect">
            <a:avLst/>
          </a:prstGeom>
          <a:solidFill>
            <a:schemeClr val="accent2"/>
          </a:solidFill>
          <a:ln w="9525">
            <a:solidFill>
              <a:schemeClr val="accent2"/>
            </a:solidFill>
            <a:prstDash val="solid"/>
          </a:ln>
        </p:spPr>
      </p:sp>
      <p:sp>
        <p:nvSpPr>
          <p:cNvPr id="57" name="Text 55"/>
          <p:cNvSpPr txBox="1"/>
          <p:nvPr/>
        </p:nvSpPr>
        <p:spPr>
          <a:xfrm>
            <a:off x="10972800" y="3904488"/>
            <a:ext cx="548640" cy="329184"/>
          </a:xfrm>
          <a:prstGeom prst="rect">
            <a:avLst/>
          </a:prstGeom>
          <a:noFill/>
          <a:ln/>
        </p:spPr>
        <p:txBody>
          <a:bodyPr wrap="square" lIns="0" tIns="0" rIns="0" bIns="0" rtlCol="0" anchor="ctr"/>
          <a:lstStyle/>
          <a:p>
            <a:pPr algn="r" indent="0" marL="0">
              <a:buNone/>
            </a:pPr>
            <a:r>
              <a:rPr lang="en-US" sz="1300" dirty="0">
                <a:solidFill>
                  <a:schemeClr val="tx1"/>
                </a:solidFill>
                <a:latin typeface="Consolas" pitchFamily="34" charset="0"/>
                <a:ea typeface="Consolas" pitchFamily="34" charset="-122"/>
                <a:cs typeface="Consolas" pitchFamily="34" charset="-120"/>
              </a:rPr>
              <a:t>93.3</a:t>
            </a:r>
            <a:endParaRPr lang="en-US" sz="1300" dirty="0"/>
          </a:p>
        </p:txBody>
      </p:sp>
      <p:sp>
        <p:nvSpPr>
          <p:cNvPr id="58" name="Text 56"/>
          <p:cNvSpPr txBox="1"/>
          <p:nvPr/>
        </p:nvSpPr>
        <p:spPr>
          <a:xfrm>
            <a:off x="8001000" y="4416552"/>
            <a:ext cx="1051560" cy="329184"/>
          </a:xfrm>
          <a:prstGeom prst="rect">
            <a:avLst/>
          </a:prstGeom>
          <a:noFill/>
          <a:ln/>
        </p:spPr>
        <p:txBody>
          <a:bodyPr wrap="square" lIns="0" tIns="0" rIns="0" bIns="0" rtlCol="0" anchor="ctr"/>
          <a:lstStyle/>
          <a:p>
            <a:pPr indent="0" marL="0">
              <a:buNone/>
            </a:pPr>
            <a:r>
              <a:rPr lang="en-US" sz="1400" dirty="0">
                <a:solidFill>
                  <a:schemeClr val="tx1"/>
                </a:solidFill>
              </a:rPr>
              <a:t>policies</a:t>
            </a:r>
            <a:endParaRPr lang="en-US" sz="1400" dirty="0"/>
          </a:p>
        </p:txBody>
      </p:sp>
      <p:sp>
        <p:nvSpPr>
          <p:cNvPr id="59" name="!!grade3"/>
          <p:cNvSpPr/>
          <p:nvPr/>
        </p:nvSpPr>
        <p:spPr>
          <a:xfrm>
            <a:off x="9061704" y="4416552"/>
            <a:ext cx="329184" cy="329184"/>
          </a:xfrm>
          <a:prstGeom prst="roundRect">
            <a:avLst>
              <a:gd name="adj" fmla="val 13889"/>
            </a:avLst>
          </a:prstGeom>
          <a:solidFill>
            <a:schemeClr val="accent2"/>
          </a:solidFill>
          <a:ln w="9525">
            <a:solidFill>
              <a:schemeClr val="accent2"/>
            </a:solidFill>
            <a:prstDash val="solid"/>
          </a:ln>
        </p:spPr>
      </p:sp>
      <p:sp>
        <p:nvSpPr>
          <p:cNvPr id="60" name="Text 58"/>
          <p:cNvSpPr txBox="1"/>
          <p:nvPr/>
        </p:nvSpPr>
        <p:spPr>
          <a:xfrm>
            <a:off x="9061704" y="441655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61" name="!!track3"/>
          <p:cNvSpPr/>
          <p:nvPr/>
        </p:nvSpPr>
        <p:spPr>
          <a:xfrm>
            <a:off x="9509760" y="4517136"/>
            <a:ext cx="1417320" cy="128016"/>
          </a:xfrm>
          <a:prstGeom prst="rect">
            <a:avLst/>
          </a:prstGeom>
          <a:solidFill>
            <a:schemeClr val="accent6"/>
          </a:solidFill>
          <a:ln w="9525">
            <a:solidFill>
              <a:schemeClr val="accent6"/>
            </a:solidFill>
            <a:prstDash val="solid"/>
          </a:ln>
        </p:spPr>
      </p:sp>
      <p:sp>
        <p:nvSpPr>
          <p:cNvPr id="62" name="!!bar3"/>
          <p:cNvSpPr/>
          <p:nvPr/>
        </p:nvSpPr>
        <p:spPr>
          <a:xfrm>
            <a:off x="9509760" y="4517136"/>
            <a:ext cx="27432" cy="128016"/>
          </a:xfrm>
          <a:prstGeom prst="rect">
            <a:avLst/>
          </a:prstGeom>
          <a:solidFill>
            <a:schemeClr val="accent2"/>
          </a:solidFill>
          <a:ln w="9525">
            <a:solidFill>
              <a:schemeClr val="accent2"/>
            </a:solidFill>
            <a:prstDash val="solid"/>
          </a:ln>
        </p:spPr>
      </p:sp>
      <p:sp>
        <p:nvSpPr>
          <p:cNvPr id="63" name="Text 61"/>
          <p:cNvSpPr txBox="1"/>
          <p:nvPr/>
        </p:nvSpPr>
        <p:spPr>
          <a:xfrm>
            <a:off x="10972800" y="4416552"/>
            <a:ext cx="548640" cy="329184"/>
          </a:xfrm>
          <a:prstGeom prst="rect">
            <a:avLst/>
          </a:prstGeom>
          <a:noFill/>
          <a:ln/>
        </p:spPr>
        <p:txBody>
          <a:bodyPr wrap="square" lIns="0" tIns="0" rIns="0" bIns="0" rtlCol="0" anchor="ctr"/>
          <a:lstStyle/>
          <a:p>
            <a:pPr algn="r" indent="0" marL="0">
              <a:buNone/>
            </a:pPr>
            <a:r>
              <a:rPr lang="en-US" sz="1300" dirty="0">
                <a:solidFill>
                  <a:schemeClr val="tx1"/>
                </a:solidFill>
                <a:latin typeface="Consolas" pitchFamily="34" charset="0"/>
                <a:ea typeface="Consolas" pitchFamily="34" charset="-122"/>
                <a:cs typeface="Consolas" pitchFamily="34" charset="-120"/>
              </a:rPr>
              <a:t>99.0</a:t>
            </a:r>
            <a:endParaRPr lang="en-US" sz="1300" dirty="0"/>
          </a:p>
        </p:txBody>
      </p:sp>
      <p:sp>
        <p:nvSpPr>
          <p:cNvPr id="64" name="Shape 62"/>
          <p:cNvSpPr/>
          <p:nvPr/>
        </p:nvSpPr>
        <p:spPr>
          <a:xfrm>
            <a:off x="8001000" y="4965192"/>
            <a:ext cx="3456432" cy="0"/>
          </a:xfrm>
          <a:prstGeom prst="line">
            <a:avLst/>
          </a:prstGeom>
          <a:noFill/>
          <a:ln w="9525">
            <a:solidFill>
              <a:schemeClr val="accent6"/>
            </a:solidFill>
            <a:prstDash val="solid"/>
          </a:ln>
        </p:spPr>
      </p:sp>
      <p:sp>
        <p:nvSpPr>
          <p:cNvPr id="65" name="Text 63"/>
          <p:cNvSpPr txBox="1"/>
          <p:nvPr/>
        </p:nvSpPr>
        <p:spPr>
          <a:xfrm>
            <a:off x="8001000" y="5029200"/>
            <a:ext cx="3456432" cy="457200"/>
          </a:xfrm>
          <a:prstGeom prst="rect">
            <a:avLst/>
          </a:prstGeom>
          <a:noFill/>
          <a:ln/>
        </p:spPr>
        <p:txBody>
          <a:bodyPr wrap="square" lIns="0" tIns="0" rIns="0" bIns="0" rtlCol="0" anchor="t"/>
          <a:lstStyle/>
          <a:p>
            <a:pPr indent="0" marL="0">
              <a:buNone/>
            </a:pPr>
            <a:r>
              <a:rPr lang="en-US" sz="1100" dirty="0">
                <a:solidFill>
                  <a:schemeClr val="accent5"/>
                </a:solidFill>
              </a:rPr>
              <a:t>Not tested, so no grade:</a:t>
            </a:r>
            <a:endParaRPr lang="en-US" sz="1100" dirty="0"/>
          </a:p>
          <a:p>
            <a:pPr indent="0" marL="0">
              <a:buNone/>
            </a:pPr>
            <a:r>
              <a:rPr lang="en-US" sz="1100" dirty="0">
                <a:solidFill>
                  <a:schemeClr val="tx2"/>
                </a:solidFill>
              </a:rPr>
              <a:t>connectivity · nginx · things-search</a:t>
            </a: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spc="200" kern="0" dirty="0">
                <a:solidFill>
                  <a:schemeClr val="accent3"/>
                </a:solidFill>
                <a:latin typeface="Consolas" pitchFamily="34" charset="0"/>
                <a:ea typeface="Consolas" pitchFamily="34" charset="-122"/>
                <a:cs typeface="Consolas" pitchFamily="34" charset="-120"/>
              </a:rPr>
              <a:t>04 · REPORT</a:t>
            </a:r>
            <a:endParaRPr lang="en-US" sz="1200" dirty="0"/>
          </a:p>
        </p:txBody>
      </p:sp>
      <p:sp>
        <p:nvSpPr>
          <p:cNvPr id="3" name="Text 1"/>
          <p:cNvSpPr/>
          <p:nvPr>
            <p:ph idx="102" type="title" hasCustomPrompt="1"/>
          </p:nvPr>
        </p:nvSpPr>
        <p:spPr>
          <a:xfrm>
            <a:off x="548640" y="676656"/>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Ranked findings, matched fixes, a graded scorecard</a:t>
            </a:r>
            <a:endParaRPr lang="en-US" sz="3400" dirty="0"/>
          </a:p>
        </p:txBody>
      </p:sp>
      <p:sp>
        <p:nvSpPr>
          <p:cNvPr id="4" name="Text 2"/>
          <p:cNvSpPr txBox="1"/>
          <p:nvPr/>
        </p:nvSpPr>
        <p:spPr>
          <a:xfrm>
            <a:off x="548640" y="1572768"/>
            <a:ext cx="6949440" cy="256032"/>
          </a:xfrm>
          <a:prstGeom prst="rect">
            <a:avLst/>
          </a:prstGeom>
          <a:noFill/>
          <a:ln/>
        </p:spPr>
        <p:txBody>
          <a:bodyPr wrap="square" lIns="0" tIns="0" rIns="0" bIns="0" rtlCol="0" anchor="ctr"/>
          <a:lstStyle/>
          <a:p>
            <a:pPr indent="0" marL="0">
              <a:buNone/>
            </a:pPr>
            <a:r>
              <a:rPr lang="en-US" sz="1100" spc="100" kern="0" dirty="0">
                <a:solidFill>
                  <a:schemeClr val="accent5"/>
                </a:solidFill>
                <a:latin typeface="Consolas" pitchFamily="34" charset="0"/>
                <a:ea typeface="Consolas" pitchFamily="34" charset="-122"/>
                <a:cs typeface="Consolas" pitchFamily="34" charset="-120"/>
              </a:rPr>
              <a:t>FINDINGS · ranked by risk severity 0–10, worst first</a:t>
            </a:r>
            <a:endParaRPr lang="en-US" sz="1100" dirty="0"/>
          </a:p>
        </p:txBody>
      </p:sp>
      <p:sp>
        <p:nvSpPr>
          <p:cNvPr id="5" name="Shape 3"/>
          <p:cNvSpPr/>
          <p:nvPr/>
        </p:nvSpPr>
        <p:spPr>
          <a:xfrm>
            <a:off x="548640" y="1901952"/>
            <a:ext cx="6995160" cy="658368"/>
          </a:xfrm>
          <a:prstGeom prst="roundRect">
            <a:avLst>
              <a:gd name="adj" fmla="val 11111"/>
            </a:avLst>
          </a:prstGeom>
          <a:solidFill>
            <a:schemeClr val="bg2"/>
          </a:solidFill>
          <a:ln w="9525">
            <a:solidFill>
              <a:schemeClr val="accent6"/>
            </a:solidFill>
            <a:prstDash val="solid"/>
          </a:ln>
        </p:spPr>
      </p:sp>
      <p:sp>
        <p:nvSpPr>
          <p:cNvPr id="6" name="Text 4"/>
          <p:cNvSpPr txBox="1"/>
          <p:nvPr/>
        </p:nvSpPr>
        <p:spPr>
          <a:xfrm>
            <a:off x="658368" y="1956816"/>
            <a:ext cx="868680" cy="347472"/>
          </a:xfrm>
          <a:prstGeom prst="rect">
            <a:avLst/>
          </a:prstGeom>
          <a:noFill/>
          <a:ln/>
        </p:spPr>
        <p:txBody>
          <a:bodyPr wrap="square" lIns="0" tIns="0" rIns="0" bIns="0" rtlCol="0" anchor="ctr"/>
          <a:lstStyle/>
          <a:p>
            <a:pPr algn="ctr" indent="0" marL="0">
              <a:buNone/>
            </a:pPr>
            <a:r>
              <a:rPr lang="en-US" sz="2200" b="1" dirty="0">
                <a:solidFill>
                  <a:schemeClr val="accent1"/>
                </a:solidFill>
                <a:latin typeface="Consolas" pitchFamily="34" charset="0"/>
                <a:ea typeface="Consolas" pitchFamily="34" charset="-122"/>
                <a:cs typeface="Consolas" pitchFamily="34" charset="-120"/>
              </a:rPr>
              <a:t>5.79</a:t>
            </a:r>
            <a:endParaRPr lang="en-US" sz="2200" dirty="0"/>
          </a:p>
        </p:txBody>
      </p:sp>
      <p:sp>
        <p:nvSpPr>
          <p:cNvPr id="7" name="Text 5"/>
          <p:cNvSpPr txBox="1"/>
          <p:nvPr/>
        </p:nvSpPr>
        <p:spPr>
          <a:xfrm>
            <a:off x="658368" y="2304288"/>
            <a:ext cx="868680" cy="182880"/>
          </a:xfrm>
          <a:prstGeom prst="rect">
            <a:avLst/>
          </a:prstGeom>
          <a:noFill/>
          <a:ln/>
        </p:spPr>
        <p:txBody>
          <a:bodyPr wrap="square" lIns="0" tIns="0" rIns="0" bIns="0" rtlCol="0" anchor="ctr"/>
          <a:lstStyle/>
          <a:p>
            <a:pPr algn="ctr" indent="0" marL="0">
              <a:buNone/>
            </a:pPr>
            <a:r>
              <a:rPr lang="en-US" sz="900" b="1" spc="100" kern="0" dirty="0">
                <a:solidFill>
                  <a:schemeClr val="accent1"/>
                </a:solidFill>
              </a:rPr>
              <a:t>HIGH</a:t>
            </a:r>
            <a:endParaRPr lang="en-US" sz="900" dirty="0"/>
          </a:p>
        </p:txBody>
      </p:sp>
      <p:sp>
        <p:nvSpPr>
          <p:cNvPr id="8" name="Text 6"/>
          <p:cNvSpPr txBox="1"/>
          <p:nvPr/>
        </p:nvSpPr>
        <p:spPr>
          <a:xfrm>
            <a:off x="1691640" y="1965960"/>
            <a:ext cx="5760720" cy="274320"/>
          </a:xfrm>
          <a:prstGeom prst="rect">
            <a:avLst/>
          </a:prstGeom>
          <a:noFill/>
          <a:ln/>
        </p:spPr>
        <p:txBody>
          <a:bodyPr wrap="square" lIns="0" tIns="0" rIns="0" bIns="0" rtlCol="0" anchor="ctr"/>
          <a:lstStyle/>
          <a:p>
            <a:pPr indent="0" marL="0">
              <a:buNone/>
            </a:pPr>
            <a:r>
              <a:rPr lang="en-US" sz="1500" b="1" dirty="0">
                <a:solidFill>
                  <a:schemeClr val="tx1"/>
                </a:solidFill>
              </a:rPr>
              <a:t>things · container_crash</a:t>
            </a:r>
            <a:pPr indent="0" marL="0">
              <a:buNone/>
            </a:pPr>
            <a:r>
              <a:rPr lang="en-US" sz="1200" dirty="0">
                <a:solidFill>
                  <a:schemeClr val="tx2"/>
                </a:solidFill>
              </a:rPr>
              <a:t>   API 0% · 3 services stayed /ready=200</a:t>
            </a:r>
            <a:endParaRPr lang="en-US" sz="1400" dirty="0"/>
          </a:p>
        </p:txBody>
      </p:sp>
      <p:sp>
        <p:nvSpPr>
          <p:cNvPr id="9" name="Text 7"/>
          <p:cNvSpPr txBox="1"/>
          <p:nvPr/>
        </p:nvSpPr>
        <p:spPr>
          <a:xfrm>
            <a:off x="1691640" y="2249424"/>
            <a:ext cx="5074920" cy="256032"/>
          </a:xfrm>
          <a:prstGeom prst="rect">
            <a:avLst/>
          </a:prstGeom>
          <a:noFill/>
          <a:ln/>
        </p:spPr>
        <p:txBody>
          <a:bodyPr wrap="square" lIns="0" tIns="0" rIns="0" bIns="0" rtlCol="0" anchor="ctr"/>
          <a:lstStyle/>
          <a:p>
            <a:pPr indent="0" marL="0">
              <a:buNone/>
            </a:pPr>
            <a:r>
              <a:rPr lang="en-US" sz="1100" dirty="0">
                <a:solidFill>
                  <a:schemeClr val="accent5"/>
                </a:solidFill>
                <a:latin typeface="Consolas" pitchFamily="34" charset="0"/>
                <a:ea typeface="Consolas" pitchFamily="34" charset="-122"/>
                <a:cs typeface="Consolas" pitchFamily="34" charset="-120"/>
              </a:rPr>
              <a:t>→ fix  </a:t>
            </a:r>
            <a:pPr indent="0" marL="0">
              <a:buNone/>
            </a:pPr>
            <a:r>
              <a:rPr lang="en-US" sz="1300" dirty="0">
                <a:solidFill>
                  <a:schemeClr val="accent2"/>
                </a:solidFill>
              </a:rPr>
              <a:t>Make readiness reflect subsystem health …</a:t>
            </a:r>
            <a:endParaRPr lang="en-US" sz="1300" dirty="0"/>
          </a:p>
        </p:txBody>
      </p:sp>
      <p:sp>
        <p:nvSpPr>
          <p:cNvPr id="10" name="Text 8"/>
          <p:cNvSpPr txBox="1"/>
          <p:nvPr/>
        </p:nvSpPr>
        <p:spPr>
          <a:xfrm>
            <a:off x="6720840" y="2249424"/>
            <a:ext cx="731520" cy="256032"/>
          </a:xfrm>
          <a:prstGeom prst="rect">
            <a:avLst/>
          </a:prstGeom>
          <a:noFill/>
          <a:ln/>
        </p:spPr>
        <p:txBody>
          <a:bodyPr wrap="square" lIns="0" tIns="0" rIns="0" bIns="0" rtlCol="0" anchor="ctr"/>
          <a:lstStyle/>
          <a:p>
            <a:pPr algn="r" indent="0" marL="0">
              <a:buNone/>
            </a:pPr>
            <a:r>
              <a:rPr lang="en-US" sz="1100" dirty="0">
                <a:solidFill>
                  <a:schemeClr val="accent5"/>
                </a:solidFill>
                <a:latin typeface="Consolas" pitchFamily="34" charset="0"/>
                <a:ea typeface="Consolas" pitchFamily="34" charset="-122"/>
                <a:cs typeface="Consolas" pitchFamily="34" charset="-120"/>
              </a:rPr>
              <a:t>conf 0.90</a:t>
            </a:r>
            <a:endParaRPr lang="en-US" sz="1100" dirty="0"/>
          </a:p>
        </p:txBody>
      </p:sp>
      <p:sp>
        <p:nvSpPr>
          <p:cNvPr id="11" name="Shape 9"/>
          <p:cNvSpPr/>
          <p:nvPr/>
        </p:nvSpPr>
        <p:spPr>
          <a:xfrm>
            <a:off x="548640" y="2633472"/>
            <a:ext cx="6995160" cy="658368"/>
          </a:xfrm>
          <a:prstGeom prst="roundRect">
            <a:avLst>
              <a:gd name="adj" fmla="val 11111"/>
            </a:avLst>
          </a:prstGeom>
          <a:solidFill>
            <a:schemeClr val="bg2"/>
          </a:solidFill>
          <a:ln w="9525">
            <a:solidFill>
              <a:schemeClr val="accent6"/>
            </a:solidFill>
            <a:prstDash val="solid"/>
          </a:ln>
        </p:spPr>
      </p:sp>
      <p:sp>
        <p:nvSpPr>
          <p:cNvPr id="12" name="Text 10"/>
          <p:cNvSpPr txBox="1"/>
          <p:nvPr/>
        </p:nvSpPr>
        <p:spPr>
          <a:xfrm>
            <a:off x="658368" y="2688336"/>
            <a:ext cx="868680" cy="347472"/>
          </a:xfrm>
          <a:prstGeom prst="rect">
            <a:avLst/>
          </a:prstGeom>
          <a:noFill/>
          <a:ln/>
        </p:spPr>
        <p:txBody>
          <a:bodyPr wrap="square" lIns="0" tIns="0" rIns="0" bIns="0" rtlCol="0" anchor="ctr"/>
          <a:lstStyle/>
          <a:p>
            <a:pPr algn="ctr" indent="0" marL="0">
              <a:buNone/>
            </a:pPr>
            <a:r>
              <a:rPr lang="en-US" sz="2200" b="1" dirty="0">
                <a:solidFill>
                  <a:schemeClr val="accent3"/>
                </a:solidFill>
                <a:latin typeface="Consolas" pitchFamily="34" charset="0"/>
                <a:ea typeface="Consolas" pitchFamily="34" charset="-122"/>
                <a:cs typeface="Consolas" pitchFamily="34" charset="-120"/>
              </a:rPr>
              <a:t>4.76</a:t>
            </a:r>
            <a:endParaRPr lang="en-US" sz="2200" dirty="0"/>
          </a:p>
        </p:txBody>
      </p:sp>
      <p:sp>
        <p:nvSpPr>
          <p:cNvPr id="13" name="Text 11"/>
          <p:cNvSpPr txBox="1"/>
          <p:nvPr/>
        </p:nvSpPr>
        <p:spPr>
          <a:xfrm>
            <a:off x="658368" y="3035808"/>
            <a:ext cx="868680" cy="182880"/>
          </a:xfrm>
          <a:prstGeom prst="rect">
            <a:avLst/>
          </a:prstGeom>
          <a:noFill/>
          <a:ln/>
        </p:spPr>
        <p:txBody>
          <a:bodyPr wrap="square" lIns="0" tIns="0" rIns="0" bIns="0" rtlCol="0" anchor="ctr"/>
          <a:lstStyle/>
          <a:p>
            <a:pPr algn="ctr" indent="0" marL="0">
              <a:buNone/>
            </a:pPr>
            <a:r>
              <a:rPr lang="en-US" sz="900" b="1" spc="100" kern="0" dirty="0">
                <a:solidFill>
                  <a:schemeClr val="accent3"/>
                </a:solidFill>
              </a:rPr>
              <a:t>MEDIUM</a:t>
            </a:r>
            <a:endParaRPr lang="en-US" sz="900" dirty="0"/>
          </a:p>
        </p:txBody>
      </p:sp>
      <p:sp>
        <p:nvSpPr>
          <p:cNvPr id="14" name="Text 12"/>
          <p:cNvSpPr txBox="1"/>
          <p:nvPr/>
        </p:nvSpPr>
        <p:spPr>
          <a:xfrm>
            <a:off x="1691640" y="2697480"/>
            <a:ext cx="5760720" cy="274320"/>
          </a:xfrm>
          <a:prstGeom prst="rect">
            <a:avLst/>
          </a:prstGeom>
          <a:noFill/>
          <a:ln/>
        </p:spPr>
        <p:txBody>
          <a:bodyPr wrap="square" lIns="0" tIns="0" rIns="0" bIns="0" rtlCol="0" anchor="ctr"/>
          <a:lstStyle/>
          <a:p>
            <a:pPr indent="0" marL="0">
              <a:buNone/>
            </a:pPr>
            <a:r>
              <a:rPr lang="en-US" sz="1500" b="1" dirty="0">
                <a:solidFill>
                  <a:schemeClr val="tx1"/>
                </a:solidFill>
              </a:rPr>
              <a:t>things · container_crash</a:t>
            </a:r>
            <a:pPr indent="0" marL="0">
              <a:buNone/>
            </a:pPr>
            <a:r>
              <a:rPr lang="en-US" sz="1200" dirty="0">
                <a:solidFill>
                  <a:schemeClr val="tx2"/>
                </a:solidFill>
              </a:rPr>
              <a:t>   Day-2 repeat · API 0% again</a:t>
            </a:r>
            <a:endParaRPr lang="en-US" sz="1400" dirty="0"/>
          </a:p>
        </p:txBody>
      </p:sp>
      <p:sp>
        <p:nvSpPr>
          <p:cNvPr id="15" name="Text 13"/>
          <p:cNvSpPr txBox="1"/>
          <p:nvPr/>
        </p:nvSpPr>
        <p:spPr>
          <a:xfrm>
            <a:off x="1691640" y="2980944"/>
            <a:ext cx="5074920" cy="256032"/>
          </a:xfrm>
          <a:prstGeom prst="rect">
            <a:avLst/>
          </a:prstGeom>
          <a:noFill/>
          <a:ln/>
        </p:spPr>
        <p:txBody>
          <a:bodyPr wrap="square" lIns="0" tIns="0" rIns="0" bIns="0" rtlCol="0" anchor="ctr"/>
          <a:lstStyle/>
          <a:p>
            <a:pPr indent="0" marL="0">
              <a:buNone/>
            </a:pPr>
            <a:r>
              <a:rPr lang="en-US" sz="1100" dirty="0">
                <a:solidFill>
                  <a:schemeClr val="accent5"/>
                </a:solidFill>
                <a:latin typeface="Consolas" pitchFamily="34" charset="0"/>
                <a:ea typeface="Consolas" pitchFamily="34" charset="-122"/>
                <a:cs typeface="Consolas" pitchFamily="34" charset="-120"/>
              </a:rPr>
              <a:t>→ fix  </a:t>
            </a:r>
            <a:pPr indent="0" marL="0">
              <a:buNone/>
            </a:pPr>
            <a:r>
              <a:rPr lang="en-US" sz="1300" dirty="0">
                <a:solidFill>
                  <a:schemeClr val="accent2"/>
                </a:solidFill>
              </a:rPr>
              <a:t>Scale things horizontally and make clients retry …</a:t>
            </a:r>
            <a:endParaRPr lang="en-US" sz="1300" dirty="0"/>
          </a:p>
        </p:txBody>
      </p:sp>
      <p:sp>
        <p:nvSpPr>
          <p:cNvPr id="16" name="Text 14"/>
          <p:cNvSpPr txBox="1"/>
          <p:nvPr/>
        </p:nvSpPr>
        <p:spPr>
          <a:xfrm>
            <a:off x="6720840" y="2980944"/>
            <a:ext cx="731520" cy="256032"/>
          </a:xfrm>
          <a:prstGeom prst="rect">
            <a:avLst/>
          </a:prstGeom>
          <a:noFill/>
          <a:ln/>
        </p:spPr>
        <p:txBody>
          <a:bodyPr wrap="square" lIns="0" tIns="0" rIns="0" bIns="0" rtlCol="0" anchor="ctr"/>
          <a:lstStyle/>
          <a:p>
            <a:pPr algn="r" indent="0" marL="0">
              <a:buNone/>
            </a:pPr>
            <a:r>
              <a:rPr lang="en-US" sz="1100" dirty="0">
                <a:solidFill>
                  <a:schemeClr val="accent5"/>
                </a:solidFill>
                <a:latin typeface="Consolas" pitchFamily="34" charset="0"/>
                <a:ea typeface="Consolas" pitchFamily="34" charset="-122"/>
                <a:cs typeface="Consolas" pitchFamily="34" charset="-120"/>
              </a:rPr>
              <a:t>conf 0.80</a:t>
            </a:r>
            <a:endParaRPr lang="en-US" sz="1100" dirty="0"/>
          </a:p>
        </p:txBody>
      </p:sp>
      <p:sp>
        <p:nvSpPr>
          <p:cNvPr id="17" name="Shape 15"/>
          <p:cNvSpPr/>
          <p:nvPr/>
        </p:nvSpPr>
        <p:spPr>
          <a:xfrm>
            <a:off x="548640" y="3364992"/>
            <a:ext cx="6995160" cy="658368"/>
          </a:xfrm>
          <a:prstGeom prst="roundRect">
            <a:avLst>
              <a:gd name="adj" fmla="val 11111"/>
            </a:avLst>
          </a:prstGeom>
          <a:solidFill>
            <a:schemeClr val="bg2"/>
          </a:solidFill>
          <a:ln w="9525">
            <a:solidFill>
              <a:schemeClr val="accent6"/>
            </a:solidFill>
            <a:prstDash val="solid"/>
          </a:ln>
        </p:spPr>
      </p:sp>
      <p:sp>
        <p:nvSpPr>
          <p:cNvPr id="18" name="Text 16"/>
          <p:cNvSpPr txBox="1"/>
          <p:nvPr/>
        </p:nvSpPr>
        <p:spPr>
          <a:xfrm>
            <a:off x="658368" y="3419856"/>
            <a:ext cx="868680" cy="347472"/>
          </a:xfrm>
          <a:prstGeom prst="rect">
            <a:avLst/>
          </a:prstGeom>
          <a:noFill/>
          <a:ln/>
        </p:spPr>
        <p:txBody>
          <a:bodyPr wrap="square" lIns="0" tIns="0" rIns="0" bIns="0" rtlCol="0" anchor="ctr"/>
          <a:lstStyle/>
          <a:p>
            <a:pPr algn="ctr" indent="0" marL="0">
              <a:buNone/>
            </a:pPr>
            <a:r>
              <a:rPr lang="en-US" sz="2200" b="1" dirty="0">
                <a:solidFill>
                  <a:schemeClr val="tx2"/>
                </a:solidFill>
                <a:latin typeface="Consolas" pitchFamily="34" charset="0"/>
                <a:ea typeface="Consolas" pitchFamily="34" charset="-122"/>
                <a:cs typeface="Consolas" pitchFamily="34" charset="-120"/>
              </a:rPr>
              <a:t>2.39</a:t>
            </a:r>
            <a:endParaRPr lang="en-US" sz="2200" dirty="0"/>
          </a:p>
        </p:txBody>
      </p:sp>
      <p:sp>
        <p:nvSpPr>
          <p:cNvPr id="19" name="Text 17"/>
          <p:cNvSpPr txBox="1"/>
          <p:nvPr/>
        </p:nvSpPr>
        <p:spPr>
          <a:xfrm>
            <a:off x="658368" y="3767328"/>
            <a:ext cx="868680" cy="182880"/>
          </a:xfrm>
          <a:prstGeom prst="rect">
            <a:avLst/>
          </a:prstGeom>
          <a:noFill/>
          <a:ln/>
        </p:spPr>
        <p:txBody>
          <a:bodyPr wrap="square" lIns="0" tIns="0" rIns="0" bIns="0" rtlCol="0" anchor="ctr"/>
          <a:lstStyle/>
          <a:p>
            <a:pPr algn="ctr" indent="0" marL="0">
              <a:buNone/>
            </a:pPr>
            <a:r>
              <a:rPr lang="en-US" sz="900" b="1" spc="100" kern="0" dirty="0">
                <a:solidFill>
                  <a:schemeClr val="tx2"/>
                </a:solidFill>
              </a:rPr>
              <a:t>LOW</a:t>
            </a:r>
            <a:endParaRPr lang="en-US" sz="900" dirty="0"/>
          </a:p>
        </p:txBody>
      </p:sp>
      <p:sp>
        <p:nvSpPr>
          <p:cNvPr id="20" name="Text 18"/>
          <p:cNvSpPr txBox="1"/>
          <p:nvPr/>
        </p:nvSpPr>
        <p:spPr>
          <a:xfrm>
            <a:off x="1691640" y="3429000"/>
            <a:ext cx="5760720" cy="274320"/>
          </a:xfrm>
          <a:prstGeom prst="rect">
            <a:avLst/>
          </a:prstGeom>
          <a:noFill/>
          <a:ln/>
        </p:spPr>
        <p:txBody>
          <a:bodyPr wrap="square" lIns="0" tIns="0" rIns="0" bIns="0" rtlCol="0" anchor="ctr"/>
          <a:lstStyle/>
          <a:p>
            <a:pPr indent="0" marL="0">
              <a:buNone/>
            </a:pPr>
            <a:r>
              <a:rPr lang="en-US" sz="1500" b="1" dirty="0">
                <a:solidFill>
                  <a:schemeClr val="tx1"/>
                </a:solidFill>
              </a:rPr>
              <a:t>things · container_pause</a:t>
            </a:r>
            <a:pPr indent="0" marL="0">
              <a:buNone/>
            </a:pPr>
            <a:r>
              <a:rPr lang="en-US" sz="1200" dirty="0">
                <a:solidFill>
                  <a:schemeClr val="tx2"/>
                </a:solidFill>
              </a:rPr>
              <a:t>   50% success · p95 3,865 ms</a:t>
            </a:r>
            <a:endParaRPr lang="en-US" sz="1400" dirty="0"/>
          </a:p>
        </p:txBody>
      </p:sp>
      <p:sp>
        <p:nvSpPr>
          <p:cNvPr id="21" name="Text 19"/>
          <p:cNvSpPr txBox="1"/>
          <p:nvPr/>
        </p:nvSpPr>
        <p:spPr>
          <a:xfrm>
            <a:off x="1691640" y="3712464"/>
            <a:ext cx="5074920" cy="256032"/>
          </a:xfrm>
          <a:prstGeom prst="rect">
            <a:avLst/>
          </a:prstGeom>
          <a:noFill/>
          <a:ln/>
        </p:spPr>
        <p:txBody>
          <a:bodyPr wrap="square" lIns="0" tIns="0" rIns="0" bIns="0" rtlCol="0" anchor="ctr"/>
          <a:lstStyle/>
          <a:p>
            <a:pPr indent="0" marL="0">
              <a:buNone/>
            </a:pPr>
            <a:r>
              <a:rPr lang="en-US" sz="1100" dirty="0">
                <a:solidFill>
                  <a:schemeClr val="accent5"/>
                </a:solidFill>
                <a:latin typeface="Consolas" pitchFamily="34" charset="0"/>
                <a:ea typeface="Consolas" pitchFamily="34" charset="-122"/>
                <a:cs typeface="Consolas" pitchFamily="34" charset="-120"/>
              </a:rPr>
              <a:t>→ fix  </a:t>
            </a:r>
            <a:pPr indent="0" marL="0">
              <a:buNone/>
            </a:pPr>
            <a:r>
              <a:rPr lang="en-US" sz="1300" dirty="0">
                <a:solidFill>
                  <a:schemeClr val="accent2"/>
                </a:solidFill>
              </a:rPr>
              <a:t>Scale things horizontally and make clients retry …</a:t>
            </a:r>
            <a:endParaRPr lang="en-US" sz="1300" dirty="0"/>
          </a:p>
        </p:txBody>
      </p:sp>
      <p:sp>
        <p:nvSpPr>
          <p:cNvPr id="22" name="Text 20"/>
          <p:cNvSpPr txBox="1"/>
          <p:nvPr/>
        </p:nvSpPr>
        <p:spPr>
          <a:xfrm>
            <a:off x="6720840" y="3712464"/>
            <a:ext cx="731520" cy="256032"/>
          </a:xfrm>
          <a:prstGeom prst="rect">
            <a:avLst/>
          </a:prstGeom>
          <a:noFill/>
          <a:ln/>
        </p:spPr>
        <p:txBody>
          <a:bodyPr wrap="square" lIns="0" tIns="0" rIns="0" bIns="0" rtlCol="0" anchor="ctr"/>
          <a:lstStyle/>
          <a:p>
            <a:pPr algn="r" indent="0" marL="0">
              <a:buNone/>
            </a:pPr>
            <a:r>
              <a:rPr lang="en-US" sz="1100" dirty="0">
                <a:solidFill>
                  <a:schemeClr val="accent5"/>
                </a:solidFill>
                <a:latin typeface="Consolas" pitchFamily="34" charset="0"/>
                <a:ea typeface="Consolas" pitchFamily="34" charset="-122"/>
                <a:cs typeface="Consolas" pitchFamily="34" charset="-120"/>
              </a:rPr>
              <a:t>conf 0.80</a:t>
            </a:r>
            <a:endParaRPr lang="en-US" sz="1100" dirty="0"/>
          </a:p>
        </p:txBody>
      </p:sp>
      <p:sp>
        <p:nvSpPr>
          <p:cNvPr id="23" name="Shape 21"/>
          <p:cNvSpPr/>
          <p:nvPr/>
        </p:nvSpPr>
        <p:spPr>
          <a:xfrm>
            <a:off x="548640" y="4096512"/>
            <a:ext cx="6995160" cy="658368"/>
          </a:xfrm>
          <a:prstGeom prst="roundRect">
            <a:avLst>
              <a:gd name="adj" fmla="val 11111"/>
            </a:avLst>
          </a:prstGeom>
          <a:solidFill>
            <a:schemeClr val="bg2"/>
          </a:solidFill>
          <a:ln w="9525">
            <a:solidFill>
              <a:schemeClr val="accent6"/>
            </a:solidFill>
            <a:prstDash val="solid"/>
          </a:ln>
        </p:spPr>
      </p:sp>
      <p:sp>
        <p:nvSpPr>
          <p:cNvPr id="24" name="Text 22"/>
          <p:cNvSpPr txBox="1"/>
          <p:nvPr/>
        </p:nvSpPr>
        <p:spPr>
          <a:xfrm>
            <a:off x="658368" y="4151376"/>
            <a:ext cx="868680" cy="347472"/>
          </a:xfrm>
          <a:prstGeom prst="rect">
            <a:avLst/>
          </a:prstGeom>
          <a:noFill/>
          <a:ln/>
        </p:spPr>
        <p:txBody>
          <a:bodyPr wrap="square" lIns="0" tIns="0" rIns="0" bIns="0" rtlCol="0" anchor="ctr"/>
          <a:lstStyle/>
          <a:p>
            <a:pPr algn="ctr" indent="0" marL="0">
              <a:buNone/>
            </a:pPr>
            <a:r>
              <a:rPr lang="en-US" sz="2200" b="1" dirty="0">
                <a:solidFill>
                  <a:schemeClr val="tx2"/>
                </a:solidFill>
                <a:latin typeface="Consolas" pitchFamily="34" charset="0"/>
                <a:ea typeface="Consolas" pitchFamily="34" charset="-122"/>
                <a:cs typeface="Consolas" pitchFamily="34" charset="-120"/>
              </a:rPr>
              <a:t>2.29</a:t>
            </a:r>
            <a:endParaRPr lang="en-US" sz="2200" dirty="0"/>
          </a:p>
        </p:txBody>
      </p:sp>
      <p:sp>
        <p:nvSpPr>
          <p:cNvPr id="25" name="Text 23"/>
          <p:cNvSpPr txBox="1"/>
          <p:nvPr/>
        </p:nvSpPr>
        <p:spPr>
          <a:xfrm>
            <a:off x="658368" y="4498848"/>
            <a:ext cx="868680" cy="182880"/>
          </a:xfrm>
          <a:prstGeom prst="rect">
            <a:avLst/>
          </a:prstGeom>
          <a:noFill/>
          <a:ln/>
        </p:spPr>
        <p:txBody>
          <a:bodyPr wrap="square" lIns="0" tIns="0" rIns="0" bIns="0" rtlCol="0" anchor="ctr"/>
          <a:lstStyle/>
          <a:p>
            <a:pPr algn="ctr" indent="0" marL="0">
              <a:buNone/>
            </a:pPr>
            <a:r>
              <a:rPr lang="en-US" sz="900" b="1" spc="100" kern="0" dirty="0">
                <a:solidFill>
                  <a:schemeClr val="tx2"/>
                </a:solidFill>
              </a:rPr>
              <a:t>LOW</a:t>
            </a:r>
            <a:endParaRPr lang="en-US" sz="900" dirty="0"/>
          </a:p>
        </p:txBody>
      </p:sp>
      <p:sp>
        <p:nvSpPr>
          <p:cNvPr id="26" name="Text 24"/>
          <p:cNvSpPr txBox="1"/>
          <p:nvPr/>
        </p:nvSpPr>
        <p:spPr>
          <a:xfrm>
            <a:off x="1691640" y="4160520"/>
            <a:ext cx="5760720" cy="274320"/>
          </a:xfrm>
          <a:prstGeom prst="rect">
            <a:avLst/>
          </a:prstGeom>
          <a:noFill/>
          <a:ln/>
        </p:spPr>
        <p:txBody>
          <a:bodyPr wrap="square" lIns="0" tIns="0" rIns="0" bIns="0" rtlCol="0" anchor="ctr"/>
          <a:lstStyle/>
          <a:p>
            <a:pPr indent="0" marL="0">
              <a:buNone/>
            </a:pPr>
            <a:r>
              <a:rPr lang="en-US" sz="1500" b="1" dirty="0">
                <a:solidFill>
                  <a:schemeClr val="tx1"/>
                </a:solidFill>
              </a:rPr>
              <a:t>mongodb · db_flood</a:t>
            </a:r>
            <a:pPr indent="0" marL="0">
              <a:buNone/>
            </a:pPr>
            <a:r>
              <a:rPr lang="en-US" sz="1200" dirty="0">
                <a:solidFill>
                  <a:schemeClr val="tx2"/>
                </a:solidFill>
              </a:rPr>
              <a:t>   recovery 121 s vs 60 s hypothesised</a:t>
            </a:r>
            <a:endParaRPr lang="en-US" sz="1400" dirty="0"/>
          </a:p>
        </p:txBody>
      </p:sp>
      <p:sp>
        <p:nvSpPr>
          <p:cNvPr id="27" name="Text 25"/>
          <p:cNvSpPr txBox="1"/>
          <p:nvPr/>
        </p:nvSpPr>
        <p:spPr>
          <a:xfrm>
            <a:off x="1691640" y="4443984"/>
            <a:ext cx="5074920" cy="256032"/>
          </a:xfrm>
          <a:prstGeom prst="rect">
            <a:avLst/>
          </a:prstGeom>
          <a:noFill/>
          <a:ln/>
        </p:spPr>
        <p:txBody>
          <a:bodyPr wrap="square" lIns="0" tIns="0" rIns="0" bIns="0" rtlCol="0" anchor="ctr"/>
          <a:lstStyle/>
          <a:p>
            <a:pPr indent="0" marL="0">
              <a:buNone/>
            </a:pPr>
            <a:r>
              <a:rPr lang="en-US" sz="1100" dirty="0">
                <a:solidFill>
                  <a:schemeClr val="accent5"/>
                </a:solidFill>
                <a:latin typeface="Consolas" pitchFamily="34" charset="0"/>
                <a:ea typeface="Consolas" pitchFamily="34" charset="-122"/>
                <a:cs typeface="Consolas" pitchFamily="34" charset="-120"/>
              </a:rPr>
              <a:t>→ fix  </a:t>
            </a:r>
            <a:pPr indent="0" marL="0">
              <a:buNone/>
            </a:pPr>
            <a:r>
              <a:rPr lang="en-US" sz="1300" dirty="0">
                <a:solidFill>
                  <a:schemeClr val="accent2"/>
                </a:solidFill>
              </a:rPr>
              <a:t>Add a MongoDB healthcheck and an autoheal sidecar</a:t>
            </a:r>
            <a:endParaRPr lang="en-US" sz="1300" dirty="0"/>
          </a:p>
        </p:txBody>
      </p:sp>
      <p:sp>
        <p:nvSpPr>
          <p:cNvPr id="28" name="Text 26"/>
          <p:cNvSpPr txBox="1"/>
          <p:nvPr/>
        </p:nvSpPr>
        <p:spPr>
          <a:xfrm>
            <a:off x="6720840" y="4443984"/>
            <a:ext cx="731520" cy="256032"/>
          </a:xfrm>
          <a:prstGeom prst="rect">
            <a:avLst/>
          </a:prstGeom>
          <a:noFill/>
          <a:ln/>
        </p:spPr>
        <p:txBody>
          <a:bodyPr wrap="square" lIns="0" tIns="0" rIns="0" bIns="0" rtlCol="0" anchor="ctr"/>
          <a:lstStyle/>
          <a:p>
            <a:pPr algn="r" indent="0" marL="0">
              <a:buNone/>
            </a:pPr>
            <a:r>
              <a:rPr lang="en-US" sz="1100" dirty="0">
                <a:solidFill>
                  <a:schemeClr val="accent5"/>
                </a:solidFill>
                <a:latin typeface="Consolas" pitchFamily="34" charset="0"/>
                <a:ea typeface="Consolas" pitchFamily="34" charset="-122"/>
                <a:cs typeface="Consolas" pitchFamily="34" charset="-120"/>
              </a:rPr>
              <a:t>conf 0.85</a:t>
            </a:r>
            <a:endParaRPr lang="en-US" sz="1100" dirty="0"/>
          </a:p>
        </p:txBody>
      </p:sp>
      <p:sp>
        <p:nvSpPr>
          <p:cNvPr id="29" name="Shape 27"/>
          <p:cNvSpPr/>
          <p:nvPr/>
        </p:nvSpPr>
        <p:spPr>
          <a:xfrm>
            <a:off x="548640" y="4828032"/>
            <a:ext cx="6995160" cy="658368"/>
          </a:xfrm>
          <a:prstGeom prst="roundRect">
            <a:avLst>
              <a:gd name="adj" fmla="val 11111"/>
            </a:avLst>
          </a:prstGeom>
          <a:solidFill>
            <a:schemeClr val="bg2"/>
          </a:solidFill>
          <a:ln w="9525">
            <a:solidFill>
              <a:schemeClr val="accent6"/>
            </a:solidFill>
            <a:prstDash val="solid"/>
          </a:ln>
        </p:spPr>
      </p:sp>
      <p:sp>
        <p:nvSpPr>
          <p:cNvPr id="30" name="Text 28"/>
          <p:cNvSpPr txBox="1"/>
          <p:nvPr/>
        </p:nvSpPr>
        <p:spPr>
          <a:xfrm>
            <a:off x="658368" y="4882896"/>
            <a:ext cx="868680" cy="347472"/>
          </a:xfrm>
          <a:prstGeom prst="rect">
            <a:avLst/>
          </a:prstGeom>
          <a:noFill/>
          <a:ln/>
        </p:spPr>
        <p:txBody>
          <a:bodyPr wrap="square" lIns="0" tIns="0" rIns="0" bIns="0" rtlCol="0" anchor="ctr"/>
          <a:lstStyle/>
          <a:p>
            <a:pPr algn="ctr" indent="0" marL="0">
              <a:buNone/>
            </a:pPr>
            <a:r>
              <a:rPr lang="en-US" sz="2200" b="1" dirty="0">
                <a:solidFill>
                  <a:schemeClr val="tx2"/>
                </a:solidFill>
                <a:latin typeface="Consolas" pitchFamily="34" charset="0"/>
                <a:ea typeface="Consolas" pitchFamily="34" charset="-122"/>
                <a:cs typeface="Consolas" pitchFamily="34" charset="-120"/>
              </a:rPr>
              <a:t>2.10</a:t>
            </a:r>
            <a:endParaRPr lang="en-US" sz="2200" dirty="0"/>
          </a:p>
        </p:txBody>
      </p:sp>
      <p:sp>
        <p:nvSpPr>
          <p:cNvPr id="31" name="Text 29"/>
          <p:cNvSpPr txBox="1"/>
          <p:nvPr/>
        </p:nvSpPr>
        <p:spPr>
          <a:xfrm>
            <a:off x="658368" y="5230368"/>
            <a:ext cx="868680" cy="182880"/>
          </a:xfrm>
          <a:prstGeom prst="rect">
            <a:avLst/>
          </a:prstGeom>
          <a:noFill/>
          <a:ln/>
        </p:spPr>
        <p:txBody>
          <a:bodyPr wrap="square" lIns="0" tIns="0" rIns="0" bIns="0" rtlCol="0" anchor="ctr"/>
          <a:lstStyle/>
          <a:p>
            <a:pPr algn="ctr" indent="0" marL="0">
              <a:buNone/>
            </a:pPr>
            <a:r>
              <a:rPr lang="en-US" sz="900" b="1" spc="100" kern="0" dirty="0">
                <a:solidFill>
                  <a:schemeClr val="tx2"/>
                </a:solidFill>
              </a:rPr>
              <a:t>LOW</a:t>
            </a:r>
            <a:endParaRPr lang="en-US" sz="900" dirty="0"/>
          </a:p>
        </p:txBody>
      </p:sp>
      <p:sp>
        <p:nvSpPr>
          <p:cNvPr id="32" name="Text 30"/>
          <p:cNvSpPr txBox="1"/>
          <p:nvPr/>
        </p:nvSpPr>
        <p:spPr>
          <a:xfrm>
            <a:off x="1691640" y="4892040"/>
            <a:ext cx="5760720" cy="274320"/>
          </a:xfrm>
          <a:prstGeom prst="rect">
            <a:avLst/>
          </a:prstGeom>
          <a:noFill/>
          <a:ln/>
        </p:spPr>
        <p:txBody>
          <a:bodyPr wrap="square" lIns="0" tIns="0" rIns="0" bIns="0" rtlCol="0" anchor="ctr"/>
          <a:lstStyle/>
          <a:p>
            <a:pPr indent="0" marL="0">
              <a:buNone/>
            </a:pPr>
            <a:r>
              <a:rPr lang="en-US" sz="1500" b="1" dirty="0">
                <a:solidFill>
                  <a:schemeClr val="tx1"/>
                </a:solidFill>
              </a:rPr>
              <a:t>gateway · container_pause</a:t>
            </a:r>
            <a:pPr indent="0" marL="0">
              <a:buNone/>
            </a:pPr>
            <a:r>
              <a:rPr lang="en-US" sz="1200" dirty="0">
                <a:solidFill>
                  <a:schemeClr val="tx2"/>
                </a:solidFill>
              </a:rPr>
              <a:t>   57% success · p95 4,820 ms</a:t>
            </a:r>
            <a:endParaRPr lang="en-US" sz="1400" dirty="0"/>
          </a:p>
        </p:txBody>
      </p:sp>
      <p:sp>
        <p:nvSpPr>
          <p:cNvPr id="33" name="Text 31"/>
          <p:cNvSpPr txBox="1"/>
          <p:nvPr/>
        </p:nvSpPr>
        <p:spPr>
          <a:xfrm>
            <a:off x="1691640" y="5175504"/>
            <a:ext cx="5074920" cy="256032"/>
          </a:xfrm>
          <a:prstGeom prst="rect">
            <a:avLst/>
          </a:prstGeom>
          <a:noFill/>
          <a:ln/>
        </p:spPr>
        <p:txBody>
          <a:bodyPr wrap="square" lIns="0" tIns="0" rIns="0" bIns="0" rtlCol="0" anchor="ctr"/>
          <a:lstStyle/>
          <a:p>
            <a:pPr indent="0" marL="0">
              <a:buNone/>
            </a:pPr>
            <a:r>
              <a:rPr lang="en-US" sz="1100" dirty="0">
                <a:solidFill>
                  <a:schemeClr val="accent5"/>
                </a:solidFill>
                <a:latin typeface="Consolas" pitchFamily="34" charset="0"/>
                <a:ea typeface="Consolas" pitchFamily="34" charset="-122"/>
                <a:cs typeface="Consolas" pitchFamily="34" charset="-120"/>
              </a:rPr>
              <a:t>→ fix  </a:t>
            </a:r>
            <a:pPr indent="0" marL="0">
              <a:buNone/>
            </a:pPr>
            <a:r>
              <a:rPr lang="en-US" sz="1300" dirty="0">
                <a:solidFill>
                  <a:schemeClr val="accent2"/>
                </a:solidFill>
              </a:rPr>
              <a:t>Run two gateway replicas behind an nginx upstream …</a:t>
            </a:r>
            <a:endParaRPr lang="en-US" sz="1300" dirty="0"/>
          </a:p>
        </p:txBody>
      </p:sp>
      <p:sp>
        <p:nvSpPr>
          <p:cNvPr id="34" name="Text 32"/>
          <p:cNvSpPr txBox="1"/>
          <p:nvPr/>
        </p:nvSpPr>
        <p:spPr>
          <a:xfrm>
            <a:off x="6720840" y="5175504"/>
            <a:ext cx="731520" cy="256032"/>
          </a:xfrm>
          <a:prstGeom prst="rect">
            <a:avLst/>
          </a:prstGeom>
          <a:noFill/>
          <a:ln/>
        </p:spPr>
        <p:txBody>
          <a:bodyPr wrap="square" lIns="0" tIns="0" rIns="0" bIns="0" rtlCol="0" anchor="ctr"/>
          <a:lstStyle/>
          <a:p>
            <a:pPr algn="r" indent="0" marL="0">
              <a:buNone/>
            </a:pPr>
            <a:r>
              <a:rPr lang="en-US" sz="1100" dirty="0">
                <a:solidFill>
                  <a:schemeClr val="accent5"/>
                </a:solidFill>
                <a:latin typeface="Consolas" pitchFamily="34" charset="0"/>
                <a:ea typeface="Consolas" pitchFamily="34" charset="-122"/>
                <a:cs typeface="Consolas" pitchFamily="34" charset="-120"/>
              </a:rPr>
              <a:t>conf 0.85</a:t>
            </a:r>
            <a:endParaRPr lang="en-US" sz="1100" dirty="0"/>
          </a:p>
        </p:txBody>
      </p:sp>
      <p:sp>
        <p:nvSpPr>
          <p:cNvPr id="35" name="Text 33"/>
          <p:cNvSpPr txBox="1"/>
          <p:nvPr/>
        </p:nvSpPr>
        <p:spPr>
          <a:xfrm>
            <a:off x="548640" y="5596128"/>
            <a:ext cx="6995160" cy="365760"/>
          </a:xfrm>
          <a:prstGeom prst="rect">
            <a:avLst/>
          </a:prstGeom>
          <a:noFill/>
          <a:ln/>
        </p:spPr>
        <p:txBody>
          <a:bodyPr wrap="square" lIns="0" tIns="0" rIns="0" bIns="0" rtlCol="0" anchor="t"/>
          <a:lstStyle/>
          <a:p>
            <a:pPr indent="0" marL="0">
              <a:buNone/>
            </a:pPr>
            <a:r>
              <a:rPr lang="en-US" sz="1100" dirty="0">
                <a:solidFill>
                  <a:schemeClr val="accent5"/>
                </a:solidFill>
              </a:rPr>
              <a:t>+ 6 more, all LOW (0.39–1.53): five degrade-only faults on mongodb, one network_delay on policies</a:t>
            </a:r>
            <a:endParaRPr lang="en-US" sz="1100" dirty="0"/>
          </a:p>
        </p:txBody>
      </p:sp>
      <p:sp>
        <p:nvSpPr>
          <p:cNvPr id="36" name="Text 34"/>
          <p:cNvSpPr txBox="1"/>
          <p:nvPr/>
        </p:nvSpPr>
        <p:spPr>
          <a:xfrm>
            <a:off x="7818120" y="1572768"/>
            <a:ext cx="3822192" cy="256032"/>
          </a:xfrm>
          <a:prstGeom prst="rect">
            <a:avLst/>
          </a:prstGeom>
          <a:noFill/>
          <a:ln/>
        </p:spPr>
        <p:txBody>
          <a:bodyPr wrap="square" lIns="0" tIns="0" rIns="0" bIns="0" rtlCol="0" anchor="ctr"/>
          <a:lstStyle/>
          <a:p>
            <a:pPr indent="0" marL="0">
              <a:buNone/>
            </a:pPr>
            <a:r>
              <a:rPr lang="en-US" sz="1100" spc="100" kern="0" dirty="0">
                <a:solidFill>
                  <a:schemeClr val="accent5"/>
                </a:solidFill>
                <a:latin typeface="Consolas" pitchFamily="34" charset="0"/>
                <a:ea typeface="Consolas" pitchFamily="34" charset="-122"/>
                <a:cs typeface="Consolas" pitchFamily="34" charset="-120"/>
              </a:rPr>
              <a:t>SCORECARD · worst first</a:t>
            </a:r>
            <a:endParaRPr lang="en-US" sz="1100" dirty="0"/>
          </a:p>
        </p:txBody>
      </p:sp>
      <p:sp>
        <p:nvSpPr>
          <p:cNvPr id="37" name="!!scorepanel"/>
          <p:cNvSpPr/>
          <p:nvPr/>
        </p:nvSpPr>
        <p:spPr>
          <a:xfrm>
            <a:off x="7818120" y="1901952"/>
            <a:ext cx="3822192" cy="3648456"/>
          </a:xfrm>
          <a:prstGeom prst="roundRect">
            <a:avLst>
              <a:gd name="adj" fmla="val 2005"/>
            </a:avLst>
          </a:prstGeom>
          <a:solidFill>
            <a:schemeClr val="bg2"/>
          </a:solidFill>
          <a:ln w="9525">
            <a:solidFill>
              <a:schemeClr val="accent6"/>
            </a:solidFill>
            <a:prstDash val="solid"/>
          </a:ln>
        </p:spPr>
      </p:sp>
      <p:sp>
        <p:nvSpPr>
          <p:cNvPr id="38" name="!!overall"/>
          <p:cNvSpPr txBox="1"/>
          <p:nvPr/>
        </p:nvSpPr>
        <p:spPr>
          <a:xfrm>
            <a:off x="8001000" y="2011680"/>
            <a:ext cx="1600200" cy="685800"/>
          </a:xfrm>
          <a:prstGeom prst="rect">
            <a:avLst/>
          </a:prstGeom>
          <a:noFill/>
          <a:ln/>
        </p:spPr>
        <p:txBody>
          <a:bodyPr wrap="square" lIns="0" tIns="0" rIns="0" bIns="0" rtlCol="0" anchor="ctr"/>
          <a:lstStyle/>
          <a:p>
            <a:pPr indent="0" marL="0">
              <a:buNone/>
            </a:pPr>
            <a:r>
              <a:rPr lang="en-US" sz="4400" b="1" dirty="0">
                <a:solidFill>
                  <a:schemeClr val="tx1"/>
                </a:solidFill>
              </a:rPr>
              <a:t>81.0</a:t>
            </a:r>
            <a:endParaRPr lang="en-US" sz="4400" dirty="0"/>
          </a:p>
        </p:txBody>
      </p:sp>
      <p:sp>
        <p:nvSpPr>
          <p:cNvPr id="39" name="Text 37"/>
          <p:cNvSpPr txBox="1"/>
          <p:nvPr/>
        </p:nvSpPr>
        <p:spPr>
          <a:xfrm>
            <a:off x="9555480" y="2103120"/>
            <a:ext cx="1965960" cy="548640"/>
          </a:xfrm>
          <a:prstGeom prst="rect">
            <a:avLst/>
          </a:prstGeom>
          <a:noFill/>
          <a:ln/>
        </p:spPr>
        <p:txBody>
          <a:bodyPr wrap="square" lIns="0" tIns="0" rIns="0" bIns="0" rtlCol="0" anchor="ctr"/>
          <a:lstStyle/>
          <a:p>
            <a:pPr indent="0" marL="0">
              <a:buNone/>
            </a:pPr>
            <a:r>
              <a:rPr lang="en-US" sz="1300" dirty="0">
                <a:solidFill>
                  <a:schemeClr val="tx2"/>
                </a:solidFill>
              </a:rPr>
              <a:t>/ 100 overall</a:t>
            </a:r>
            <a:endParaRPr lang="en-US" sz="1300" dirty="0"/>
          </a:p>
          <a:p>
            <a:pPr indent="0" marL="0">
              <a:buNone/>
            </a:pPr>
            <a:r>
              <a:rPr lang="en-US" sz="1100" dirty="0">
                <a:solidFill>
                  <a:schemeClr val="accent5"/>
                </a:solidFill>
              </a:rPr>
              <a:t>11 experiments · 4/7 services</a:t>
            </a:r>
            <a:endParaRPr lang="en-US" sz="1300" dirty="0"/>
          </a:p>
        </p:txBody>
      </p:sp>
      <p:sp>
        <p:nvSpPr>
          <p:cNvPr id="40" name="Text 38"/>
          <p:cNvSpPr txBox="1"/>
          <p:nvPr/>
        </p:nvSpPr>
        <p:spPr>
          <a:xfrm>
            <a:off x="8001000" y="2880360"/>
            <a:ext cx="1051560" cy="329184"/>
          </a:xfrm>
          <a:prstGeom prst="rect">
            <a:avLst/>
          </a:prstGeom>
          <a:noFill/>
          <a:ln/>
        </p:spPr>
        <p:txBody>
          <a:bodyPr wrap="square" lIns="0" tIns="0" rIns="0" bIns="0" rtlCol="0" anchor="ctr"/>
          <a:lstStyle/>
          <a:p>
            <a:pPr indent="0" marL="0">
              <a:buNone/>
            </a:pPr>
            <a:r>
              <a:rPr lang="en-US" sz="1400" dirty="0">
                <a:solidFill>
                  <a:schemeClr val="tx1"/>
                </a:solidFill>
              </a:rPr>
              <a:t>things</a:t>
            </a:r>
            <a:endParaRPr lang="en-US" sz="1400" dirty="0"/>
          </a:p>
        </p:txBody>
      </p:sp>
      <p:sp>
        <p:nvSpPr>
          <p:cNvPr id="41" name="!!grade0"/>
          <p:cNvSpPr/>
          <p:nvPr/>
        </p:nvSpPr>
        <p:spPr>
          <a:xfrm>
            <a:off x="9061704" y="2880360"/>
            <a:ext cx="329184" cy="329184"/>
          </a:xfrm>
          <a:prstGeom prst="roundRect">
            <a:avLst>
              <a:gd name="adj" fmla="val 13889"/>
            </a:avLst>
          </a:prstGeom>
          <a:solidFill>
            <a:schemeClr val="accent1"/>
          </a:solidFill>
          <a:ln w="9525">
            <a:solidFill>
              <a:schemeClr val="accent1"/>
            </a:solidFill>
            <a:prstDash val="solid"/>
          </a:ln>
        </p:spPr>
      </p:sp>
      <p:sp>
        <p:nvSpPr>
          <p:cNvPr id="42" name="Text 40"/>
          <p:cNvSpPr txBox="1"/>
          <p:nvPr/>
        </p:nvSpPr>
        <p:spPr>
          <a:xfrm>
            <a:off x="9061704" y="288036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43" name="!!track0"/>
          <p:cNvSpPr/>
          <p:nvPr/>
        </p:nvSpPr>
        <p:spPr>
          <a:xfrm>
            <a:off x="9509760" y="2980944"/>
            <a:ext cx="1417320" cy="128016"/>
          </a:xfrm>
          <a:prstGeom prst="rect">
            <a:avLst/>
          </a:prstGeom>
          <a:solidFill>
            <a:schemeClr val="accent6"/>
          </a:solidFill>
          <a:ln w="9525">
            <a:solidFill>
              <a:schemeClr val="accent6"/>
            </a:solidFill>
            <a:prstDash val="solid"/>
          </a:ln>
        </p:spPr>
      </p:sp>
      <p:sp>
        <p:nvSpPr>
          <p:cNvPr id="44" name="!!bar0"/>
          <p:cNvSpPr/>
          <p:nvPr/>
        </p:nvSpPr>
        <p:spPr>
          <a:xfrm>
            <a:off x="9509760" y="2980944"/>
            <a:ext cx="704408" cy="128016"/>
          </a:xfrm>
          <a:prstGeom prst="rect">
            <a:avLst/>
          </a:prstGeom>
          <a:solidFill>
            <a:schemeClr val="accent1"/>
          </a:solidFill>
          <a:ln w="9525">
            <a:solidFill>
              <a:schemeClr val="accent1"/>
            </a:solidFill>
            <a:prstDash val="solid"/>
          </a:ln>
        </p:spPr>
      </p:sp>
      <p:sp>
        <p:nvSpPr>
          <p:cNvPr id="45" name="Text 43"/>
          <p:cNvSpPr txBox="1"/>
          <p:nvPr/>
        </p:nvSpPr>
        <p:spPr>
          <a:xfrm>
            <a:off x="10972800" y="2880360"/>
            <a:ext cx="548640" cy="329184"/>
          </a:xfrm>
          <a:prstGeom prst="rect">
            <a:avLst/>
          </a:prstGeom>
          <a:noFill/>
          <a:ln/>
        </p:spPr>
        <p:txBody>
          <a:bodyPr wrap="square" lIns="0" tIns="0" rIns="0" bIns="0" rtlCol="0" anchor="ctr"/>
          <a:lstStyle/>
          <a:p>
            <a:pPr algn="r" indent="0" marL="0">
              <a:buNone/>
            </a:pPr>
            <a:r>
              <a:rPr lang="en-US" sz="1300" dirty="0">
                <a:solidFill>
                  <a:schemeClr val="tx1"/>
                </a:solidFill>
                <a:latin typeface="Consolas" pitchFamily="34" charset="0"/>
                <a:ea typeface="Consolas" pitchFamily="34" charset="-122"/>
                <a:cs typeface="Consolas" pitchFamily="34" charset="-120"/>
              </a:rPr>
              <a:t>49.7</a:t>
            </a:r>
            <a:endParaRPr lang="en-US" sz="1300" dirty="0"/>
          </a:p>
        </p:txBody>
      </p:sp>
      <p:sp>
        <p:nvSpPr>
          <p:cNvPr id="46" name="Text 44"/>
          <p:cNvSpPr txBox="1"/>
          <p:nvPr/>
        </p:nvSpPr>
        <p:spPr>
          <a:xfrm>
            <a:off x="8001000" y="3392424"/>
            <a:ext cx="1051560" cy="329184"/>
          </a:xfrm>
          <a:prstGeom prst="rect">
            <a:avLst/>
          </a:prstGeom>
          <a:noFill/>
          <a:ln/>
        </p:spPr>
        <p:txBody>
          <a:bodyPr wrap="square" lIns="0" tIns="0" rIns="0" bIns="0" rtlCol="0" anchor="ctr"/>
          <a:lstStyle/>
          <a:p>
            <a:pPr indent="0" marL="0">
              <a:buNone/>
            </a:pPr>
            <a:r>
              <a:rPr lang="en-US" sz="1400" dirty="0">
                <a:solidFill>
                  <a:schemeClr val="tx1"/>
                </a:solidFill>
              </a:rPr>
              <a:t>gateway</a:t>
            </a:r>
            <a:endParaRPr lang="en-US" sz="1400" dirty="0"/>
          </a:p>
        </p:txBody>
      </p:sp>
      <p:sp>
        <p:nvSpPr>
          <p:cNvPr id="47" name="!!grade1"/>
          <p:cNvSpPr/>
          <p:nvPr/>
        </p:nvSpPr>
        <p:spPr>
          <a:xfrm>
            <a:off x="9061704" y="3392424"/>
            <a:ext cx="329184" cy="329184"/>
          </a:xfrm>
          <a:prstGeom prst="roundRect">
            <a:avLst>
              <a:gd name="adj" fmla="val 13889"/>
            </a:avLst>
          </a:prstGeom>
          <a:solidFill>
            <a:schemeClr val="accent3"/>
          </a:solidFill>
          <a:ln w="9525">
            <a:solidFill>
              <a:schemeClr val="accent3"/>
            </a:solidFill>
            <a:prstDash val="solid"/>
          </a:ln>
        </p:spPr>
      </p:sp>
      <p:sp>
        <p:nvSpPr>
          <p:cNvPr id="48" name="Text 46"/>
          <p:cNvSpPr txBox="1"/>
          <p:nvPr/>
        </p:nvSpPr>
        <p:spPr>
          <a:xfrm>
            <a:off x="9061704" y="3392424"/>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49" name="!!track1"/>
          <p:cNvSpPr/>
          <p:nvPr/>
        </p:nvSpPr>
        <p:spPr>
          <a:xfrm>
            <a:off x="9509760" y="3493008"/>
            <a:ext cx="1417320" cy="128016"/>
          </a:xfrm>
          <a:prstGeom prst="rect">
            <a:avLst/>
          </a:prstGeom>
          <a:solidFill>
            <a:schemeClr val="accent6"/>
          </a:solidFill>
          <a:ln w="9525">
            <a:solidFill>
              <a:schemeClr val="accent6"/>
            </a:solidFill>
            <a:prstDash val="solid"/>
          </a:ln>
        </p:spPr>
      </p:sp>
      <p:sp>
        <p:nvSpPr>
          <p:cNvPr id="50" name="!!bar1"/>
          <p:cNvSpPr/>
          <p:nvPr/>
        </p:nvSpPr>
        <p:spPr>
          <a:xfrm>
            <a:off x="9509760" y="3493008"/>
            <a:ext cx="1159368" cy="128016"/>
          </a:xfrm>
          <a:prstGeom prst="rect">
            <a:avLst/>
          </a:prstGeom>
          <a:solidFill>
            <a:schemeClr val="accent3"/>
          </a:solidFill>
          <a:ln w="9525">
            <a:solidFill>
              <a:schemeClr val="accent3"/>
            </a:solidFill>
            <a:prstDash val="solid"/>
          </a:ln>
        </p:spPr>
      </p:sp>
      <p:sp>
        <p:nvSpPr>
          <p:cNvPr id="51" name="Text 49"/>
          <p:cNvSpPr txBox="1"/>
          <p:nvPr/>
        </p:nvSpPr>
        <p:spPr>
          <a:xfrm>
            <a:off x="10972800" y="3392424"/>
            <a:ext cx="548640" cy="329184"/>
          </a:xfrm>
          <a:prstGeom prst="rect">
            <a:avLst/>
          </a:prstGeom>
          <a:noFill/>
          <a:ln/>
        </p:spPr>
        <p:txBody>
          <a:bodyPr wrap="square" lIns="0" tIns="0" rIns="0" bIns="0" rtlCol="0" anchor="ctr"/>
          <a:lstStyle/>
          <a:p>
            <a:pPr algn="r" indent="0" marL="0">
              <a:buNone/>
            </a:pPr>
            <a:r>
              <a:rPr lang="en-US" sz="1300" dirty="0">
                <a:solidFill>
                  <a:schemeClr val="tx1"/>
                </a:solidFill>
                <a:latin typeface="Consolas" pitchFamily="34" charset="0"/>
                <a:ea typeface="Consolas" pitchFamily="34" charset="-122"/>
                <a:cs typeface="Consolas" pitchFamily="34" charset="-120"/>
              </a:rPr>
              <a:t>81.8</a:t>
            </a:r>
            <a:endParaRPr lang="en-US" sz="1300" dirty="0"/>
          </a:p>
        </p:txBody>
      </p:sp>
      <p:sp>
        <p:nvSpPr>
          <p:cNvPr id="52" name="Text 50"/>
          <p:cNvSpPr txBox="1"/>
          <p:nvPr/>
        </p:nvSpPr>
        <p:spPr>
          <a:xfrm>
            <a:off x="8001000" y="3904488"/>
            <a:ext cx="1051560" cy="329184"/>
          </a:xfrm>
          <a:prstGeom prst="rect">
            <a:avLst/>
          </a:prstGeom>
          <a:noFill/>
          <a:ln/>
        </p:spPr>
        <p:txBody>
          <a:bodyPr wrap="square" lIns="0" tIns="0" rIns="0" bIns="0" rtlCol="0" anchor="ctr"/>
          <a:lstStyle/>
          <a:p>
            <a:pPr indent="0" marL="0">
              <a:buNone/>
            </a:pPr>
            <a:r>
              <a:rPr lang="en-US" sz="1400" dirty="0">
                <a:solidFill>
                  <a:schemeClr val="tx1"/>
                </a:solidFill>
              </a:rPr>
              <a:t>mongodb</a:t>
            </a:r>
            <a:endParaRPr lang="en-US" sz="1400" dirty="0"/>
          </a:p>
        </p:txBody>
      </p:sp>
      <p:sp>
        <p:nvSpPr>
          <p:cNvPr id="53" name="!!grade2"/>
          <p:cNvSpPr/>
          <p:nvPr/>
        </p:nvSpPr>
        <p:spPr>
          <a:xfrm>
            <a:off x="9061704" y="3904488"/>
            <a:ext cx="329184" cy="329184"/>
          </a:xfrm>
          <a:prstGeom prst="roundRect">
            <a:avLst>
              <a:gd name="adj" fmla="val 13889"/>
            </a:avLst>
          </a:prstGeom>
          <a:solidFill>
            <a:schemeClr val="accent2"/>
          </a:solidFill>
          <a:ln w="9525">
            <a:solidFill>
              <a:schemeClr val="accent2"/>
            </a:solidFill>
            <a:prstDash val="solid"/>
          </a:ln>
        </p:spPr>
      </p:sp>
      <p:sp>
        <p:nvSpPr>
          <p:cNvPr id="54" name="Text 52"/>
          <p:cNvSpPr txBox="1"/>
          <p:nvPr/>
        </p:nvSpPr>
        <p:spPr>
          <a:xfrm>
            <a:off x="9061704" y="390448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55" name="!!track2"/>
          <p:cNvSpPr/>
          <p:nvPr/>
        </p:nvSpPr>
        <p:spPr>
          <a:xfrm>
            <a:off x="9509760" y="4005072"/>
            <a:ext cx="1417320" cy="128016"/>
          </a:xfrm>
          <a:prstGeom prst="rect">
            <a:avLst/>
          </a:prstGeom>
          <a:solidFill>
            <a:schemeClr val="accent6"/>
          </a:solidFill>
          <a:ln w="9525">
            <a:solidFill>
              <a:schemeClr val="accent6"/>
            </a:solidFill>
            <a:prstDash val="solid"/>
          </a:ln>
        </p:spPr>
      </p:sp>
      <p:sp>
        <p:nvSpPr>
          <p:cNvPr id="56" name="!!bar2"/>
          <p:cNvSpPr/>
          <p:nvPr/>
        </p:nvSpPr>
        <p:spPr>
          <a:xfrm>
            <a:off x="9509760" y="4005072"/>
            <a:ext cx="1322360" cy="128016"/>
          </a:xfrm>
          <a:prstGeom prst="rect">
            <a:avLst/>
          </a:prstGeom>
          <a:solidFill>
            <a:schemeClr val="accent2"/>
          </a:solidFill>
          <a:ln w="9525">
            <a:solidFill>
              <a:schemeClr val="accent2"/>
            </a:solidFill>
            <a:prstDash val="solid"/>
          </a:ln>
        </p:spPr>
      </p:sp>
      <p:sp>
        <p:nvSpPr>
          <p:cNvPr id="57" name="Text 55"/>
          <p:cNvSpPr txBox="1"/>
          <p:nvPr/>
        </p:nvSpPr>
        <p:spPr>
          <a:xfrm>
            <a:off x="10972800" y="3904488"/>
            <a:ext cx="548640" cy="329184"/>
          </a:xfrm>
          <a:prstGeom prst="rect">
            <a:avLst/>
          </a:prstGeom>
          <a:noFill/>
          <a:ln/>
        </p:spPr>
        <p:txBody>
          <a:bodyPr wrap="square" lIns="0" tIns="0" rIns="0" bIns="0" rtlCol="0" anchor="ctr"/>
          <a:lstStyle/>
          <a:p>
            <a:pPr algn="r" indent="0" marL="0">
              <a:buNone/>
            </a:pPr>
            <a:r>
              <a:rPr lang="en-US" sz="1300" dirty="0">
                <a:solidFill>
                  <a:schemeClr val="tx1"/>
                </a:solidFill>
                <a:latin typeface="Consolas" pitchFamily="34" charset="0"/>
                <a:ea typeface="Consolas" pitchFamily="34" charset="-122"/>
                <a:cs typeface="Consolas" pitchFamily="34" charset="-120"/>
              </a:rPr>
              <a:t>93.3</a:t>
            </a:r>
            <a:endParaRPr lang="en-US" sz="1300" dirty="0"/>
          </a:p>
        </p:txBody>
      </p:sp>
      <p:sp>
        <p:nvSpPr>
          <p:cNvPr id="58" name="Text 56"/>
          <p:cNvSpPr txBox="1"/>
          <p:nvPr/>
        </p:nvSpPr>
        <p:spPr>
          <a:xfrm>
            <a:off x="8001000" y="4416552"/>
            <a:ext cx="1051560" cy="329184"/>
          </a:xfrm>
          <a:prstGeom prst="rect">
            <a:avLst/>
          </a:prstGeom>
          <a:noFill/>
          <a:ln/>
        </p:spPr>
        <p:txBody>
          <a:bodyPr wrap="square" lIns="0" tIns="0" rIns="0" bIns="0" rtlCol="0" anchor="ctr"/>
          <a:lstStyle/>
          <a:p>
            <a:pPr indent="0" marL="0">
              <a:buNone/>
            </a:pPr>
            <a:r>
              <a:rPr lang="en-US" sz="1400" dirty="0">
                <a:solidFill>
                  <a:schemeClr val="tx1"/>
                </a:solidFill>
              </a:rPr>
              <a:t>policies</a:t>
            </a:r>
            <a:endParaRPr lang="en-US" sz="1400" dirty="0"/>
          </a:p>
        </p:txBody>
      </p:sp>
      <p:sp>
        <p:nvSpPr>
          <p:cNvPr id="59" name="!!grade3"/>
          <p:cNvSpPr/>
          <p:nvPr/>
        </p:nvSpPr>
        <p:spPr>
          <a:xfrm>
            <a:off x="9061704" y="4416552"/>
            <a:ext cx="329184" cy="329184"/>
          </a:xfrm>
          <a:prstGeom prst="roundRect">
            <a:avLst>
              <a:gd name="adj" fmla="val 13889"/>
            </a:avLst>
          </a:prstGeom>
          <a:solidFill>
            <a:schemeClr val="accent2"/>
          </a:solidFill>
          <a:ln w="9525">
            <a:solidFill>
              <a:schemeClr val="accent2"/>
            </a:solidFill>
            <a:prstDash val="solid"/>
          </a:ln>
        </p:spPr>
      </p:sp>
      <p:sp>
        <p:nvSpPr>
          <p:cNvPr id="60" name="Text 58"/>
          <p:cNvSpPr txBox="1"/>
          <p:nvPr/>
        </p:nvSpPr>
        <p:spPr>
          <a:xfrm>
            <a:off x="9061704" y="441655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61" name="!!track3"/>
          <p:cNvSpPr/>
          <p:nvPr/>
        </p:nvSpPr>
        <p:spPr>
          <a:xfrm>
            <a:off x="9509760" y="4517136"/>
            <a:ext cx="1417320" cy="128016"/>
          </a:xfrm>
          <a:prstGeom prst="rect">
            <a:avLst/>
          </a:prstGeom>
          <a:solidFill>
            <a:schemeClr val="accent6"/>
          </a:solidFill>
          <a:ln w="9525">
            <a:solidFill>
              <a:schemeClr val="accent6"/>
            </a:solidFill>
            <a:prstDash val="solid"/>
          </a:ln>
        </p:spPr>
      </p:sp>
      <p:sp>
        <p:nvSpPr>
          <p:cNvPr id="62" name="!!bar3"/>
          <p:cNvSpPr/>
          <p:nvPr/>
        </p:nvSpPr>
        <p:spPr>
          <a:xfrm>
            <a:off x="9509760" y="4517136"/>
            <a:ext cx="1403147" cy="128016"/>
          </a:xfrm>
          <a:prstGeom prst="rect">
            <a:avLst/>
          </a:prstGeom>
          <a:solidFill>
            <a:schemeClr val="accent2"/>
          </a:solidFill>
          <a:ln w="9525">
            <a:solidFill>
              <a:schemeClr val="accent2"/>
            </a:solidFill>
            <a:prstDash val="solid"/>
          </a:ln>
        </p:spPr>
      </p:sp>
      <p:sp>
        <p:nvSpPr>
          <p:cNvPr id="63" name="Text 61"/>
          <p:cNvSpPr txBox="1"/>
          <p:nvPr/>
        </p:nvSpPr>
        <p:spPr>
          <a:xfrm>
            <a:off x="10972800" y="4416552"/>
            <a:ext cx="548640" cy="329184"/>
          </a:xfrm>
          <a:prstGeom prst="rect">
            <a:avLst/>
          </a:prstGeom>
          <a:noFill/>
          <a:ln/>
        </p:spPr>
        <p:txBody>
          <a:bodyPr wrap="square" lIns="0" tIns="0" rIns="0" bIns="0" rtlCol="0" anchor="ctr"/>
          <a:lstStyle/>
          <a:p>
            <a:pPr algn="r" indent="0" marL="0">
              <a:buNone/>
            </a:pPr>
            <a:r>
              <a:rPr lang="en-US" sz="1300" dirty="0">
                <a:solidFill>
                  <a:schemeClr val="tx1"/>
                </a:solidFill>
                <a:latin typeface="Consolas" pitchFamily="34" charset="0"/>
                <a:ea typeface="Consolas" pitchFamily="34" charset="-122"/>
                <a:cs typeface="Consolas" pitchFamily="34" charset="-120"/>
              </a:rPr>
              <a:t>99.0</a:t>
            </a:r>
            <a:endParaRPr lang="en-US" sz="1300" dirty="0"/>
          </a:p>
        </p:txBody>
      </p:sp>
      <p:sp>
        <p:nvSpPr>
          <p:cNvPr id="64" name="Shape 62"/>
          <p:cNvSpPr/>
          <p:nvPr/>
        </p:nvSpPr>
        <p:spPr>
          <a:xfrm>
            <a:off x="8001000" y="4965192"/>
            <a:ext cx="3456432" cy="0"/>
          </a:xfrm>
          <a:prstGeom prst="line">
            <a:avLst/>
          </a:prstGeom>
          <a:noFill/>
          <a:ln w="9525">
            <a:solidFill>
              <a:schemeClr val="accent6"/>
            </a:solidFill>
            <a:prstDash val="solid"/>
          </a:ln>
        </p:spPr>
      </p:sp>
      <p:sp>
        <p:nvSpPr>
          <p:cNvPr id="65" name="Text 63"/>
          <p:cNvSpPr txBox="1"/>
          <p:nvPr/>
        </p:nvSpPr>
        <p:spPr>
          <a:xfrm>
            <a:off x="8001000" y="5029200"/>
            <a:ext cx="3456432" cy="457200"/>
          </a:xfrm>
          <a:prstGeom prst="rect">
            <a:avLst/>
          </a:prstGeom>
          <a:noFill/>
          <a:ln/>
        </p:spPr>
        <p:txBody>
          <a:bodyPr wrap="square" lIns="0" tIns="0" rIns="0" bIns="0" rtlCol="0" anchor="t"/>
          <a:lstStyle/>
          <a:p>
            <a:pPr indent="0" marL="0">
              <a:buNone/>
            </a:pPr>
            <a:r>
              <a:rPr lang="en-US" sz="1100" dirty="0">
                <a:solidFill>
                  <a:schemeClr val="accent5"/>
                </a:solidFill>
              </a:rPr>
              <a:t>Not tested, so no grade:</a:t>
            </a:r>
            <a:endParaRPr lang="en-US" sz="1100" dirty="0"/>
          </a:p>
          <a:p>
            <a:pPr indent="0" marL="0">
              <a:buNone/>
            </a:pPr>
            <a:r>
              <a:rPr lang="en-US" sz="1100" dirty="0">
                <a:solidFill>
                  <a:schemeClr val="tx2"/>
                </a:solidFill>
              </a:rPr>
              <a:t>connectivity · nginx · things-search</a:t>
            </a: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spc="200" kern="0" dirty="0">
                <a:solidFill>
                  <a:schemeClr val="accent3"/>
                </a:solidFill>
                <a:latin typeface="Consolas" pitchFamily="34" charset="0"/>
                <a:ea typeface="Consolas" pitchFamily="34" charset="-122"/>
                <a:cs typeface="Consolas" pitchFamily="34" charset="-120"/>
              </a:rPr>
              <a:t>05 · TOOLS &amp; CAPABILITIES</a:t>
            </a:r>
            <a:endParaRPr lang="en-US" sz="1200" dirty="0"/>
          </a:p>
        </p:txBody>
      </p:sp>
      <p:sp>
        <p:nvSpPr>
          <p:cNvPr id="3" name="Text 1"/>
          <p:cNvSpPr/>
          <p:nvPr>
            <p:ph idx="102" type="title" hasCustomPrompt="1"/>
          </p:nvPr>
        </p:nvSpPr>
        <p:spPr>
          <a:xfrm>
            <a:off x="548640" y="676656"/>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One engine, ten failure types, any model, or none</a:t>
            </a:r>
            <a:endParaRPr lang="en-US" sz="3400" dirty="0"/>
          </a:p>
        </p:txBody>
      </p:sp>
      <p:sp>
        <p:nvSpPr>
          <p:cNvPr id="4" name="Shape 2"/>
          <p:cNvSpPr/>
          <p:nvPr/>
        </p:nvSpPr>
        <p:spPr>
          <a:xfrm>
            <a:off x="548640" y="1600200"/>
            <a:ext cx="11091672" cy="1508760"/>
          </a:xfrm>
          <a:prstGeom prst="roundRect">
            <a:avLst>
              <a:gd name="adj" fmla="val 4848"/>
            </a:avLst>
          </a:prstGeom>
          <a:solidFill>
            <a:schemeClr val="bg2"/>
          </a:solidFill>
          <a:ln w="9525">
            <a:solidFill>
              <a:schemeClr val="accent6"/>
            </a:solidFill>
            <a:prstDash val="solid"/>
          </a:ln>
        </p:spPr>
      </p:sp>
      <p:sp>
        <p:nvSpPr>
          <p:cNvPr id="5" name="Text 3"/>
          <p:cNvSpPr txBox="1"/>
          <p:nvPr/>
        </p:nvSpPr>
        <p:spPr>
          <a:xfrm>
            <a:off x="731520" y="1700784"/>
            <a:ext cx="2011680" cy="256032"/>
          </a:xfrm>
          <a:prstGeom prst="rect">
            <a:avLst/>
          </a:prstGeom>
          <a:noFill/>
          <a:ln/>
        </p:spPr>
        <p:txBody>
          <a:bodyPr wrap="square" lIns="0" tIns="0" rIns="0" bIns="0" rtlCol="0" anchor="ctr"/>
          <a:lstStyle/>
          <a:p>
            <a:pPr indent="0" marL="0">
              <a:buNone/>
            </a:pPr>
            <a:r>
              <a:rPr lang="en-US" sz="1100" spc="100" kern="0" dirty="0">
                <a:solidFill>
                  <a:schemeClr val="accent5"/>
                </a:solidFill>
                <a:latin typeface="Consolas" pitchFamily="34" charset="0"/>
                <a:ea typeface="Consolas" pitchFamily="34" charset="-122"/>
                <a:cs typeface="Consolas" pitchFamily="34" charset="-120"/>
              </a:rPr>
              <a:t>FAILURE CATALOG</a:t>
            </a:r>
            <a:endParaRPr lang="en-US" sz="1100" dirty="0"/>
          </a:p>
        </p:txBody>
      </p:sp>
      <p:sp>
        <p:nvSpPr>
          <p:cNvPr id="6" name="Text 4"/>
          <p:cNvSpPr txBox="1"/>
          <p:nvPr/>
        </p:nvSpPr>
        <p:spPr>
          <a:xfrm>
            <a:off x="2743200" y="1700784"/>
            <a:ext cx="8686800" cy="256032"/>
          </a:xfrm>
          <a:prstGeom prst="rect">
            <a:avLst/>
          </a:prstGeom>
          <a:noFill/>
          <a:ln/>
        </p:spPr>
        <p:txBody>
          <a:bodyPr wrap="square" lIns="0" tIns="0" rIns="0" bIns="0" rtlCol="0" anchor="ctr"/>
          <a:lstStyle/>
          <a:p>
            <a:pPr indent="0" marL="0">
              <a:buNone/>
            </a:pPr>
            <a:r>
              <a:rPr lang="en-US" sz="1300" dirty="0">
                <a:solidFill>
                  <a:schemeClr val="tx2"/>
                </a:solidFill>
              </a:rPr>
              <a:t>10 types · every parameter bounded; LLM or operator input is clamped and the clamp recorded</a:t>
            </a:r>
            <a:endParaRPr lang="en-US" sz="1300" dirty="0"/>
          </a:p>
        </p:txBody>
      </p:sp>
      <p:sp>
        <p:nvSpPr>
          <p:cNvPr id="7" name="Shape 5"/>
          <p:cNvSpPr/>
          <p:nvPr/>
        </p:nvSpPr>
        <p:spPr>
          <a:xfrm>
            <a:off x="731520" y="2103120"/>
            <a:ext cx="2011680" cy="384048"/>
          </a:xfrm>
          <a:prstGeom prst="roundRect">
            <a:avLst>
              <a:gd name="adj" fmla="val 14286"/>
            </a:avLst>
          </a:prstGeom>
          <a:solidFill>
            <a:schemeClr val="bg1"/>
          </a:solidFill>
          <a:ln w="9525">
            <a:solidFill>
              <a:schemeClr val="accent1"/>
            </a:solidFill>
            <a:prstDash val="solid"/>
          </a:ln>
        </p:spPr>
      </p:sp>
      <p:sp>
        <p:nvSpPr>
          <p:cNvPr id="8" name="Text 6"/>
          <p:cNvSpPr txBox="1"/>
          <p:nvPr/>
        </p:nvSpPr>
        <p:spPr>
          <a:xfrm>
            <a:off x="731520" y="2103120"/>
            <a:ext cx="2011680" cy="384048"/>
          </a:xfrm>
          <a:prstGeom prst="rect">
            <a:avLst/>
          </a:prstGeom>
          <a:noFill/>
          <a:ln/>
        </p:spPr>
        <p:txBody>
          <a:bodyPr wrap="square" lIns="0" tIns="0" rIns="0" bIns="0" rtlCol="0" anchor="ctr"/>
          <a:lstStyle/>
          <a:p>
            <a:pPr algn="ctr" indent="0" marL="0">
              <a:buNone/>
            </a:pPr>
            <a:r>
              <a:rPr lang="en-US" sz="1300" dirty="0">
                <a:solidFill>
                  <a:schemeClr val="accent1"/>
                </a:solidFill>
                <a:latin typeface="Consolas" pitchFamily="34" charset="0"/>
                <a:ea typeface="Consolas" pitchFamily="34" charset="-122"/>
                <a:cs typeface="Consolas" pitchFamily="34" charset="-120"/>
              </a:rPr>
              <a:t>container_crash</a:t>
            </a:r>
            <a:endParaRPr lang="en-US" sz="1300" dirty="0"/>
          </a:p>
        </p:txBody>
      </p:sp>
      <p:sp>
        <p:nvSpPr>
          <p:cNvPr id="9" name="Shape 7"/>
          <p:cNvSpPr/>
          <p:nvPr/>
        </p:nvSpPr>
        <p:spPr>
          <a:xfrm>
            <a:off x="2884932" y="2103120"/>
            <a:ext cx="2011680" cy="384048"/>
          </a:xfrm>
          <a:prstGeom prst="roundRect">
            <a:avLst>
              <a:gd name="adj" fmla="val 14286"/>
            </a:avLst>
          </a:prstGeom>
          <a:solidFill>
            <a:schemeClr val="bg1"/>
          </a:solidFill>
          <a:ln w="9525">
            <a:solidFill>
              <a:schemeClr val="accent1"/>
            </a:solidFill>
            <a:prstDash val="solid"/>
          </a:ln>
        </p:spPr>
      </p:sp>
      <p:sp>
        <p:nvSpPr>
          <p:cNvPr id="10" name="Text 8"/>
          <p:cNvSpPr txBox="1"/>
          <p:nvPr/>
        </p:nvSpPr>
        <p:spPr>
          <a:xfrm>
            <a:off x="2884932" y="2103120"/>
            <a:ext cx="2011680" cy="384048"/>
          </a:xfrm>
          <a:prstGeom prst="rect">
            <a:avLst/>
          </a:prstGeom>
          <a:noFill/>
          <a:ln/>
        </p:spPr>
        <p:txBody>
          <a:bodyPr wrap="square" lIns="0" tIns="0" rIns="0" bIns="0" rtlCol="0" anchor="ctr"/>
          <a:lstStyle/>
          <a:p>
            <a:pPr algn="ctr" indent="0" marL="0">
              <a:buNone/>
            </a:pPr>
            <a:r>
              <a:rPr lang="en-US" sz="1300" dirty="0">
                <a:solidFill>
                  <a:schemeClr val="accent1"/>
                </a:solidFill>
                <a:latin typeface="Consolas" pitchFamily="34" charset="0"/>
                <a:ea typeface="Consolas" pitchFamily="34" charset="-122"/>
                <a:cs typeface="Consolas" pitchFamily="34" charset="-120"/>
              </a:rPr>
              <a:t>container_pause</a:t>
            </a:r>
            <a:endParaRPr lang="en-US" sz="1300" dirty="0"/>
          </a:p>
        </p:txBody>
      </p:sp>
      <p:sp>
        <p:nvSpPr>
          <p:cNvPr id="11" name="Shape 9"/>
          <p:cNvSpPr/>
          <p:nvPr/>
        </p:nvSpPr>
        <p:spPr>
          <a:xfrm>
            <a:off x="5038344" y="2103120"/>
            <a:ext cx="2011680" cy="384048"/>
          </a:xfrm>
          <a:prstGeom prst="roundRect">
            <a:avLst>
              <a:gd name="adj" fmla="val 14286"/>
            </a:avLst>
          </a:prstGeom>
          <a:solidFill>
            <a:schemeClr val="bg1"/>
          </a:solidFill>
          <a:ln w="9525">
            <a:solidFill>
              <a:schemeClr val="accent1"/>
            </a:solidFill>
            <a:prstDash val="solid"/>
          </a:ln>
        </p:spPr>
      </p:sp>
      <p:sp>
        <p:nvSpPr>
          <p:cNvPr id="12" name="Text 10"/>
          <p:cNvSpPr txBox="1"/>
          <p:nvPr/>
        </p:nvSpPr>
        <p:spPr>
          <a:xfrm>
            <a:off x="5038344" y="2103120"/>
            <a:ext cx="2011680" cy="384048"/>
          </a:xfrm>
          <a:prstGeom prst="rect">
            <a:avLst/>
          </a:prstGeom>
          <a:noFill/>
          <a:ln/>
        </p:spPr>
        <p:txBody>
          <a:bodyPr wrap="square" lIns="0" tIns="0" rIns="0" bIns="0" rtlCol="0" anchor="ctr"/>
          <a:lstStyle/>
          <a:p>
            <a:pPr algn="ctr" indent="0" marL="0">
              <a:buNone/>
            </a:pPr>
            <a:r>
              <a:rPr lang="en-US" sz="1300" dirty="0">
                <a:solidFill>
                  <a:schemeClr val="accent1"/>
                </a:solidFill>
                <a:latin typeface="Consolas" pitchFamily="34" charset="0"/>
                <a:ea typeface="Consolas" pitchFamily="34" charset="-122"/>
                <a:cs typeface="Consolas" pitchFamily="34" charset="-120"/>
              </a:rPr>
              <a:t>container_stop</a:t>
            </a:r>
            <a:endParaRPr lang="en-US" sz="1300" dirty="0"/>
          </a:p>
        </p:txBody>
      </p:sp>
      <p:sp>
        <p:nvSpPr>
          <p:cNvPr id="13" name="Shape 11"/>
          <p:cNvSpPr/>
          <p:nvPr/>
        </p:nvSpPr>
        <p:spPr>
          <a:xfrm>
            <a:off x="7191756" y="2103120"/>
            <a:ext cx="2011680" cy="384048"/>
          </a:xfrm>
          <a:prstGeom prst="roundRect">
            <a:avLst>
              <a:gd name="adj" fmla="val 14286"/>
            </a:avLst>
          </a:prstGeom>
          <a:solidFill>
            <a:schemeClr val="bg1"/>
          </a:solidFill>
          <a:ln w="9525">
            <a:solidFill>
              <a:schemeClr val="accent1"/>
            </a:solidFill>
            <a:prstDash val="solid"/>
          </a:ln>
        </p:spPr>
      </p:sp>
      <p:sp>
        <p:nvSpPr>
          <p:cNvPr id="14" name="Text 12"/>
          <p:cNvSpPr txBox="1"/>
          <p:nvPr/>
        </p:nvSpPr>
        <p:spPr>
          <a:xfrm>
            <a:off x="7191756" y="2103120"/>
            <a:ext cx="2011680" cy="384048"/>
          </a:xfrm>
          <a:prstGeom prst="rect">
            <a:avLst/>
          </a:prstGeom>
          <a:noFill/>
          <a:ln/>
        </p:spPr>
        <p:txBody>
          <a:bodyPr wrap="square" lIns="0" tIns="0" rIns="0" bIns="0" rtlCol="0" anchor="ctr"/>
          <a:lstStyle/>
          <a:p>
            <a:pPr algn="ctr" indent="0" marL="0">
              <a:buNone/>
            </a:pPr>
            <a:r>
              <a:rPr lang="en-US" sz="1300" dirty="0">
                <a:solidFill>
                  <a:schemeClr val="accent1"/>
                </a:solidFill>
                <a:latin typeface="Consolas" pitchFamily="34" charset="0"/>
                <a:ea typeface="Consolas" pitchFamily="34" charset="-122"/>
                <a:cs typeface="Consolas" pitchFamily="34" charset="-120"/>
              </a:rPr>
              <a:t>network_partition</a:t>
            </a:r>
            <a:endParaRPr lang="en-US" sz="1300" dirty="0"/>
          </a:p>
        </p:txBody>
      </p:sp>
      <p:sp>
        <p:nvSpPr>
          <p:cNvPr id="15" name="Shape 13"/>
          <p:cNvSpPr/>
          <p:nvPr/>
        </p:nvSpPr>
        <p:spPr>
          <a:xfrm>
            <a:off x="9345168" y="2103120"/>
            <a:ext cx="2011680" cy="384048"/>
          </a:xfrm>
          <a:prstGeom prst="roundRect">
            <a:avLst>
              <a:gd name="adj" fmla="val 14286"/>
            </a:avLst>
          </a:prstGeom>
          <a:solidFill>
            <a:schemeClr val="bg1"/>
          </a:solidFill>
          <a:ln w="9525">
            <a:solidFill>
              <a:schemeClr val="accent1"/>
            </a:solidFill>
            <a:prstDash val="solid"/>
          </a:ln>
        </p:spPr>
      </p:sp>
      <p:sp>
        <p:nvSpPr>
          <p:cNvPr id="16" name="Text 14"/>
          <p:cNvSpPr txBox="1"/>
          <p:nvPr/>
        </p:nvSpPr>
        <p:spPr>
          <a:xfrm>
            <a:off x="9345168" y="2103120"/>
            <a:ext cx="2011680" cy="384048"/>
          </a:xfrm>
          <a:prstGeom prst="rect">
            <a:avLst/>
          </a:prstGeom>
          <a:noFill/>
          <a:ln/>
        </p:spPr>
        <p:txBody>
          <a:bodyPr wrap="square" lIns="0" tIns="0" rIns="0" bIns="0" rtlCol="0" anchor="ctr"/>
          <a:lstStyle/>
          <a:p>
            <a:pPr algn="ctr" indent="0" marL="0">
              <a:buNone/>
            </a:pPr>
            <a:r>
              <a:rPr lang="en-US" sz="1300" dirty="0">
                <a:solidFill>
                  <a:schemeClr val="accent1"/>
                </a:solidFill>
                <a:latin typeface="Consolas" pitchFamily="34" charset="0"/>
                <a:ea typeface="Consolas" pitchFamily="34" charset="-122"/>
                <a:cs typeface="Consolas" pitchFamily="34" charset="-120"/>
              </a:rPr>
              <a:t>network_delay</a:t>
            </a:r>
            <a:endParaRPr lang="en-US" sz="1300" dirty="0"/>
          </a:p>
        </p:txBody>
      </p:sp>
      <p:sp>
        <p:nvSpPr>
          <p:cNvPr id="17" name="Shape 15"/>
          <p:cNvSpPr/>
          <p:nvPr/>
        </p:nvSpPr>
        <p:spPr>
          <a:xfrm>
            <a:off x="731520" y="2587752"/>
            <a:ext cx="2011680" cy="384048"/>
          </a:xfrm>
          <a:prstGeom prst="roundRect">
            <a:avLst>
              <a:gd name="adj" fmla="val 14286"/>
            </a:avLst>
          </a:prstGeom>
          <a:solidFill>
            <a:schemeClr val="bg1"/>
          </a:solidFill>
          <a:ln w="9525">
            <a:solidFill>
              <a:schemeClr val="accent1"/>
            </a:solidFill>
            <a:prstDash val="solid"/>
          </a:ln>
        </p:spPr>
      </p:sp>
      <p:sp>
        <p:nvSpPr>
          <p:cNvPr id="18" name="Text 16"/>
          <p:cNvSpPr txBox="1"/>
          <p:nvPr/>
        </p:nvSpPr>
        <p:spPr>
          <a:xfrm>
            <a:off x="731520" y="2587752"/>
            <a:ext cx="2011680" cy="384048"/>
          </a:xfrm>
          <a:prstGeom prst="rect">
            <a:avLst/>
          </a:prstGeom>
          <a:noFill/>
          <a:ln/>
        </p:spPr>
        <p:txBody>
          <a:bodyPr wrap="square" lIns="0" tIns="0" rIns="0" bIns="0" rtlCol="0" anchor="ctr"/>
          <a:lstStyle/>
          <a:p>
            <a:pPr algn="ctr" indent="0" marL="0">
              <a:buNone/>
            </a:pPr>
            <a:r>
              <a:rPr lang="en-US" sz="1300" dirty="0">
                <a:solidFill>
                  <a:schemeClr val="accent1"/>
                </a:solidFill>
                <a:latin typeface="Consolas" pitchFamily="34" charset="0"/>
                <a:ea typeface="Consolas" pitchFamily="34" charset="-122"/>
                <a:cs typeface="Consolas" pitchFamily="34" charset="-120"/>
              </a:rPr>
              <a:t>network_loss</a:t>
            </a:r>
            <a:endParaRPr lang="en-US" sz="1300" dirty="0"/>
          </a:p>
        </p:txBody>
      </p:sp>
      <p:sp>
        <p:nvSpPr>
          <p:cNvPr id="19" name="Shape 17"/>
          <p:cNvSpPr/>
          <p:nvPr/>
        </p:nvSpPr>
        <p:spPr>
          <a:xfrm>
            <a:off x="2884932" y="2587752"/>
            <a:ext cx="2011680" cy="384048"/>
          </a:xfrm>
          <a:prstGeom prst="roundRect">
            <a:avLst>
              <a:gd name="adj" fmla="val 14286"/>
            </a:avLst>
          </a:prstGeom>
          <a:solidFill>
            <a:schemeClr val="bg1"/>
          </a:solidFill>
          <a:ln w="9525">
            <a:solidFill>
              <a:schemeClr val="accent1"/>
            </a:solidFill>
            <a:prstDash val="solid"/>
          </a:ln>
        </p:spPr>
      </p:sp>
      <p:sp>
        <p:nvSpPr>
          <p:cNvPr id="20" name="Text 18"/>
          <p:cNvSpPr txBox="1"/>
          <p:nvPr/>
        </p:nvSpPr>
        <p:spPr>
          <a:xfrm>
            <a:off x="2884932" y="2587752"/>
            <a:ext cx="2011680" cy="384048"/>
          </a:xfrm>
          <a:prstGeom prst="rect">
            <a:avLst/>
          </a:prstGeom>
          <a:noFill/>
          <a:ln/>
        </p:spPr>
        <p:txBody>
          <a:bodyPr wrap="square" lIns="0" tIns="0" rIns="0" bIns="0" rtlCol="0" anchor="ctr"/>
          <a:lstStyle/>
          <a:p>
            <a:pPr algn="ctr" indent="0" marL="0">
              <a:buNone/>
            </a:pPr>
            <a:r>
              <a:rPr lang="en-US" sz="1300" dirty="0">
                <a:solidFill>
                  <a:schemeClr val="accent1"/>
                </a:solidFill>
                <a:latin typeface="Consolas" pitchFamily="34" charset="0"/>
                <a:ea typeface="Consolas" pitchFamily="34" charset="-122"/>
                <a:cs typeface="Consolas" pitchFamily="34" charset="-120"/>
              </a:rPr>
              <a:t>disk_pressure</a:t>
            </a:r>
            <a:endParaRPr lang="en-US" sz="1300" dirty="0"/>
          </a:p>
        </p:txBody>
      </p:sp>
      <p:sp>
        <p:nvSpPr>
          <p:cNvPr id="21" name="Shape 19"/>
          <p:cNvSpPr/>
          <p:nvPr/>
        </p:nvSpPr>
        <p:spPr>
          <a:xfrm>
            <a:off x="5038344" y="2587752"/>
            <a:ext cx="2011680" cy="384048"/>
          </a:xfrm>
          <a:prstGeom prst="roundRect">
            <a:avLst>
              <a:gd name="adj" fmla="val 14286"/>
            </a:avLst>
          </a:prstGeom>
          <a:solidFill>
            <a:schemeClr val="bg1"/>
          </a:solidFill>
          <a:ln w="9525">
            <a:solidFill>
              <a:schemeClr val="accent1"/>
            </a:solidFill>
            <a:prstDash val="solid"/>
          </a:ln>
        </p:spPr>
      </p:sp>
      <p:sp>
        <p:nvSpPr>
          <p:cNvPr id="22" name="Text 20"/>
          <p:cNvSpPr txBox="1"/>
          <p:nvPr/>
        </p:nvSpPr>
        <p:spPr>
          <a:xfrm>
            <a:off x="5038344" y="2587752"/>
            <a:ext cx="2011680" cy="384048"/>
          </a:xfrm>
          <a:prstGeom prst="rect">
            <a:avLst/>
          </a:prstGeom>
          <a:noFill/>
          <a:ln/>
        </p:spPr>
        <p:txBody>
          <a:bodyPr wrap="square" lIns="0" tIns="0" rIns="0" bIns="0" rtlCol="0" anchor="ctr"/>
          <a:lstStyle/>
          <a:p>
            <a:pPr algn="ctr" indent="0" marL="0">
              <a:buNone/>
            </a:pPr>
            <a:r>
              <a:rPr lang="en-US" sz="1300" dirty="0">
                <a:solidFill>
                  <a:schemeClr val="accent1"/>
                </a:solidFill>
                <a:latin typeface="Consolas" pitchFamily="34" charset="0"/>
                <a:ea typeface="Consolas" pitchFamily="34" charset="-122"/>
                <a:cs typeface="Consolas" pitchFamily="34" charset="-120"/>
              </a:rPr>
              <a:t>cpu_stress</a:t>
            </a:r>
            <a:endParaRPr lang="en-US" sz="1300" dirty="0"/>
          </a:p>
        </p:txBody>
      </p:sp>
      <p:sp>
        <p:nvSpPr>
          <p:cNvPr id="23" name="Shape 21"/>
          <p:cNvSpPr/>
          <p:nvPr/>
        </p:nvSpPr>
        <p:spPr>
          <a:xfrm>
            <a:off x="7191756" y="2587752"/>
            <a:ext cx="2011680" cy="384048"/>
          </a:xfrm>
          <a:prstGeom prst="roundRect">
            <a:avLst>
              <a:gd name="adj" fmla="val 14286"/>
            </a:avLst>
          </a:prstGeom>
          <a:solidFill>
            <a:schemeClr val="bg1"/>
          </a:solidFill>
          <a:ln w="9525">
            <a:solidFill>
              <a:schemeClr val="accent1"/>
            </a:solidFill>
            <a:prstDash val="solid"/>
          </a:ln>
        </p:spPr>
      </p:sp>
      <p:sp>
        <p:nvSpPr>
          <p:cNvPr id="24" name="Text 22"/>
          <p:cNvSpPr txBox="1"/>
          <p:nvPr/>
        </p:nvSpPr>
        <p:spPr>
          <a:xfrm>
            <a:off x="7191756" y="2587752"/>
            <a:ext cx="2011680" cy="384048"/>
          </a:xfrm>
          <a:prstGeom prst="rect">
            <a:avLst/>
          </a:prstGeom>
          <a:noFill/>
          <a:ln/>
        </p:spPr>
        <p:txBody>
          <a:bodyPr wrap="square" lIns="0" tIns="0" rIns="0" bIns="0" rtlCol="0" anchor="ctr"/>
          <a:lstStyle/>
          <a:p>
            <a:pPr algn="ctr" indent="0" marL="0">
              <a:buNone/>
            </a:pPr>
            <a:r>
              <a:rPr lang="en-US" sz="1300" dirty="0">
                <a:solidFill>
                  <a:schemeClr val="accent1"/>
                </a:solidFill>
                <a:latin typeface="Consolas" pitchFamily="34" charset="0"/>
                <a:ea typeface="Consolas" pitchFamily="34" charset="-122"/>
                <a:cs typeface="Consolas" pitchFamily="34" charset="-120"/>
              </a:rPr>
              <a:t>db_flood</a:t>
            </a:r>
            <a:endParaRPr lang="en-US" sz="1300" dirty="0"/>
          </a:p>
        </p:txBody>
      </p:sp>
      <p:sp>
        <p:nvSpPr>
          <p:cNvPr id="25" name="Shape 23"/>
          <p:cNvSpPr/>
          <p:nvPr/>
        </p:nvSpPr>
        <p:spPr>
          <a:xfrm>
            <a:off x="9345168" y="2587752"/>
            <a:ext cx="2011680" cy="384048"/>
          </a:xfrm>
          <a:prstGeom prst="roundRect">
            <a:avLst>
              <a:gd name="adj" fmla="val 14286"/>
            </a:avLst>
          </a:prstGeom>
          <a:solidFill>
            <a:schemeClr val="bg1"/>
          </a:solidFill>
          <a:ln w="9525">
            <a:solidFill>
              <a:schemeClr val="accent1"/>
            </a:solidFill>
            <a:prstDash val="solid"/>
          </a:ln>
        </p:spPr>
      </p:sp>
      <p:sp>
        <p:nvSpPr>
          <p:cNvPr id="26" name="Text 24"/>
          <p:cNvSpPr txBox="1"/>
          <p:nvPr/>
        </p:nvSpPr>
        <p:spPr>
          <a:xfrm>
            <a:off x="9345168" y="2587752"/>
            <a:ext cx="2011680" cy="384048"/>
          </a:xfrm>
          <a:prstGeom prst="rect">
            <a:avLst/>
          </a:prstGeom>
          <a:noFill/>
          <a:ln/>
        </p:spPr>
        <p:txBody>
          <a:bodyPr wrap="square" lIns="0" tIns="0" rIns="0" bIns="0" rtlCol="0" anchor="ctr"/>
          <a:lstStyle/>
          <a:p>
            <a:pPr algn="ctr" indent="0" marL="0">
              <a:buNone/>
            </a:pPr>
            <a:r>
              <a:rPr lang="en-US" sz="1300" dirty="0">
                <a:solidFill>
                  <a:schemeClr val="accent1"/>
                </a:solidFill>
                <a:latin typeface="Consolas" pitchFamily="34" charset="0"/>
                <a:ea typeface="Consolas" pitchFamily="34" charset="-122"/>
                <a:cs typeface="Consolas" pitchFamily="34" charset="-120"/>
              </a:rPr>
              <a:t>traffic_spike</a:t>
            </a:r>
            <a:endParaRPr lang="en-US" sz="1300" dirty="0"/>
          </a:p>
        </p:txBody>
      </p:sp>
      <p:sp>
        <p:nvSpPr>
          <p:cNvPr id="27" name="Shape 25"/>
          <p:cNvSpPr/>
          <p:nvPr/>
        </p:nvSpPr>
        <p:spPr>
          <a:xfrm>
            <a:off x="548640" y="3337560"/>
            <a:ext cx="2601468" cy="2606040"/>
          </a:xfrm>
          <a:prstGeom prst="roundRect">
            <a:avLst>
              <a:gd name="adj" fmla="val 2812"/>
            </a:avLst>
          </a:prstGeom>
          <a:solidFill>
            <a:schemeClr val="bg2"/>
          </a:solidFill>
          <a:ln w="9525">
            <a:solidFill>
              <a:schemeClr val="accent6"/>
            </a:solidFill>
            <a:prstDash val="solid"/>
          </a:ln>
        </p:spPr>
      </p:sp>
      <p:sp>
        <p:nvSpPr>
          <p:cNvPr id="28" name="Text 26"/>
          <p:cNvSpPr txBox="1"/>
          <p:nvPr/>
        </p:nvSpPr>
        <p:spPr>
          <a:xfrm>
            <a:off x="731520" y="3447288"/>
            <a:ext cx="2327148" cy="256032"/>
          </a:xfrm>
          <a:prstGeom prst="rect">
            <a:avLst/>
          </a:prstGeom>
          <a:noFill/>
          <a:ln/>
        </p:spPr>
        <p:txBody>
          <a:bodyPr wrap="square" lIns="0" tIns="0" rIns="0" bIns="0" rtlCol="0" anchor="ctr"/>
          <a:lstStyle/>
          <a:p>
            <a:pPr indent="0" marL="0">
              <a:buNone/>
            </a:pPr>
            <a:r>
              <a:rPr lang="en-US" sz="1000" spc="100" kern="0" dirty="0">
                <a:solidFill>
                  <a:schemeClr val="accent5"/>
                </a:solidFill>
                <a:latin typeface="Consolas" pitchFamily="34" charset="0"/>
                <a:ea typeface="Consolas" pitchFamily="34" charset="-122"/>
                <a:cs typeface="Consolas" pitchFamily="34" charset="-120"/>
              </a:rPr>
              <a:t>CHAOS MECHANISMS</a:t>
            </a:r>
            <a:endParaRPr lang="en-US" sz="1000" dirty="0"/>
          </a:p>
        </p:txBody>
      </p:sp>
      <p:sp>
        <p:nvSpPr>
          <p:cNvPr id="29" name="Text 27"/>
          <p:cNvSpPr txBox="1"/>
          <p:nvPr/>
        </p:nvSpPr>
        <p:spPr>
          <a:xfrm>
            <a:off x="731520" y="3794760"/>
            <a:ext cx="2281428" cy="237744"/>
          </a:xfrm>
          <a:prstGeom prst="rect">
            <a:avLst/>
          </a:prstGeom>
          <a:noFill/>
          <a:ln/>
        </p:spPr>
        <p:txBody>
          <a:bodyPr wrap="square" lIns="0" tIns="0" rIns="0" bIns="0" rtlCol="0" anchor="ctr"/>
          <a:lstStyle/>
          <a:p>
            <a:pPr indent="0" marL="0">
              <a:buNone/>
            </a:pPr>
            <a:r>
              <a:rPr lang="en-US" sz="1400" b="1" dirty="0">
                <a:solidFill>
                  <a:schemeClr val="tx1"/>
                </a:solidFill>
              </a:rPr>
              <a:t>Docker Engine</a:t>
            </a:r>
            <a:endParaRPr lang="en-US" sz="1400" dirty="0"/>
          </a:p>
        </p:txBody>
      </p:sp>
      <p:sp>
        <p:nvSpPr>
          <p:cNvPr id="30" name="Text 28"/>
          <p:cNvSpPr txBox="1"/>
          <p:nvPr/>
        </p:nvSpPr>
        <p:spPr>
          <a:xfrm>
            <a:off x="731520" y="4023360"/>
            <a:ext cx="2281428" cy="228600"/>
          </a:xfrm>
          <a:prstGeom prst="rect">
            <a:avLst/>
          </a:prstGeom>
          <a:noFill/>
          <a:ln/>
        </p:spPr>
        <p:txBody>
          <a:bodyPr wrap="square" lIns="0" tIns="0" rIns="0" bIns="0" rtlCol="0" anchor="ctr"/>
          <a:lstStyle/>
          <a:p>
            <a:pPr indent="0" marL="0">
              <a:buNone/>
            </a:pPr>
            <a:r>
              <a:rPr lang="en-US" sz="1100" dirty="0">
                <a:solidFill>
                  <a:schemeClr val="tx2"/>
                </a:solidFill>
              </a:rPr>
              <a:t>kill · pause · stop · disconnect</a:t>
            </a:r>
            <a:endParaRPr lang="en-US" sz="1100" dirty="0"/>
          </a:p>
        </p:txBody>
      </p:sp>
      <p:sp>
        <p:nvSpPr>
          <p:cNvPr id="31" name="Text 29"/>
          <p:cNvSpPr txBox="1"/>
          <p:nvPr/>
        </p:nvSpPr>
        <p:spPr>
          <a:xfrm>
            <a:off x="731520" y="4315968"/>
            <a:ext cx="2281428" cy="237744"/>
          </a:xfrm>
          <a:prstGeom prst="rect">
            <a:avLst/>
          </a:prstGeom>
          <a:noFill/>
          <a:ln/>
        </p:spPr>
        <p:txBody>
          <a:bodyPr wrap="square" lIns="0" tIns="0" rIns="0" bIns="0" rtlCol="0" anchor="ctr"/>
          <a:lstStyle/>
          <a:p>
            <a:pPr indent="0" marL="0">
              <a:buNone/>
            </a:pPr>
            <a:r>
              <a:rPr lang="en-US" sz="1400" b="1" dirty="0">
                <a:solidFill>
                  <a:schemeClr val="tx1"/>
                </a:solidFill>
              </a:rPr>
              <a:t>Pumba + tc netem</a:t>
            </a:r>
            <a:endParaRPr lang="en-US" sz="1400" dirty="0"/>
          </a:p>
        </p:txBody>
      </p:sp>
      <p:sp>
        <p:nvSpPr>
          <p:cNvPr id="32" name="Text 30"/>
          <p:cNvSpPr txBox="1"/>
          <p:nvPr/>
        </p:nvSpPr>
        <p:spPr>
          <a:xfrm>
            <a:off x="731520" y="4544568"/>
            <a:ext cx="2281428" cy="228600"/>
          </a:xfrm>
          <a:prstGeom prst="rect">
            <a:avLst/>
          </a:prstGeom>
          <a:noFill/>
          <a:ln/>
        </p:spPr>
        <p:txBody>
          <a:bodyPr wrap="square" lIns="0" tIns="0" rIns="0" bIns="0" rtlCol="0" anchor="ctr"/>
          <a:lstStyle/>
          <a:p>
            <a:pPr indent="0" marL="0">
              <a:buNone/>
            </a:pPr>
            <a:r>
              <a:rPr lang="en-US" sz="1100" dirty="0">
                <a:solidFill>
                  <a:schemeClr val="tx2"/>
                </a:solidFill>
              </a:rPr>
              <a:t>delay &amp; loss as a sidecar</a:t>
            </a:r>
            <a:endParaRPr lang="en-US" sz="1100" dirty="0"/>
          </a:p>
        </p:txBody>
      </p:sp>
      <p:sp>
        <p:nvSpPr>
          <p:cNvPr id="33" name="Text 31"/>
          <p:cNvSpPr txBox="1"/>
          <p:nvPr/>
        </p:nvSpPr>
        <p:spPr>
          <a:xfrm>
            <a:off x="731520" y="4837176"/>
            <a:ext cx="2281428" cy="237744"/>
          </a:xfrm>
          <a:prstGeom prst="rect">
            <a:avLst/>
          </a:prstGeom>
          <a:noFill/>
          <a:ln/>
        </p:spPr>
        <p:txBody>
          <a:bodyPr wrap="square" lIns="0" tIns="0" rIns="0" bIns="0" rtlCol="0" anchor="ctr"/>
          <a:lstStyle/>
          <a:p>
            <a:pPr indent="0" marL="0">
              <a:buNone/>
            </a:pPr>
            <a:r>
              <a:rPr lang="en-US" sz="1400" b="1" dirty="0">
                <a:solidFill>
                  <a:schemeClr val="tx1"/>
                </a:solidFill>
              </a:rPr>
              <a:t>In-container</a:t>
            </a:r>
            <a:endParaRPr lang="en-US" sz="1400" dirty="0"/>
          </a:p>
        </p:txBody>
      </p:sp>
      <p:sp>
        <p:nvSpPr>
          <p:cNvPr id="34" name="Text 32"/>
          <p:cNvSpPr txBox="1"/>
          <p:nvPr/>
        </p:nvSpPr>
        <p:spPr>
          <a:xfrm>
            <a:off x="731520" y="5065776"/>
            <a:ext cx="2281428" cy="228600"/>
          </a:xfrm>
          <a:prstGeom prst="rect">
            <a:avLst/>
          </a:prstGeom>
          <a:noFill/>
          <a:ln/>
        </p:spPr>
        <p:txBody>
          <a:bodyPr wrap="square" lIns="0" tIns="0" rIns="0" bIns="0" rtlCol="0" anchor="ctr"/>
          <a:lstStyle/>
          <a:p>
            <a:pPr indent="0" marL="0">
              <a:buNone/>
            </a:pPr>
            <a:r>
              <a:rPr lang="en-US" sz="1100" dirty="0">
                <a:solidFill>
                  <a:schemeClr val="tx2"/>
                </a:solidFill>
              </a:rPr>
              <a:t>fallocate · CPU · mongosh flood</a:t>
            </a:r>
            <a:endParaRPr lang="en-US" sz="1100" dirty="0"/>
          </a:p>
        </p:txBody>
      </p:sp>
      <p:sp>
        <p:nvSpPr>
          <p:cNvPr id="35" name="Text 33"/>
          <p:cNvSpPr txBox="1"/>
          <p:nvPr/>
        </p:nvSpPr>
        <p:spPr>
          <a:xfrm>
            <a:off x="731520" y="5358384"/>
            <a:ext cx="2281428" cy="237744"/>
          </a:xfrm>
          <a:prstGeom prst="rect">
            <a:avLst/>
          </a:prstGeom>
          <a:noFill/>
          <a:ln/>
        </p:spPr>
        <p:txBody>
          <a:bodyPr wrap="square" lIns="0" tIns="0" rIns="0" bIns="0" rtlCol="0" anchor="ctr"/>
          <a:lstStyle/>
          <a:p>
            <a:pPr indent="0" marL="0">
              <a:buNone/>
            </a:pPr>
            <a:r>
              <a:rPr lang="en-US" sz="1400" b="1" dirty="0">
                <a:solidFill>
                  <a:schemeClr val="tx1"/>
                </a:solidFill>
              </a:rPr>
              <a:t>Host-side burst</a:t>
            </a:r>
            <a:endParaRPr lang="en-US" sz="1400" dirty="0"/>
          </a:p>
        </p:txBody>
      </p:sp>
      <p:sp>
        <p:nvSpPr>
          <p:cNvPr id="36" name="Text 34"/>
          <p:cNvSpPr txBox="1"/>
          <p:nvPr/>
        </p:nvSpPr>
        <p:spPr>
          <a:xfrm>
            <a:off x="731520" y="5586984"/>
            <a:ext cx="2281428" cy="228600"/>
          </a:xfrm>
          <a:prstGeom prst="rect">
            <a:avLst/>
          </a:prstGeom>
          <a:noFill/>
          <a:ln/>
        </p:spPr>
        <p:txBody>
          <a:bodyPr wrap="square" lIns="0" tIns="0" rIns="0" bIns="0" rtlCol="0" anchor="ctr"/>
          <a:lstStyle/>
          <a:p>
            <a:pPr indent="0" marL="0">
              <a:buNone/>
            </a:pPr>
            <a:r>
              <a:rPr lang="en-US" sz="1100" dirty="0">
                <a:solidFill>
                  <a:schemeClr val="tx2"/>
                </a:solidFill>
              </a:rPr>
              <a:t>request spike through nginx</a:t>
            </a:r>
            <a:endParaRPr lang="en-US" sz="1100" dirty="0"/>
          </a:p>
        </p:txBody>
      </p:sp>
      <p:sp>
        <p:nvSpPr>
          <p:cNvPr id="37" name="Shape 35"/>
          <p:cNvSpPr/>
          <p:nvPr/>
        </p:nvSpPr>
        <p:spPr>
          <a:xfrm>
            <a:off x="3378708" y="3337560"/>
            <a:ext cx="2601468" cy="2606040"/>
          </a:xfrm>
          <a:prstGeom prst="roundRect">
            <a:avLst>
              <a:gd name="adj" fmla="val 2812"/>
            </a:avLst>
          </a:prstGeom>
          <a:solidFill>
            <a:schemeClr val="bg2"/>
          </a:solidFill>
          <a:ln w="9525">
            <a:solidFill>
              <a:schemeClr val="accent6"/>
            </a:solidFill>
            <a:prstDash val="solid"/>
          </a:ln>
        </p:spPr>
      </p:sp>
      <p:sp>
        <p:nvSpPr>
          <p:cNvPr id="38" name="Text 36"/>
          <p:cNvSpPr txBox="1"/>
          <p:nvPr/>
        </p:nvSpPr>
        <p:spPr>
          <a:xfrm>
            <a:off x="3561588" y="3447288"/>
            <a:ext cx="2327148" cy="256032"/>
          </a:xfrm>
          <a:prstGeom prst="rect">
            <a:avLst/>
          </a:prstGeom>
          <a:noFill/>
          <a:ln/>
        </p:spPr>
        <p:txBody>
          <a:bodyPr wrap="square" lIns="0" tIns="0" rIns="0" bIns="0" rtlCol="0" anchor="ctr"/>
          <a:lstStyle/>
          <a:p>
            <a:pPr indent="0" marL="0">
              <a:buNone/>
            </a:pPr>
            <a:r>
              <a:rPr lang="en-US" sz="1000" spc="100" kern="0" dirty="0">
                <a:solidFill>
                  <a:schemeClr val="accent5"/>
                </a:solidFill>
                <a:latin typeface="Consolas" pitchFamily="34" charset="0"/>
                <a:ea typeface="Consolas" pitchFamily="34" charset="-122"/>
                <a:cs typeface="Consolas" pitchFamily="34" charset="-120"/>
              </a:rPr>
              <a:t>PLUGGABLE LLM</a:t>
            </a:r>
            <a:endParaRPr lang="en-US" sz="1000" dirty="0"/>
          </a:p>
        </p:txBody>
      </p:sp>
      <p:sp>
        <p:nvSpPr>
          <p:cNvPr id="39" name="Text 37"/>
          <p:cNvSpPr txBox="1"/>
          <p:nvPr/>
        </p:nvSpPr>
        <p:spPr>
          <a:xfrm>
            <a:off x="3561588" y="3794760"/>
            <a:ext cx="2281428" cy="237744"/>
          </a:xfrm>
          <a:prstGeom prst="rect">
            <a:avLst/>
          </a:prstGeom>
          <a:noFill/>
          <a:ln/>
        </p:spPr>
        <p:txBody>
          <a:bodyPr wrap="square" lIns="0" tIns="0" rIns="0" bIns="0" rtlCol="0" anchor="ctr"/>
          <a:lstStyle/>
          <a:p>
            <a:pPr indent="0" marL="0">
              <a:buNone/>
            </a:pPr>
            <a:r>
              <a:rPr lang="en-US" sz="1400" b="1" dirty="0">
                <a:solidFill>
                  <a:schemeClr val="tx1"/>
                </a:solidFill>
              </a:rPr>
              <a:t>Ollama</a:t>
            </a:r>
            <a:endParaRPr lang="en-US" sz="1400" dirty="0"/>
          </a:p>
        </p:txBody>
      </p:sp>
      <p:sp>
        <p:nvSpPr>
          <p:cNvPr id="40" name="Text 38"/>
          <p:cNvSpPr txBox="1"/>
          <p:nvPr/>
        </p:nvSpPr>
        <p:spPr>
          <a:xfrm>
            <a:off x="3561588" y="4023360"/>
            <a:ext cx="2281428" cy="228600"/>
          </a:xfrm>
          <a:prstGeom prst="rect">
            <a:avLst/>
          </a:prstGeom>
          <a:noFill/>
          <a:ln/>
        </p:spPr>
        <p:txBody>
          <a:bodyPr wrap="square" lIns="0" tIns="0" rIns="0" bIns="0" rtlCol="0" anchor="ctr"/>
          <a:lstStyle/>
          <a:p>
            <a:pPr indent="0" marL="0">
              <a:buNone/>
            </a:pPr>
            <a:r>
              <a:rPr lang="en-US" sz="1100" dirty="0">
                <a:solidFill>
                  <a:schemeClr val="tx2"/>
                </a:solidFill>
              </a:rPr>
              <a:t>phi4-mini, local, offline</a:t>
            </a:r>
            <a:endParaRPr lang="en-US" sz="1100" dirty="0"/>
          </a:p>
        </p:txBody>
      </p:sp>
      <p:sp>
        <p:nvSpPr>
          <p:cNvPr id="41" name="Text 39"/>
          <p:cNvSpPr txBox="1"/>
          <p:nvPr/>
        </p:nvSpPr>
        <p:spPr>
          <a:xfrm>
            <a:off x="3561588" y="4315968"/>
            <a:ext cx="2281428" cy="237744"/>
          </a:xfrm>
          <a:prstGeom prst="rect">
            <a:avLst/>
          </a:prstGeom>
          <a:noFill/>
          <a:ln/>
        </p:spPr>
        <p:txBody>
          <a:bodyPr wrap="square" lIns="0" tIns="0" rIns="0" bIns="0" rtlCol="0" anchor="ctr"/>
          <a:lstStyle/>
          <a:p>
            <a:pPr indent="0" marL="0">
              <a:buNone/>
            </a:pPr>
            <a:r>
              <a:rPr lang="en-US" sz="1400" b="1" dirty="0">
                <a:solidFill>
                  <a:schemeClr val="tx1"/>
                </a:solidFill>
              </a:rPr>
              <a:t>OpenAI-compatible</a:t>
            </a:r>
            <a:endParaRPr lang="en-US" sz="1400" dirty="0"/>
          </a:p>
        </p:txBody>
      </p:sp>
      <p:sp>
        <p:nvSpPr>
          <p:cNvPr id="42" name="Text 40"/>
          <p:cNvSpPr txBox="1"/>
          <p:nvPr/>
        </p:nvSpPr>
        <p:spPr>
          <a:xfrm>
            <a:off x="3561588" y="4544568"/>
            <a:ext cx="2281428" cy="228600"/>
          </a:xfrm>
          <a:prstGeom prst="rect">
            <a:avLst/>
          </a:prstGeom>
          <a:noFill/>
          <a:ln/>
        </p:spPr>
        <p:txBody>
          <a:bodyPr wrap="square" lIns="0" tIns="0" rIns="0" bIns="0" rtlCol="0" anchor="ctr"/>
          <a:lstStyle/>
          <a:p>
            <a:pPr indent="0" marL="0">
              <a:buNone/>
            </a:pPr>
            <a:r>
              <a:rPr lang="en-US" sz="1100" dirty="0">
                <a:solidFill>
                  <a:schemeClr val="tx2"/>
                </a:solidFill>
              </a:rPr>
              <a:t>e.g. Llama 3.3 70B via Groq</a:t>
            </a:r>
            <a:endParaRPr lang="en-US" sz="1100" dirty="0"/>
          </a:p>
        </p:txBody>
      </p:sp>
      <p:sp>
        <p:nvSpPr>
          <p:cNvPr id="43" name="Text 41"/>
          <p:cNvSpPr txBox="1"/>
          <p:nvPr/>
        </p:nvSpPr>
        <p:spPr>
          <a:xfrm>
            <a:off x="3561588" y="4837176"/>
            <a:ext cx="2281428" cy="237744"/>
          </a:xfrm>
          <a:prstGeom prst="rect">
            <a:avLst/>
          </a:prstGeom>
          <a:noFill/>
          <a:ln/>
        </p:spPr>
        <p:txBody>
          <a:bodyPr wrap="square" lIns="0" tIns="0" rIns="0" bIns="0" rtlCol="0" anchor="ctr"/>
          <a:lstStyle/>
          <a:p>
            <a:pPr indent="0" marL="0">
              <a:buNone/>
            </a:pPr>
            <a:r>
              <a:rPr lang="en-US" sz="1400" b="1" dirty="0">
                <a:solidFill>
                  <a:schemeClr val="tx1"/>
                </a:solidFill>
              </a:rPr>
              <a:t>Anthropic</a:t>
            </a:r>
            <a:endParaRPr lang="en-US" sz="1400" dirty="0"/>
          </a:p>
        </p:txBody>
      </p:sp>
      <p:sp>
        <p:nvSpPr>
          <p:cNvPr id="44" name="Text 42"/>
          <p:cNvSpPr txBox="1"/>
          <p:nvPr/>
        </p:nvSpPr>
        <p:spPr>
          <a:xfrm>
            <a:off x="3561588" y="5065776"/>
            <a:ext cx="2281428" cy="228600"/>
          </a:xfrm>
          <a:prstGeom prst="rect">
            <a:avLst/>
          </a:prstGeom>
          <a:noFill/>
          <a:ln/>
        </p:spPr>
        <p:txBody>
          <a:bodyPr wrap="square" lIns="0" tIns="0" rIns="0" bIns="0" rtlCol="0" anchor="ctr"/>
          <a:lstStyle/>
          <a:p>
            <a:pPr indent="0" marL="0">
              <a:buNone/>
            </a:pPr>
            <a:r>
              <a:rPr lang="en-US" sz="1100" dirty="0">
                <a:solidFill>
                  <a:schemeClr val="tx2"/>
                </a:solidFill>
              </a:rPr>
              <a:t>Messages API</a:t>
            </a:r>
            <a:endParaRPr lang="en-US" sz="1100" dirty="0"/>
          </a:p>
        </p:txBody>
      </p:sp>
      <p:sp>
        <p:nvSpPr>
          <p:cNvPr id="45" name="Text 43"/>
          <p:cNvSpPr txBox="1"/>
          <p:nvPr/>
        </p:nvSpPr>
        <p:spPr>
          <a:xfrm>
            <a:off x="3561588" y="5358384"/>
            <a:ext cx="2281428" cy="237744"/>
          </a:xfrm>
          <a:prstGeom prst="rect">
            <a:avLst/>
          </a:prstGeom>
          <a:noFill/>
          <a:ln/>
        </p:spPr>
        <p:txBody>
          <a:bodyPr wrap="square" lIns="0" tIns="0" rIns="0" bIns="0" rtlCol="0" anchor="ctr"/>
          <a:lstStyle/>
          <a:p>
            <a:pPr indent="0" marL="0">
              <a:buNone/>
            </a:pPr>
            <a:r>
              <a:rPr lang="en-US" sz="1400" b="1" dirty="0">
                <a:solidFill>
                  <a:schemeClr val="accent2"/>
                </a:solidFill>
              </a:rPr>
              <a:t>No model at all</a:t>
            </a:r>
            <a:endParaRPr lang="en-US" sz="1400" dirty="0"/>
          </a:p>
        </p:txBody>
      </p:sp>
      <p:sp>
        <p:nvSpPr>
          <p:cNvPr id="46" name="Text 44"/>
          <p:cNvSpPr txBox="1"/>
          <p:nvPr/>
        </p:nvSpPr>
        <p:spPr>
          <a:xfrm>
            <a:off x="3561588" y="5586984"/>
            <a:ext cx="2281428" cy="228600"/>
          </a:xfrm>
          <a:prstGeom prst="rect">
            <a:avLst/>
          </a:prstGeom>
          <a:noFill/>
          <a:ln/>
        </p:spPr>
        <p:txBody>
          <a:bodyPr wrap="square" lIns="0" tIns="0" rIns="0" bIns="0" rtlCol="0" anchor="ctr"/>
          <a:lstStyle/>
          <a:p>
            <a:pPr indent="0" marL="0">
              <a:buNone/>
            </a:pPr>
            <a:r>
              <a:rPr lang="en-US" sz="1100" dirty="0">
                <a:solidFill>
                  <a:schemeClr val="tx2"/>
                </a:solidFill>
              </a:rPr>
              <a:t>deterministic fallback · --no-llm</a:t>
            </a:r>
            <a:endParaRPr lang="en-US" sz="1100" dirty="0"/>
          </a:p>
        </p:txBody>
      </p:sp>
      <p:sp>
        <p:nvSpPr>
          <p:cNvPr id="47" name="Shape 45"/>
          <p:cNvSpPr/>
          <p:nvPr/>
        </p:nvSpPr>
        <p:spPr>
          <a:xfrm>
            <a:off x="6208776" y="3337560"/>
            <a:ext cx="2601468" cy="2606040"/>
          </a:xfrm>
          <a:prstGeom prst="roundRect">
            <a:avLst>
              <a:gd name="adj" fmla="val 2812"/>
            </a:avLst>
          </a:prstGeom>
          <a:solidFill>
            <a:schemeClr val="bg2"/>
          </a:solidFill>
          <a:ln w="9525">
            <a:solidFill>
              <a:schemeClr val="accent6"/>
            </a:solidFill>
            <a:prstDash val="solid"/>
          </a:ln>
        </p:spPr>
      </p:sp>
      <p:sp>
        <p:nvSpPr>
          <p:cNvPr id="48" name="Text 46"/>
          <p:cNvSpPr txBox="1"/>
          <p:nvPr/>
        </p:nvSpPr>
        <p:spPr>
          <a:xfrm>
            <a:off x="6391656" y="3447288"/>
            <a:ext cx="2327148" cy="256032"/>
          </a:xfrm>
          <a:prstGeom prst="rect">
            <a:avLst/>
          </a:prstGeom>
          <a:noFill/>
          <a:ln/>
        </p:spPr>
        <p:txBody>
          <a:bodyPr wrap="square" lIns="0" tIns="0" rIns="0" bIns="0" rtlCol="0" anchor="ctr"/>
          <a:lstStyle/>
          <a:p>
            <a:pPr indent="0" marL="0">
              <a:buNone/>
            </a:pPr>
            <a:r>
              <a:rPr lang="en-US" sz="1000" spc="100" kern="0" dirty="0">
                <a:solidFill>
                  <a:schemeClr val="accent5"/>
                </a:solidFill>
                <a:latin typeface="Consolas" pitchFamily="34" charset="0"/>
                <a:ea typeface="Consolas" pitchFamily="34" charset="-122"/>
                <a:cs typeface="Consolas" pitchFamily="34" charset="-120"/>
              </a:rPr>
              <a:t>TWO INTERFACES, ONE ENGINE</a:t>
            </a:r>
            <a:endParaRPr lang="en-US" sz="1000" dirty="0"/>
          </a:p>
        </p:txBody>
      </p:sp>
      <p:sp>
        <p:nvSpPr>
          <p:cNvPr id="49" name="Text 47"/>
          <p:cNvSpPr txBox="1"/>
          <p:nvPr/>
        </p:nvSpPr>
        <p:spPr>
          <a:xfrm>
            <a:off x="6391656" y="3794760"/>
            <a:ext cx="2281428" cy="237744"/>
          </a:xfrm>
          <a:prstGeom prst="rect">
            <a:avLst/>
          </a:prstGeom>
          <a:noFill/>
          <a:ln/>
        </p:spPr>
        <p:txBody>
          <a:bodyPr wrap="square" lIns="0" tIns="0" rIns="0" bIns="0" rtlCol="0" anchor="ctr"/>
          <a:lstStyle/>
          <a:p>
            <a:pPr indent="0" marL="0">
              <a:buNone/>
            </a:pPr>
            <a:r>
              <a:rPr lang="en-US" sz="1400" b="1" dirty="0">
                <a:solidFill>
                  <a:schemeClr val="tx1"/>
                </a:solidFill>
              </a:rPr>
              <a:t>CLI</a:t>
            </a:r>
            <a:endParaRPr lang="en-US" sz="1400" dirty="0"/>
          </a:p>
        </p:txBody>
      </p:sp>
      <p:sp>
        <p:nvSpPr>
          <p:cNvPr id="50" name="Text 48"/>
          <p:cNvSpPr txBox="1"/>
          <p:nvPr/>
        </p:nvSpPr>
        <p:spPr>
          <a:xfrm>
            <a:off x="6391656" y="4023360"/>
            <a:ext cx="2281428" cy="228600"/>
          </a:xfrm>
          <a:prstGeom prst="rect">
            <a:avLst/>
          </a:prstGeom>
          <a:noFill/>
          <a:ln/>
        </p:spPr>
        <p:txBody>
          <a:bodyPr wrap="square" lIns="0" tIns="0" rIns="0" bIns="0" rtlCol="0" anchor="ctr"/>
          <a:lstStyle/>
          <a:p>
            <a:pPr indent="0" marL="0">
              <a:buNone/>
            </a:pPr>
            <a:r>
              <a:rPr lang="en-US" sz="1100" dirty="0">
                <a:solidFill>
                  <a:schemeClr val="tx2"/>
                </a:solidFill>
              </a:rPr>
              <a:t>faultline topology … demo</a:t>
            </a:r>
            <a:endParaRPr lang="en-US" sz="1100" dirty="0"/>
          </a:p>
        </p:txBody>
      </p:sp>
      <p:sp>
        <p:nvSpPr>
          <p:cNvPr id="51" name="Text 49"/>
          <p:cNvSpPr txBox="1"/>
          <p:nvPr/>
        </p:nvSpPr>
        <p:spPr>
          <a:xfrm>
            <a:off x="6391656" y="4315968"/>
            <a:ext cx="2281428" cy="237744"/>
          </a:xfrm>
          <a:prstGeom prst="rect">
            <a:avLst/>
          </a:prstGeom>
          <a:noFill/>
          <a:ln/>
        </p:spPr>
        <p:txBody>
          <a:bodyPr wrap="square" lIns="0" tIns="0" rIns="0" bIns="0" rtlCol="0" anchor="ctr"/>
          <a:lstStyle/>
          <a:p>
            <a:pPr indent="0" marL="0">
              <a:buNone/>
            </a:pPr>
            <a:r>
              <a:rPr lang="en-US" sz="1400" b="1" dirty="0">
                <a:solidFill>
                  <a:schemeClr val="tx1"/>
                </a:solidFill>
              </a:rPr>
              <a:t>Control room :8765</a:t>
            </a:r>
            <a:endParaRPr lang="en-US" sz="1400" dirty="0"/>
          </a:p>
        </p:txBody>
      </p:sp>
      <p:sp>
        <p:nvSpPr>
          <p:cNvPr id="52" name="Text 50"/>
          <p:cNvSpPr txBox="1"/>
          <p:nvPr/>
        </p:nvSpPr>
        <p:spPr>
          <a:xfrm>
            <a:off x="6391656" y="4544568"/>
            <a:ext cx="2281428" cy="228600"/>
          </a:xfrm>
          <a:prstGeom prst="rect">
            <a:avLst/>
          </a:prstGeom>
          <a:noFill/>
          <a:ln/>
        </p:spPr>
        <p:txBody>
          <a:bodyPr wrap="square" lIns="0" tIns="0" rIns="0" bIns="0" rtlCol="0" anchor="ctr"/>
          <a:lstStyle/>
          <a:p>
            <a:pPr indent="0" marL="0">
              <a:buNone/>
            </a:pPr>
            <a:r>
              <a:rPr lang="en-US" sz="1100" dirty="0">
                <a:solidFill>
                  <a:schemeClr val="tx2"/>
                </a:solidFill>
              </a:rPr>
              <a:t>every button is a CLI command</a:t>
            </a:r>
            <a:endParaRPr lang="en-US" sz="1100" dirty="0"/>
          </a:p>
        </p:txBody>
      </p:sp>
      <p:sp>
        <p:nvSpPr>
          <p:cNvPr id="53" name="Text 51"/>
          <p:cNvSpPr txBox="1"/>
          <p:nvPr/>
        </p:nvSpPr>
        <p:spPr>
          <a:xfrm>
            <a:off x="6391656" y="4837176"/>
            <a:ext cx="2281428" cy="237744"/>
          </a:xfrm>
          <a:prstGeom prst="rect">
            <a:avLst/>
          </a:prstGeom>
          <a:noFill/>
          <a:ln/>
        </p:spPr>
        <p:txBody>
          <a:bodyPr wrap="square" lIns="0" tIns="0" rIns="0" bIns="0" rtlCol="0" anchor="ctr"/>
          <a:lstStyle/>
          <a:p>
            <a:pPr indent="0" marL="0">
              <a:buNone/>
            </a:pPr>
            <a:r>
              <a:rPr lang="en-US" sz="1400" b="1" dirty="0">
                <a:solidFill>
                  <a:schemeClr val="tx1"/>
                </a:solidFill>
              </a:rPr>
              <a:t>Same blackboard</a:t>
            </a:r>
            <a:endParaRPr lang="en-US" sz="1400" dirty="0"/>
          </a:p>
        </p:txBody>
      </p:sp>
      <p:sp>
        <p:nvSpPr>
          <p:cNvPr id="54" name="Text 52"/>
          <p:cNvSpPr txBox="1"/>
          <p:nvPr/>
        </p:nvSpPr>
        <p:spPr>
          <a:xfrm>
            <a:off x="6391656" y="5065776"/>
            <a:ext cx="2281428" cy="228600"/>
          </a:xfrm>
          <a:prstGeom prst="rect">
            <a:avLst/>
          </a:prstGeom>
          <a:noFill/>
          <a:ln/>
        </p:spPr>
        <p:txBody>
          <a:bodyPr wrap="square" lIns="0" tIns="0" rIns="0" bIns="0" rtlCol="0" anchor="ctr"/>
          <a:lstStyle/>
          <a:p>
            <a:pPr indent="0" marL="0">
              <a:buNone/>
            </a:pPr>
            <a:r>
              <a:rPr lang="en-US" sz="1100" dirty="0">
                <a:solidFill>
                  <a:schemeClr val="tx2"/>
                </a:solidFill>
              </a:rPr>
              <a:t>both write the same reports/</a:t>
            </a:r>
            <a:endParaRPr lang="en-US" sz="1100" dirty="0"/>
          </a:p>
        </p:txBody>
      </p:sp>
      <p:sp>
        <p:nvSpPr>
          <p:cNvPr id="55" name="Text 53"/>
          <p:cNvSpPr txBox="1"/>
          <p:nvPr/>
        </p:nvSpPr>
        <p:spPr>
          <a:xfrm>
            <a:off x="6391656" y="5358384"/>
            <a:ext cx="2281428" cy="237744"/>
          </a:xfrm>
          <a:prstGeom prst="rect">
            <a:avLst/>
          </a:prstGeom>
          <a:noFill/>
          <a:ln/>
        </p:spPr>
        <p:txBody>
          <a:bodyPr wrap="square" lIns="0" tIns="0" rIns="0" bIns="0" rtlCol="0" anchor="ctr"/>
          <a:lstStyle/>
          <a:p>
            <a:pPr indent="0" marL="0">
              <a:buNone/>
            </a:pPr>
            <a:r>
              <a:rPr lang="en-US" sz="1400" b="1" dirty="0">
                <a:solidFill>
                  <a:schemeClr val="accent4"/>
                </a:solidFill>
              </a:rPr>
              <a:t>Kill switch</a:t>
            </a:r>
            <a:endParaRPr lang="en-US" sz="1400" dirty="0"/>
          </a:p>
        </p:txBody>
      </p:sp>
      <p:sp>
        <p:nvSpPr>
          <p:cNvPr id="56" name="Text 54"/>
          <p:cNvSpPr txBox="1"/>
          <p:nvPr/>
        </p:nvSpPr>
        <p:spPr>
          <a:xfrm>
            <a:off x="6391656" y="5586984"/>
            <a:ext cx="2281428" cy="228600"/>
          </a:xfrm>
          <a:prstGeom prst="rect">
            <a:avLst/>
          </a:prstGeom>
          <a:noFill/>
          <a:ln/>
        </p:spPr>
        <p:txBody>
          <a:bodyPr wrap="square" lIns="0" tIns="0" rIns="0" bIns="0" rtlCol="0" anchor="ctr"/>
          <a:lstStyle/>
          <a:p>
            <a:pPr indent="0" marL="0">
              <a:buNone/>
            </a:pPr>
            <a:r>
              <a:rPr lang="en-US" sz="1100" dirty="0">
                <a:solidFill>
                  <a:schemeClr val="tx2"/>
                </a:solidFill>
              </a:rPr>
              <a:t>STOP button · Esc · CLI</a:t>
            </a:r>
            <a:endParaRPr lang="en-US" sz="1100" dirty="0"/>
          </a:p>
        </p:txBody>
      </p:sp>
      <p:sp>
        <p:nvSpPr>
          <p:cNvPr id="57" name="Shape 55"/>
          <p:cNvSpPr/>
          <p:nvPr/>
        </p:nvSpPr>
        <p:spPr>
          <a:xfrm>
            <a:off x="9038844" y="3337560"/>
            <a:ext cx="2601468" cy="2606040"/>
          </a:xfrm>
          <a:prstGeom prst="roundRect">
            <a:avLst>
              <a:gd name="adj" fmla="val 2812"/>
            </a:avLst>
          </a:prstGeom>
          <a:solidFill>
            <a:schemeClr val="bg2"/>
          </a:solidFill>
          <a:ln w="9525">
            <a:solidFill>
              <a:schemeClr val="accent6"/>
            </a:solidFill>
            <a:prstDash val="solid"/>
          </a:ln>
        </p:spPr>
      </p:sp>
      <p:sp>
        <p:nvSpPr>
          <p:cNvPr id="58" name="Text 56"/>
          <p:cNvSpPr txBox="1"/>
          <p:nvPr/>
        </p:nvSpPr>
        <p:spPr>
          <a:xfrm>
            <a:off x="9221724" y="3447288"/>
            <a:ext cx="2327148" cy="256032"/>
          </a:xfrm>
          <a:prstGeom prst="rect">
            <a:avLst/>
          </a:prstGeom>
          <a:noFill/>
          <a:ln/>
        </p:spPr>
        <p:txBody>
          <a:bodyPr wrap="square" lIns="0" tIns="0" rIns="0" bIns="0" rtlCol="0" anchor="ctr"/>
          <a:lstStyle/>
          <a:p>
            <a:pPr indent="0" marL="0">
              <a:buNone/>
            </a:pPr>
            <a:r>
              <a:rPr lang="en-US" sz="1000" spc="100" kern="0" dirty="0">
                <a:solidFill>
                  <a:schemeClr val="accent5"/>
                </a:solidFill>
                <a:latin typeface="Consolas" pitchFamily="34" charset="0"/>
                <a:ea typeface="Consolas" pitchFamily="34" charset="-122"/>
                <a:cs typeface="Consolas" pitchFamily="34" charset="-120"/>
              </a:rPr>
              <a:t>OBSERVABILITY</a:t>
            </a:r>
            <a:endParaRPr lang="en-US" sz="1000" dirty="0"/>
          </a:p>
        </p:txBody>
      </p:sp>
      <p:sp>
        <p:nvSpPr>
          <p:cNvPr id="59" name="Text 57"/>
          <p:cNvSpPr txBox="1"/>
          <p:nvPr/>
        </p:nvSpPr>
        <p:spPr>
          <a:xfrm>
            <a:off x="9221724" y="3794760"/>
            <a:ext cx="2281428" cy="237744"/>
          </a:xfrm>
          <a:prstGeom prst="rect">
            <a:avLst/>
          </a:prstGeom>
          <a:noFill/>
          <a:ln/>
        </p:spPr>
        <p:txBody>
          <a:bodyPr wrap="square" lIns="0" tIns="0" rIns="0" bIns="0" rtlCol="0" anchor="ctr"/>
          <a:lstStyle/>
          <a:p>
            <a:pPr indent="0" marL="0">
              <a:buNone/>
            </a:pPr>
            <a:r>
              <a:rPr lang="en-US" sz="1400" b="1" dirty="0">
                <a:solidFill>
                  <a:schemeClr val="tx1"/>
                </a:solidFill>
              </a:rPr>
              <a:t>Prometheus 2.55</a:t>
            </a:r>
            <a:endParaRPr lang="en-US" sz="1400" dirty="0"/>
          </a:p>
        </p:txBody>
      </p:sp>
      <p:sp>
        <p:nvSpPr>
          <p:cNvPr id="60" name="Text 58"/>
          <p:cNvSpPr txBox="1"/>
          <p:nvPr/>
        </p:nvSpPr>
        <p:spPr>
          <a:xfrm>
            <a:off x="9221724" y="4023360"/>
            <a:ext cx="2281428" cy="228600"/>
          </a:xfrm>
          <a:prstGeom prst="rect">
            <a:avLst/>
          </a:prstGeom>
          <a:noFill/>
          <a:ln/>
        </p:spPr>
        <p:txBody>
          <a:bodyPr wrap="square" lIns="0" tIns="0" rIns="0" bIns="0" rtlCol="0" anchor="ctr"/>
          <a:lstStyle/>
          <a:p>
            <a:pPr indent="0" marL="0">
              <a:buNone/>
            </a:pPr>
            <a:r>
              <a:rPr lang="en-US" sz="1100" dirty="0">
                <a:solidFill>
                  <a:schemeClr val="tx2"/>
                </a:solidFill>
              </a:rPr>
              <a:t>5 s scrape interval</a:t>
            </a:r>
            <a:endParaRPr lang="en-US" sz="1100" dirty="0"/>
          </a:p>
        </p:txBody>
      </p:sp>
      <p:sp>
        <p:nvSpPr>
          <p:cNvPr id="61" name="Text 59"/>
          <p:cNvSpPr txBox="1"/>
          <p:nvPr/>
        </p:nvSpPr>
        <p:spPr>
          <a:xfrm>
            <a:off x="9221724" y="4315968"/>
            <a:ext cx="2281428" cy="237744"/>
          </a:xfrm>
          <a:prstGeom prst="rect">
            <a:avLst/>
          </a:prstGeom>
          <a:noFill/>
          <a:ln/>
        </p:spPr>
        <p:txBody>
          <a:bodyPr wrap="square" lIns="0" tIns="0" rIns="0" bIns="0" rtlCol="0" anchor="ctr"/>
          <a:lstStyle/>
          <a:p>
            <a:pPr indent="0" marL="0">
              <a:buNone/>
            </a:pPr>
            <a:r>
              <a:rPr lang="en-US" sz="1400" b="1" dirty="0">
                <a:solidFill>
                  <a:schemeClr val="tx1"/>
                </a:solidFill>
              </a:rPr>
              <a:t>cAdvisor</a:t>
            </a:r>
            <a:endParaRPr lang="en-US" sz="1400" dirty="0"/>
          </a:p>
        </p:txBody>
      </p:sp>
      <p:sp>
        <p:nvSpPr>
          <p:cNvPr id="62" name="Text 60"/>
          <p:cNvSpPr txBox="1"/>
          <p:nvPr/>
        </p:nvSpPr>
        <p:spPr>
          <a:xfrm>
            <a:off x="9221724" y="4544568"/>
            <a:ext cx="2281428" cy="228600"/>
          </a:xfrm>
          <a:prstGeom prst="rect">
            <a:avLst/>
          </a:prstGeom>
          <a:noFill/>
          <a:ln/>
        </p:spPr>
        <p:txBody>
          <a:bodyPr wrap="square" lIns="0" tIns="0" rIns="0" bIns="0" rtlCol="0" anchor="ctr"/>
          <a:lstStyle/>
          <a:p>
            <a:pPr indent="0" marL="0">
              <a:buNone/>
            </a:pPr>
            <a:r>
              <a:rPr lang="en-US" sz="1100" dirty="0">
                <a:solidFill>
                  <a:schemeClr val="tx2"/>
                </a:solidFill>
              </a:rPr>
              <a:t>container CPU, memory, network</a:t>
            </a:r>
            <a:endParaRPr lang="en-US" sz="1100" dirty="0"/>
          </a:p>
        </p:txBody>
      </p:sp>
      <p:sp>
        <p:nvSpPr>
          <p:cNvPr id="63" name="Text 61"/>
          <p:cNvSpPr txBox="1"/>
          <p:nvPr/>
        </p:nvSpPr>
        <p:spPr>
          <a:xfrm>
            <a:off x="9221724" y="4837176"/>
            <a:ext cx="2281428" cy="237744"/>
          </a:xfrm>
          <a:prstGeom prst="rect">
            <a:avLst/>
          </a:prstGeom>
          <a:noFill/>
          <a:ln/>
        </p:spPr>
        <p:txBody>
          <a:bodyPr wrap="square" lIns="0" tIns="0" rIns="0" bIns="0" rtlCol="0" anchor="ctr"/>
          <a:lstStyle/>
          <a:p>
            <a:pPr indent="0" marL="0">
              <a:buNone/>
            </a:pPr>
            <a:r>
              <a:rPr lang="en-US" sz="1400" b="1" dirty="0">
                <a:solidFill>
                  <a:schemeClr val="tx1"/>
                </a:solidFill>
              </a:rPr>
              <a:t>Blackbox exporter</a:t>
            </a:r>
            <a:endParaRPr lang="en-US" sz="1400" dirty="0"/>
          </a:p>
        </p:txBody>
      </p:sp>
      <p:sp>
        <p:nvSpPr>
          <p:cNvPr id="64" name="Text 62"/>
          <p:cNvSpPr txBox="1"/>
          <p:nvPr/>
        </p:nvSpPr>
        <p:spPr>
          <a:xfrm>
            <a:off x="9221724" y="5065776"/>
            <a:ext cx="2281428" cy="228600"/>
          </a:xfrm>
          <a:prstGeom prst="rect">
            <a:avLst/>
          </a:prstGeom>
          <a:noFill/>
          <a:ln/>
        </p:spPr>
        <p:txBody>
          <a:bodyPr wrap="square" lIns="0" tIns="0" rIns="0" bIns="0" rtlCol="0" anchor="ctr"/>
          <a:lstStyle/>
          <a:p>
            <a:pPr indent="0" marL="0">
              <a:buNone/>
            </a:pPr>
            <a:r>
              <a:rPr lang="en-US" sz="1100" dirty="0">
                <a:solidFill>
                  <a:schemeClr val="tx2"/>
                </a:solidFill>
              </a:rPr>
              <a:t>/alive, /ready, Mongo TCP</a:t>
            </a:r>
            <a:endParaRPr lang="en-US" sz="1100" dirty="0"/>
          </a:p>
        </p:txBody>
      </p:sp>
      <p:sp>
        <p:nvSpPr>
          <p:cNvPr id="65" name="Text 63"/>
          <p:cNvSpPr txBox="1"/>
          <p:nvPr/>
        </p:nvSpPr>
        <p:spPr>
          <a:xfrm>
            <a:off x="9221724" y="5358384"/>
            <a:ext cx="2281428" cy="237744"/>
          </a:xfrm>
          <a:prstGeom prst="rect">
            <a:avLst/>
          </a:prstGeom>
          <a:noFill/>
          <a:ln/>
        </p:spPr>
        <p:txBody>
          <a:bodyPr wrap="square" lIns="0" tIns="0" rIns="0" bIns="0" rtlCol="0" anchor="ctr"/>
          <a:lstStyle/>
          <a:p>
            <a:pPr indent="0" marL="0">
              <a:buNone/>
            </a:pPr>
            <a:r>
              <a:rPr lang="en-US" sz="1400" b="1" dirty="0">
                <a:solidFill>
                  <a:schemeClr val="tx1"/>
                </a:solidFill>
              </a:rPr>
              <a:t>Grafana 11.3</a:t>
            </a:r>
            <a:endParaRPr lang="en-US" sz="1400" dirty="0"/>
          </a:p>
        </p:txBody>
      </p:sp>
      <p:sp>
        <p:nvSpPr>
          <p:cNvPr id="66" name="Text 64"/>
          <p:cNvSpPr txBox="1"/>
          <p:nvPr/>
        </p:nvSpPr>
        <p:spPr>
          <a:xfrm>
            <a:off x="9221724" y="5586984"/>
            <a:ext cx="2281428" cy="228600"/>
          </a:xfrm>
          <a:prstGeom prst="rect">
            <a:avLst/>
          </a:prstGeom>
          <a:noFill/>
          <a:ln/>
        </p:spPr>
        <p:txBody>
          <a:bodyPr wrap="square" lIns="0" tIns="0" rIns="0" bIns="0" rtlCol="0" anchor="ctr"/>
          <a:lstStyle/>
          <a:p>
            <a:pPr indent="0" marL="0">
              <a:buNone/>
            </a:pPr>
            <a:r>
              <a:rPr lang="en-US" sz="1100" dirty="0">
                <a:solidFill>
                  <a:schemeClr val="tx2"/>
                </a:solidFill>
              </a:rPr>
              <a:t>provisioned Ditto dashboard</a:t>
            </a: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spc="200" kern="0" dirty="0">
                <a:solidFill>
                  <a:schemeClr val="accent3"/>
                </a:solidFill>
                <a:latin typeface="Consolas" pitchFamily="34" charset="0"/>
                <a:ea typeface="Consolas" pitchFamily="34" charset="-122"/>
                <a:cs typeface="Consolas" pitchFamily="34" charset="-120"/>
              </a:rPr>
              <a:t>06 · KNOWN ISSUES</a:t>
            </a:r>
            <a:endParaRPr lang="en-US" sz="1200" dirty="0"/>
          </a:p>
        </p:txBody>
      </p:sp>
      <p:sp>
        <p:nvSpPr>
          <p:cNvPr id="3" name="Text 1"/>
          <p:cNvSpPr/>
          <p:nvPr>
            <p:ph idx="102" type="title" hasCustomPrompt="1"/>
          </p:nvPr>
        </p:nvSpPr>
        <p:spPr>
          <a:xfrm>
            <a:off x="548640" y="676656"/>
            <a:ext cx="11064240" cy="685800"/>
          </a:xfrm>
          <a:prstGeom prst="rect">
            <a:avLst/>
          </a:prstGeom>
          <a:noFill/>
          <a:ln/>
        </p:spPr>
        <p:txBody>
          <a:bodyPr wrap="square" lIns="0" tIns="0" rIns="0" bIns="0" rtlCol="0" anchor="ctr"/>
          <a:lstStyle/>
          <a:p>
            <a:pPr algn="l" indent="0" marL="0">
              <a:buNone/>
            </a:pPr>
            <a:r>
              <a:rPr lang="en-US" sz="3400" b="1" dirty="0">
                <a:solidFill>
                  <a:schemeClr val="tx1"/>
                </a:solidFill>
              </a:rPr>
              <a:t>Exactly where the edges are</a:t>
            </a:r>
            <a:endParaRPr lang="en-US" sz="3400" dirty="0"/>
          </a:p>
        </p:txBody>
      </p:sp>
      <p:sp>
        <p:nvSpPr>
          <p:cNvPr id="4" name="Shape 2"/>
          <p:cNvSpPr/>
          <p:nvPr/>
        </p:nvSpPr>
        <p:spPr>
          <a:xfrm>
            <a:off x="548640" y="1600200"/>
            <a:ext cx="5431536" cy="1920240"/>
          </a:xfrm>
          <a:prstGeom prst="roundRect">
            <a:avLst>
              <a:gd name="adj" fmla="val 3810"/>
            </a:avLst>
          </a:prstGeom>
          <a:solidFill>
            <a:schemeClr val="bg2"/>
          </a:solidFill>
          <a:ln w="9525">
            <a:solidFill>
              <a:schemeClr val="accent6"/>
            </a:solidFill>
            <a:prstDash val="solid"/>
          </a:ln>
        </p:spPr>
      </p:sp>
      <p:sp>
        <p:nvSpPr>
          <p:cNvPr id="5" name="Text 3"/>
          <p:cNvSpPr txBox="1"/>
          <p:nvPr/>
        </p:nvSpPr>
        <p:spPr>
          <a:xfrm>
            <a:off x="777240" y="1764792"/>
            <a:ext cx="1371600" cy="219456"/>
          </a:xfrm>
          <a:prstGeom prst="rect">
            <a:avLst/>
          </a:prstGeom>
          <a:noFill/>
          <a:ln/>
        </p:spPr>
        <p:txBody>
          <a:bodyPr wrap="square" lIns="0" tIns="0" rIns="0" bIns="0" rtlCol="0" anchor="ctr"/>
          <a:lstStyle/>
          <a:p>
            <a:pPr indent="0" marL="0">
              <a:buNone/>
            </a:pPr>
            <a:r>
              <a:rPr lang="en-US" sz="1000" spc="100" kern="0" dirty="0">
                <a:solidFill>
                  <a:schemeClr val="accent3"/>
                </a:solidFill>
                <a:latin typeface="Consolas" pitchFamily="34" charset="0"/>
                <a:ea typeface="Consolas" pitchFamily="34" charset="-122"/>
                <a:cs typeface="Consolas" pitchFamily="34" charset="-120"/>
              </a:rPr>
              <a:t>EDGE 01</a:t>
            </a:r>
            <a:endParaRPr lang="en-US" sz="1000" dirty="0"/>
          </a:p>
        </p:txBody>
      </p:sp>
      <p:sp>
        <p:nvSpPr>
          <p:cNvPr id="6" name="Text 4"/>
          <p:cNvSpPr txBox="1"/>
          <p:nvPr/>
        </p:nvSpPr>
        <p:spPr>
          <a:xfrm>
            <a:off x="777240" y="2011680"/>
            <a:ext cx="4974336" cy="347472"/>
          </a:xfrm>
          <a:prstGeom prst="rect">
            <a:avLst/>
          </a:prstGeom>
          <a:noFill/>
          <a:ln/>
        </p:spPr>
        <p:txBody>
          <a:bodyPr wrap="square" lIns="0" tIns="0" rIns="0" bIns="0" rtlCol="0" anchor="ctr"/>
          <a:lstStyle/>
          <a:p>
            <a:pPr indent="0" marL="0">
              <a:buNone/>
            </a:pPr>
            <a:r>
              <a:rPr lang="en-US" sz="1900" b="1" dirty="0">
                <a:solidFill>
                  <a:schemeClr val="tx1"/>
                </a:solidFill>
              </a:rPr>
              <a:t>Single node, Docker Compose only</a:t>
            </a:r>
            <a:endParaRPr lang="en-US" sz="1900" dirty="0"/>
          </a:p>
        </p:txBody>
      </p:sp>
      <p:sp>
        <p:nvSpPr>
          <p:cNvPr id="7" name="Text 5"/>
          <p:cNvSpPr txBox="1"/>
          <p:nvPr/>
        </p:nvSpPr>
        <p:spPr>
          <a:xfrm>
            <a:off x="777240" y="2404872"/>
            <a:ext cx="4974336" cy="713232"/>
          </a:xfrm>
          <a:prstGeom prst="rect">
            <a:avLst/>
          </a:prstGeom>
          <a:noFill/>
          <a:ln/>
        </p:spPr>
        <p:txBody>
          <a:bodyPr wrap="square" lIns="0" tIns="0" rIns="0" bIns="0" rtlCol="0" anchor="t"/>
          <a:lstStyle/>
          <a:p>
            <a:pPr indent="0" marL="0">
              <a:buNone/>
            </a:pPr>
            <a:r>
              <a:rPr lang="en-US" sz="1400" dirty="0">
                <a:solidFill>
                  <a:schemeClr val="tx2"/>
                </a:solidFill>
              </a:rPr>
              <a:t>Topology and chaos backends key off the compose project label. There is no Kubernetes backend yet.</a:t>
            </a:r>
            <a:endParaRPr lang="en-US" sz="1400" dirty="0"/>
          </a:p>
        </p:txBody>
      </p:sp>
      <p:sp>
        <p:nvSpPr>
          <p:cNvPr id="8" name="Text 6"/>
          <p:cNvSpPr txBox="1"/>
          <p:nvPr/>
        </p:nvSpPr>
        <p:spPr>
          <a:xfrm>
            <a:off x="777240" y="3081528"/>
            <a:ext cx="4974336" cy="274320"/>
          </a:xfrm>
          <a:prstGeom prst="rect">
            <a:avLst/>
          </a:prstGeom>
          <a:noFill/>
          <a:ln/>
        </p:spPr>
        <p:txBody>
          <a:bodyPr wrap="square" lIns="0" tIns="0" rIns="0" bIns="0" rtlCol="0" anchor="ctr"/>
          <a:lstStyle/>
          <a:p>
            <a:pPr indent="0" marL="0">
              <a:buNone/>
            </a:pPr>
            <a:r>
              <a:rPr lang="en-US" sz="1300" dirty="0">
                <a:solidFill>
                  <a:schemeClr val="accent5"/>
                </a:solidFill>
              </a:rPr>
              <a:t>→  </a:t>
            </a:r>
            <a:pPr indent="0" marL="0">
              <a:buNone/>
            </a:pPr>
            <a:r>
              <a:rPr lang="en-US" sz="1300" dirty="0">
                <a:solidFill>
                  <a:schemeClr val="accent2"/>
                </a:solidFill>
              </a:rPr>
              <a:t>Roadmap: Chaos Mesh or LitmusChaos as the injector</a:t>
            </a:r>
            <a:endParaRPr lang="en-US" sz="1300" dirty="0"/>
          </a:p>
        </p:txBody>
      </p:sp>
      <p:sp>
        <p:nvSpPr>
          <p:cNvPr id="9" name="Shape 7"/>
          <p:cNvSpPr/>
          <p:nvPr/>
        </p:nvSpPr>
        <p:spPr>
          <a:xfrm>
            <a:off x="6208776" y="1600200"/>
            <a:ext cx="5431536" cy="1920240"/>
          </a:xfrm>
          <a:prstGeom prst="roundRect">
            <a:avLst>
              <a:gd name="adj" fmla="val 3810"/>
            </a:avLst>
          </a:prstGeom>
          <a:solidFill>
            <a:schemeClr val="bg2"/>
          </a:solidFill>
          <a:ln w="9525">
            <a:solidFill>
              <a:schemeClr val="accent6"/>
            </a:solidFill>
            <a:prstDash val="solid"/>
          </a:ln>
        </p:spPr>
      </p:sp>
      <p:sp>
        <p:nvSpPr>
          <p:cNvPr id="10" name="Text 8"/>
          <p:cNvSpPr txBox="1"/>
          <p:nvPr/>
        </p:nvSpPr>
        <p:spPr>
          <a:xfrm>
            <a:off x="6437376" y="1764792"/>
            <a:ext cx="1371600" cy="219456"/>
          </a:xfrm>
          <a:prstGeom prst="rect">
            <a:avLst/>
          </a:prstGeom>
          <a:noFill/>
          <a:ln/>
        </p:spPr>
        <p:txBody>
          <a:bodyPr wrap="square" lIns="0" tIns="0" rIns="0" bIns="0" rtlCol="0" anchor="ctr"/>
          <a:lstStyle/>
          <a:p>
            <a:pPr indent="0" marL="0">
              <a:buNone/>
            </a:pPr>
            <a:r>
              <a:rPr lang="en-US" sz="1000" spc="100" kern="0" dirty="0">
                <a:solidFill>
                  <a:schemeClr val="accent3"/>
                </a:solidFill>
                <a:latin typeface="Consolas" pitchFamily="34" charset="0"/>
                <a:ea typeface="Consolas" pitchFamily="34" charset="-122"/>
                <a:cs typeface="Consolas" pitchFamily="34" charset="-120"/>
              </a:rPr>
              <a:t>EDGE 02</a:t>
            </a:r>
            <a:endParaRPr lang="en-US" sz="1000" dirty="0"/>
          </a:p>
        </p:txBody>
      </p:sp>
      <p:sp>
        <p:nvSpPr>
          <p:cNvPr id="11" name="Text 9"/>
          <p:cNvSpPr txBox="1"/>
          <p:nvPr/>
        </p:nvSpPr>
        <p:spPr>
          <a:xfrm>
            <a:off x="6437376" y="2011680"/>
            <a:ext cx="4974336" cy="347472"/>
          </a:xfrm>
          <a:prstGeom prst="rect">
            <a:avLst/>
          </a:prstGeom>
          <a:noFill/>
          <a:ln/>
        </p:spPr>
        <p:txBody>
          <a:bodyPr wrap="square" lIns="0" tIns="0" rIns="0" bIns="0" rtlCol="0" anchor="ctr"/>
          <a:lstStyle/>
          <a:p>
            <a:pPr indent="0" marL="0">
              <a:buNone/>
            </a:pPr>
            <a:r>
              <a:rPr lang="en-US" sz="1900" b="1" dirty="0">
                <a:solidFill>
                  <a:schemeClr val="tx1"/>
                </a:solidFill>
              </a:rPr>
              <a:t>Crash recovery time is mostly JVM boot</a:t>
            </a:r>
            <a:endParaRPr lang="en-US" sz="1900" dirty="0"/>
          </a:p>
        </p:txBody>
      </p:sp>
      <p:sp>
        <p:nvSpPr>
          <p:cNvPr id="12" name="Text 10"/>
          <p:cNvSpPr txBox="1"/>
          <p:nvPr/>
        </p:nvSpPr>
        <p:spPr>
          <a:xfrm>
            <a:off x="6437376" y="2404872"/>
            <a:ext cx="4974336" cy="713232"/>
          </a:xfrm>
          <a:prstGeom prst="rect">
            <a:avLst/>
          </a:prstGeom>
          <a:noFill/>
          <a:ln/>
        </p:spPr>
        <p:txBody>
          <a:bodyPr wrap="square" lIns="0" tIns="0" rIns="0" bIns="0" rtlCol="0" anchor="t"/>
          <a:lstStyle/>
          <a:p>
            <a:pPr indent="0" marL="0">
              <a:buNone/>
            </a:pPr>
            <a:r>
              <a:rPr lang="en-US" sz="1400" dirty="0">
                <a:solidFill>
                  <a:schemeClr val="tx2"/>
                </a:solidFill>
              </a:rPr>
              <a:t>A killed Ditto service needs 60–120 s to boot and rejoin the Pekko cluster, so crash TTR mostly measures the JVM.</a:t>
            </a:r>
            <a:endParaRPr lang="en-US" sz="1400" dirty="0"/>
          </a:p>
        </p:txBody>
      </p:sp>
      <p:sp>
        <p:nvSpPr>
          <p:cNvPr id="13" name="Text 11"/>
          <p:cNvSpPr txBox="1"/>
          <p:nvPr/>
        </p:nvSpPr>
        <p:spPr>
          <a:xfrm>
            <a:off x="6437376" y="3081528"/>
            <a:ext cx="4974336" cy="274320"/>
          </a:xfrm>
          <a:prstGeom prst="rect">
            <a:avLst/>
          </a:prstGeom>
          <a:noFill/>
          <a:ln/>
        </p:spPr>
        <p:txBody>
          <a:bodyPr wrap="square" lIns="0" tIns="0" rIns="0" bIns="0" rtlCol="0" anchor="ctr"/>
          <a:lstStyle/>
          <a:p>
            <a:pPr indent="0" marL="0">
              <a:buNone/>
            </a:pPr>
            <a:r>
              <a:rPr lang="en-US" sz="1300" dirty="0">
                <a:solidFill>
                  <a:schemeClr val="accent5"/>
                </a:solidFill>
              </a:rPr>
              <a:t>→  </a:t>
            </a:r>
            <a:pPr indent="0" marL="0">
              <a:buNone/>
            </a:pPr>
            <a:r>
              <a:rPr lang="en-US" sz="1300" dirty="0">
                <a:solidFill>
                  <a:schemeClr val="accent2"/>
                </a:solidFill>
              </a:rPr>
              <a:t>Delay, loss and pause faults isolate the real fault path</a:t>
            </a:r>
            <a:endParaRPr lang="en-US" sz="1300" dirty="0"/>
          </a:p>
        </p:txBody>
      </p:sp>
      <p:sp>
        <p:nvSpPr>
          <p:cNvPr id="14" name="Shape 12"/>
          <p:cNvSpPr/>
          <p:nvPr/>
        </p:nvSpPr>
        <p:spPr>
          <a:xfrm>
            <a:off x="548640" y="3749040"/>
            <a:ext cx="5431536" cy="1920240"/>
          </a:xfrm>
          <a:prstGeom prst="roundRect">
            <a:avLst>
              <a:gd name="adj" fmla="val 3810"/>
            </a:avLst>
          </a:prstGeom>
          <a:solidFill>
            <a:schemeClr val="bg2"/>
          </a:solidFill>
          <a:ln w="9525">
            <a:solidFill>
              <a:schemeClr val="accent6"/>
            </a:solidFill>
            <a:prstDash val="solid"/>
          </a:ln>
        </p:spPr>
      </p:sp>
      <p:sp>
        <p:nvSpPr>
          <p:cNvPr id="15" name="Text 13"/>
          <p:cNvSpPr txBox="1"/>
          <p:nvPr/>
        </p:nvSpPr>
        <p:spPr>
          <a:xfrm>
            <a:off x="777240" y="3913632"/>
            <a:ext cx="1371600" cy="219456"/>
          </a:xfrm>
          <a:prstGeom prst="rect">
            <a:avLst/>
          </a:prstGeom>
          <a:noFill/>
          <a:ln/>
        </p:spPr>
        <p:txBody>
          <a:bodyPr wrap="square" lIns="0" tIns="0" rIns="0" bIns="0" rtlCol="0" anchor="ctr"/>
          <a:lstStyle/>
          <a:p>
            <a:pPr indent="0" marL="0">
              <a:buNone/>
            </a:pPr>
            <a:r>
              <a:rPr lang="en-US" sz="1000" spc="100" kern="0" dirty="0">
                <a:solidFill>
                  <a:schemeClr val="accent3"/>
                </a:solidFill>
                <a:latin typeface="Consolas" pitchFamily="34" charset="0"/>
                <a:ea typeface="Consolas" pitchFamily="34" charset="-122"/>
                <a:cs typeface="Consolas" pitchFamily="34" charset="-120"/>
              </a:rPr>
              <a:t>EDGE 03</a:t>
            </a:r>
            <a:endParaRPr lang="en-US" sz="1000" dirty="0"/>
          </a:p>
        </p:txBody>
      </p:sp>
      <p:sp>
        <p:nvSpPr>
          <p:cNvPr id="16" name="Text 14"/>
          <p:cNvSpPr txBox="1"/>
          <p:nvPr/>
        </p:nvSpPr>
        <p:spPr>
          <a:xfrm>
            <a:off x="777240" y="4160520"/>
            <a:ext cx="4974336" cy="347472"/>
          </a:xfrm>
          <a:prstGeom prst="rect">
            <a:avLst/>
          </a:prstGeom>
          <a:noFill/>
          <a:ln/>
        </p:spPr>
        <p:txBody>
          <a:bodyPr wrap="square" lIns="0" tIns="0" rIns="0" bIns="0" rtlCol="0" anchor="ctr"/>
          <a:lstStyle/>
          <a:p>
            <a:pPr indent="0" marL="0">
              <a:buNone/>
            </a:pPr>
            <a:r>
              <a:rPr lang="en-US" sz="1900" b="1" dirty="0">
                <a:solidFill>
                  <a:schemeClr val="tx1"/>
                </a:solidFill>
              </a:rPr>
              <a:t>Findings are heuristic, not proofs</a:t>
            </a:r>
            <a:endParaRPr lang="en-US" sz="1900" dirty="0"/>
          </a:p>
        </p:txBody>
      </p:sp>
      <p:sp>
        <p:nvSpPr>
          <p:cNvPr id="17" name="Text 15"/>
          <p:cNvSpPr txBox="1"/>
          <p:nvPr/>
        </p:nvSpPr>
        <p:spPr>
          <a:xfrm>
            <a:off x="777240" y="4553712"/>
            <a:ext cx="4974336" cy="713232"/>
          </a:xfrm>
          <a:prstGeom prst="rect">
            <a:avLst/>
          </a:prstGeom>
          <a:noFill/>
          <a:ln/>
        </p:spPr>
        <p:txBody>
          <a:bodyPr wrap="square" lIns="0" tIns="0" rIns="0" bIns="0" rtlCol="0" anchor="t"/>
          <a:lstStyle/>
          <a:p>
            <a:pPr indent="0" marL="0">
              <a:buNone/>
            </a:pPr>
            <a:r>
              <a:rPr lang="en-US" sz="1400" dirty="0">
                <a:solidFill>
                  <a:schemeClr val="tx2"/>
                </a:solidFill>
              </a:rPr>
              <a:t>data_loss_suspected is a canary read-back, not a journal audit; a masked failure compares fractions over a window.</a:t>
            </a:r>
            <a:endParaRPr lang="en-US" sz="1400" dirty="0"/>
          </a:p>
        </p:txBody>
      </p:sp>
      <p:sp>
        <p:nvSpPr>
          <p:cNvPr id="18" name="Text 16"/>
          <p:cNvSpPr txBox="1"/>
          <p:nvPr/>
        </p:nvSpPr>
        <p:spPr>
          <a:xfrm>
            <a:off x="777240" y="5230368"/>
            <a:ext cx="4974336" cy="274320"/>
          </a:xfrm>
          <a:prstGeom prst="rect">
            <a:avLst/>
          </a:prstGeom>
          <a:noFill/>
          <a:ln/>
        </p:spPr>
        <p:txBody>
          <a:bodyPr wrap="square" lIns="0" tIns="0" rIns="0" bIns="0" rtlCol="0" anchor="ctr"/>
          <a:lstStyle/>
          <a:p>
            <a:pPr indent="0" marL="0">
              <a:buNone/>
            </a:pPr>
            <a:r>
              <a:rPr lang="en-US" sz="1300" dirty="0">
                <a:solidFill>
                  <a:schemeClr val="accent5"/>
                </a:solidFill>
              </a:rPr>
              <a:t>→  </a:t>
            </a:r>
            <a:pPr indent="0" marL="0">
              <a:buNone/>
            </a:pPr>
            <a:r>
              <a:rPr lang="en-US" sz="1300" dirty="0">
                <a:solidFill>
                  <a:schemeClr val="accent2"/>
                </a:solidFill>
              </a:rPr>
              <a:t>Every finding prints the evidence it was raised on</a:t>
            </a:r>
            <a:endParaRPr lang="en-US" sz="1300" dirty="0"/>
          </a:p>
        </p:txBody>
      </p:sp>
      <p:sp>
        <p:nvSpPr>
          <p:cNvPr id="19" name="Shape 17"/>
          <p:cNvSpPr/>
          <p:nvPr/>
        </p:nvSpPr>
        <p:spPr>
          <a:xfrm>
            <a:off x="6208776" y="3749040"/>
            <a:ext cx="5431536" cy="1920240"/>
          </a:xfrm>
          <a:prstGeom prst="roundRect">
            <a:avLst>
              <a:gd name="adj" fmla="val 3810"/>
            </a:avLst>
          </a:prstGeom>
          <a:solidFill>
            <a:schemeClr val="bg2"/>
          </a:solidFill>
          <a:ln w="9525">
            <a:solidFill>
              <a:schemeClr val="accent6"/>
            </a:solidFill>
            <a:prstDash val="solid"/>
          </a:ln>
        </p:spPr>
      </p:sp>
      <p:sp>
        <p:nvSpPr>
          <p:cNvPr id="20" name="Text 18"/>
          <p:cNvSpPr txBox="1"/>
          <p:nvPr/>
        </p:nvSpPr>
        <p:spPr>
          <a:xfrm>
            <a:off x="6437376" y="3913632"/>
            <a:ext cx="1371600" cy="219456"/>
          </a:xfrm>
          <a:prstGeom prst="rect">
            <a:avLst/>
          </a:prstGeom>
          <a:noFill/>
          <a:ln/>
        </p:spPr>
        <p:txBody>
          <a:bodyPr wrap="square" lIns="0" tIns="0" rIns="0" bIns="0" rtlCol="0" anchor="ctr"/>
          <a:lstStyle/>
          <a:p>
            <a:pPr indent="0" marL="0">
              <a:buNone/>
            </a:pPr>
            <a:r>
              <a:rPr lang="en-US" sz="1000" spc="100" kern="0" dirty="0">
                <a:solidFill>
                  <a:schemeClr val="accent3"/>
                </a:solidFill>
                <a:latin typeface="Consolas" pitchFamily="34" charset="0"/>
                <a:ea typeface="Consolas" pitchFamily="34" charset="-122"/>
                <a:cs typeface="Consolas" pitchFamily="34" charset="-120"/>
              </a:rPr>
              <a:t>EDGE 04</a:t>
            </a:r>
            <a:endParaRPr lang="en-US" sz="1000" dirty="0"/>
          </a:p>
        </p:txBody>
      </p:sp>
      <p:sp>
        <p:nvSpPr>
          <p:cNvPr id="21" name="Text 19"/>
          <p:cNvSpPr txBox="1"/>
          <p:nvPr/>
        </p:nvSpPr>
        <p:spPr>
          <a:xfrm>
            <a:off x="6437376" y="4160520"/>
            <a:ext cx="4974336" cy="347472"/>
          </a:xfrm>
          <a:prstGeom prst="rect">
            <a:avLst/>
          </a:prstGeom>
          <a:noFill/>
          <a:ln/>
        </p:spPr>
        <p:txBody>
          <a:bodyPr wrap="square" lIns="0" tIns="0" rIns="0" bIns="0" rtlCol="0" anchor="ctr"/>
          <a:lstStyle/>
          <a:p>
            <a:pPr indent="0" marL="0">
              <a:buNone/>
            </a:pPr>
            <a:r>
              <a:rPr lang="en-US" sz="1900" b="1" dirty="0">
                <a:solidFill>
                  <a:schemeClr val="tx1"/>
                </a:solidFill>
              </a:rPr>
              <a:t>One operator, no login, by design</a:t>
            </a:r>
            <a:endParaRPr lang="en-US" sz="1900" dirty="0"/>
          </a:p>
        </p:txBody>
      </p:sp>
      <p:sp>
        <p:nvSpPr>
          <p:cNvPr id="22" name="Text 20"/>
          <p:cNvSpPr txBox="1"/>
          <p:nvPr/>
        </p:nvSpPr>
        <p:spPr>
          <a:xfrm>
            <a:off x="6437376" y="4553712"/>
            <a:ext cx="4974336" cy="713232"/>
          </a:xfrm>
          <a:prstGeom prst="rect">
            <a:avLst/>
          </a:prstGeom>
          <a:noFill/>
          <a:ln/>
        </p:spPr>
        <p:txBody>
          <a:bodyPr wrap="square" lIns="0" tIns="0" rIns="0" bIns="0" rtlCol="0" anchor="t"/>
          <a:lstStyle/>
          <a:p>
            <a:pPr indent="0" marL="0">
              <a:buNone/>
            </a:pPr>
            <a:r>
              <a:rPr lang="en-US" sz="1400" dirty="0">
                <a:solidFill>
                  <a:schemeClr val="tx2"/>
                </a:solidFill>
              </a:rPr>
              <a:t>The control room binds 127.0.0.1, has no login or CSRF protection and one in-process session. Built for one laptop.</a:t>
            </a:r>
            <a:endParaRPr lang="en-US" sz="1400" dirty="0"/>
          </a:p>
        </p:txBody>
      </p:sp>
      <p:sp>
        <p:nvSpPr>
          <p:cNvPr id="23" name="Text 21"/>
          <p:cNvSpPr txBox="1"/>
          <p:nvPr/>
        </p:nvSpPr>
        <p:spPr>
          <a:xfrm>
            <a:off x="6437376" y="5230368"/>
            <a:ext cx="4974336" cy="274320"/>
          </a:xfrm>
          <a:prstGeom prst="rect">
            <a:avLst/>
          </a:prstGeom>
          <a:noFill/>
          <a:ln/>
        </p:spPr>
        <p:txBody>
          <a:bodyPr wrap="square" lIns="0" tIns="0" rIns="0" bIns="0" rtlCol="0" anchor="ctr"/>
          <a:lstStyle/>
          <a:p>
            <a:pPr indent="0" marL="0">
              <a:buNone/>
            </a:pPr>
            <a:r>
              <a:rPr lang="en-US" sz="1300" dirty="0">
                <a:solidFill>
                  <a:schemeClr val="accent5"/>
                </a:solidFill>
              </a:rPr>
              <a:t>→  </a:t>
            </a:r>
            <a:pPr indent="0" marL="0">
              <a:buNone/>
            </a:pPr>
            <a:r>
              <a:rPr lang="en-US" sz="1300" dirty="0">
                <a:solidFill>
                  <a:schemeClr val="accent2"/>
                </a:solidFill>
              </a:rPr>
              <a:t>Never expose the port</a:t>
            </a:r>
            <a:endParaRPr lang="en-US" sz="1300" dirty="0"/>
          </a:p>
        </p:txBody>
      </p:sp>
      <p:sp>
        <p:nvSpPr>
          <p:cNvPr id="24" name="Text 22"/>
          <p:cNvSpPr txBox="1"/>
          <p:nvPr/>
        </p:nvSpPr>
        <p:spPr>
          <a:xfrm>
            <a:off x="548640" y="5897880"/>
            <a:ext cx="11064240" cy="274320"/>
          </a:xfrm>
          <a:prstGeom prst="rect">
            <a:avLst/>
          </a:prstGeom>
          <a:noFill/>
          <a:ln/>
        </p:spPr>
        <p:txBody>
          <a:bodyPr wrap="square" lIns="0" tIns="0" rIns="0" bIns="0" rtlCol="0" anchor="ctr"/>
          <a:lstStyle/>
          <a:p>
            <a:pPr indent="0" marL="0">
              <a:buNone/>
            </a:pPr>
            <a:r>
              <a:rPr lang="en-US" sz="1100" dirty="0">
                <a:solidFill>
                  <a:schemeClr val="accent5"/>
                </a:solidFill>
              </a:rPr>
              <a:t>Also in README's Known limitations: a local 7–9B model takes 5–30 s per planning call. The deterministic fallback covers timeouts.</a:t>
            </a: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Faultline Instrument Panel">
  <a:themeElements>
    <a:clrScheme name="Faultline Instrument Panel">
      <a:dk1>
        <a:srgbClr val="E8EDF7"/>
      </a:dk1>
      <a:lt1>
        <a:srgbClr val="060910"/>
      </a:lt1>
      <a:dk2>
        <a:srgbClr val="A8B6D1"/>
      </a:dk2>
      <a:lt2>
        <a:srgbClr val="0E1424"/>
      </a:lt2>
      <a:accent1>
        <a:srgbClr val="E6007E"/>
      </a:accent1>
      <a:accent2>
        <a:srgbClr val="00C2B2"/>
      </a:accent2>
      <a:accent3>
        <a:srgbClr val="FFB020"/>
      </a:accent3>
      <a:accent4>
        <a:srgbClr val="FF3B5C"/>
      </a:accent4>
      <a:accent5>
        <a:srgbClr val="6F7F9F"/>
      </a:accent5>
      <a:accent6>
        <a:srgbClr val="1E2A44"/>
      </a:accent6>
      <a:hlink>
        <a:srgbClr val="00C2B2"/>
      </a:hlink>
      <a:folHlink>
        <a:srgbClr val="A8B6D1"/>
      </a:folHlink>
    </a:clrScheme>
    <a:fontScheme name="Faultline Instrument Pane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Faultline — six-section pitch</dc:title>
  <dc:subject>PptxGenJS Presentation</dc:subject>
  <dc:creator>Faultline team</dc:creator>
  <cp:lastModifiedBy>Faultline team</cp:lastModifiedBy>
  <cp:revision>1</cp:revision>
  <dcterms:created xsi:type="dcterms:W3CDTF">2026-10-11T07:23:46Z</dcterms:created>
  <dcterms:modified xsi:type="dcterms:W3CDTF">2026-10-11T07:23:46Z</dcterms:modified>
</cp:coreProperties>
</file>